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50"/>
  </p:notesMasterIdLst>
  <p:sldIdLst>
    <p:sldId id="256" r:id="rId5"/>
    <p:sldId id="258" r:id="rId6"/>
    <p:sldId id="259" r:id="rId7"/>
    <p:sldId id="262" r:id="rId8"/>
    <p:sldId id="308" r:id="rId9"/>
    <p:sldId id="349" r:id="rId10"/>
    <p:sldId id="365" r:id="rId11"/>
    <p:sldId id="352" r:id="rId12"/>
    <p:sldId id="366" r:id="rId13"/>
    <p:sldId id="367" r:id="rId14"/>
    <p:sldId id="368" r:id="rId15"/>
    <p:sldId id="369" r:id="rId16"/>
    <p:sldId id="370" r:id="rId17"/>
    <p:sldId id="371" r:id="rId18"/>
    <p:sldId id="377" r:id="rId19"/>
    <p:sldId id="376" r:id="rId20"/>
    <p:sldId id="373" r:id="rId21"/>
    <p:sldId id="375" r:id="rId22"/>
    <p:sldId id="374" r:id="rId23"/>
    <p:sldId id="378" r:id="rId24"/>
    <p:sldId id="379" r:id="rId25"/>
    <p:sldId id="380" r:id="rId26"/>
    <p:sldId id="381" r:id="rId27"/>
    <p:sldId id="383" r:id="rId28"/>
    <p:sldId id="382" r:id="rId29"/>
    <p:sldId id="395" r:id="rId30"/>
    <p:sldId id="385" r:id="rId31"/>
    <p:sldId id="397" r:id="rId32"/>
    <p:sldId id="386" r:id="rId33"/>
    <p:sldId id="394" r:id="rId34"/>
    <p:sldId id="398" r:id="rId35"/>
    <p:sldId id="399" r:id="rId36"/>
    <p:sldId id="387" r:id="rId37"/>
    <p:sldId id="388" r:id="rId38"/>
    <p:sldId id="389" r:id="rId39"/>
    <p:sldId id="402" r:id="rId40"/>
    <p:sldId id="403" r:id="rId41"/>
    <p:sldId id="405" r:id="rId42"/>
    <p:sldId id="404" r:id="rId43"/>
    <p:sldId id="333" r:id="rId44"/>
    <p:sldId id="391" r:id="rId45"/>
    <p:sldId id="393" r:id="rId46"/>
    <p:sldId id="406" r:id="rId47"/>
    <p:sldId id="390" r:id="rId48"/>
    <p:sldId id="287" r:id="rId49"/>
  </p:sldIdLst>
  <p:sldSz cx="24384000" cy="13716000"/>
  <p:notesSz cx="6858000" cy="9144000"/>
  <p:embeddedFontLst>
    <p:embeddedFont>
      <p:font typeface="OCRB" panose="020B0609020202020204" pitchFamily="49" charset="77"/>
      <p:regular r:id="rId51"/>
    </p:embeddedFont>
    <p:embeddedFont>
      <p:font typeface="Open Sans" panose="020B0606030504020204" pitchFamily="34" charset="0"/>
      <p:regular r:id="rId52"/>
      <p:bold r:id="rId53"/>
      <p:italic r:id="rId54"/>
      <p:boldItalic r:id="rId55"/>
    </p:embeddedFont>
    <p:embeddedFont>
      <p:font typeface="Open Sans ExtraBold" panose="020B0606030504020204" pitchFamily="34" charset="0"/>
      <p:bold r:id="rId56"/>
      <p:italic r:id="rId57"/>
      <p:boldItalic r:id="rId58"/>
    </p:embeddedFont>
    <p:embeddedFont>
      <p:font typeface="Open Sans Light" panose="020B0306030504020204" pitchFamily="34" charset="0"/>
      <p:regular r:id="rId59"/>
      <p:italic r:id="rId60"/>
    </p:embeddedFont>
    <p:embeddedFont>
      <p:font typeface="Open Sans Semibold" panose="020B0606030504020204" pitchFamily="34" charset="0"/>
      <p:regular r:id="rId61"/>
      <p:bold r:id="rId62"/>
      <p:italic r:id="rId63"/>
      <p:boldItalic r:id="rId64"/>
    </p:embeddedFont>
    <p:embeddedFont>
      <p:font typeface="Tahoma" panose="020B0604030504040204" pitchFamily="34" charset="0"/>
      <p:regular r:id="rId65"/>
      <p:bold r:id="rId66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2CF316-842A-B85D-B047-88A9E9CB2DFB}" v="4" dt="2025-06-30T11:20:20.982"/>
    <p1510:client id="{A6DB8ECC-F519-E19A-3A59-AC618D62738F}" v="44" dt="2025-06-30T11:04:26.57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6197"/>
  </p:normalViewPr>
  <p:slideViewPr>
    <p:cSldViewPr snapToGrid="0" snapToObjects="1">
      <p:cViewPr varScale="1">
        <p:scale>
          <a:sx n="48" d="100"/>
          <a:sy n="48" d="100"/>
        </p:scale>
        <p:origin x="264" y="66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3.fntdata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font" Target="fonts/font16.fntdata"/><Relationship Id="rId5" Type="http://schemas.openxmlformats.org/officeDocument/2006/relationships/slide" Target="slides/slide1.xml"/><Relationship Id="rId61" Type="http://schemas.openxmlformats.org/officeDocument/2006/relationships/font" Target="fonts/font11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6.fntdata"/><Relationship Id="rId64" Type="http://schemas.openxmlformats.org/officeDocument/2006/relationships/font" Target="fonts/font14.fntdata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font" Target="fonts/font1.fntdata"/><Relationship Id="rId72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9.fntdata"/><Relationship Id="rId6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7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font" Target="fonts/font1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ia Priccilia" userId="S::shania.priccilia@binus.edu::c4dd4a50-8335-4e39-a119-dc5e413d78e9" providerId="AD" clId="Web-{A6DB8ECC-F519-E19A-3A59-AC618D62738F}"/>
    <pc:docChg chg="delSld modSld">
      <pc:chgData name="Shania Priccilia" userId="S::shania.priccilia@binus.edu::c4dd4a50-8335-4e39-a119-dc5e413d78e9" providerId="AD" clId="Web-{A6DB8ECC-F519-E19A-3A59-AC618D62738F}" dt="2025-06-30T11:04:26.057" v="39" actId="20577"/>
      <pc:docMkLst>
        <pc:docMk/>
      </pc:docMkLst>
      <pc:sldChg chg="modSp">
        <pc:chgData name="Shania Priccilia" userId="S::shania.priccilia@binus.edu::c4dd4a50-8335-4e39-a119-dc5e413d78e9" providerId="AD" clId="Web-{A6DB8ECC-F519-E19A-3A59-AC618D62738F}" dt="2025-06-30T11:01:12.609" v="20" actId="20577"/>
        <pc:sldMkLst>
          <pc:docMk/>
          <pc:sldMk cId="3807564589" sldId="256"/>
        </pc:sldMkLst>
        <pc:spChg chg="mod">
          <ac:chgData name="Shania Priccilia" userId="S::shania.priccilia@binus.edu::c4dd4a50-8335-4e39-a119-dc5e413d78e9" providerId="AD" clId="Web-{A6DB8ECC-F519-E19A-3A59-AC618D62738F}" dt="2025-06-30T11:01:12.609" v="20" actId="20577"/>
          <ac:spMkLst>
            <pc:docMk/>
            <pc:sldMk cId="3807564589" sldId="256"/>
            <ac:spMk id="2" creationId="{50F9371B-F92F-AED8-457A-F4BAE6779B8C}"/>
          </ac:spMkLst>
        </pc:spChg>
      </pc:sldChg>
      <pc:sldChg chg="addSp delSp modSp">
        <pc:chgData name="Shania Priccilia" userId="S::shania.priccilia@binus.edu::c4dd4a50-8335-4e39-a119-dc5e413d78e9" providerId="AD" clId="Web-{A6DB8ECC-F519-E19A-3A59-AC618D62738F}" dt="2025-06-30T11:01:16.937" v="21"/>
        <pc:sldMkLst>
          <pc:docMk/>
          <pc:sldMk cId="1968907909" sldId="258"/>
        </pc:sldMkLst>
        <pc:spChg chg="del">
          <ac:chgData name="Shania Priccilia" userId="S::shania.priccilia@binus.edu::c4dd4a50-8335-4e39-a119-dc5e413d78e9" providerId="AD" clId="Web-{A6DB8ECC-F519-E19A-3A59-AC618D62738F}" dt="2025-06-30T11:01:16.937" v="21"/>
          <ac:spMkLst>
            <pc:docMk/>
            <pc:sldMk cId="1968907909" sldId="258"/>
            <ac:spMk id="3" creationId="{15FC02B1-FC54-7AA3-7866-74F99147264B}"/>
          </ac:spMkLst>
        </pc:spChg>
        <pc:spChg chg="add mod">
          <ac:chgData name="Shania Priccilia" userId="S::shania.priccilia@binus.edu::c4dd4a50-8335-4e39-a119-dc5e413d78e9" providerId="AD" clId="Web-{A6DB8ECC-F519-E19A-3A59-AC618D62738F}" dt="2025-06-30T11:01:16.937" v="21"/>
          <ac:spMkLst>
            <pc:docMk/>
            <pc:sldMk cId="1968907909" sldId="258"/>
            <ac:spMk id="6" creationId="{37A43163-205D-662B-E649-FFFD05BAE76B}"/>
          </ac:spMkLst>
        </pc:spChg>
      </pc:sldChg>
      <pc:sldChg chg="addSp delSp modSp">
        <pc:chgData name="Shania Priccilia" userId="S::shania.priccilia@binus.edu::c4dd4a50-8335-4e39-a119-dc5e413d78e9" providerId="AD" clId="Web-{A6DB8ECC-F519-E19A-3A59-AC618D62738F}" dt="2025-06-30T11:01:20.031" v="22"/>
        <pc:sldMkLst>
          <pc:docMk/>
          <pc:sldMk cId="4105662268" sldId="259"/>
        </pc:sldMkLst>
        <pc:spChg chg="del">
          <ac:chgData name="Shania Priccilia" userId="S::shania.priccilia@binus.edu::c4dd4a50-8335-4e39-a119-dc5e413d78e9" providerId="AD" clId="Web-{A6DB8ECC-F519-E19A-3A59-AC618D62738F}" dt="2025-06-30T11:01:20.031" v="22"/>
          <ac:spMkLst>
            <pc:docMk/>
            <pc:sldMk cId="4105662268" sldId="259"/>
            <ac:spMk id="3" creationId="{2F63D14B-FD76-D22A-48FE-7092D41FE3E9}"/>
          </ac:spMkLst>
        </pc:spChg>
        <pc:spChg chg="add mod">
          <ac:chgData name="Shania Priccilia" userId="S::shania.priccilia@binus.edu::c4dd4a50-8335-4e39-a119-dc5e413d78e9" providerId="AD" clId="Web-{A6DB8ECC-F519-E19A-3A59-AC618D62738F}" dt="2025-06-30T11:01:20.031" v="22"/>
          <ac:spMkLst>
            <pc:docMk/>
            <pc:sldMk cId="4105662268" sldId="259"/>
            <ac:spMk id="6" creationId="{9BD566C6-D936-74E2-EB81-93137F4418C1}"/>
          </ac:spMkLst>
        </pc:spChg>
      </pc:sldChg>
      <pc:sldChg chg="delSp modSp">
        <pc:chgData name="Shania Priccilia" userId="S::shania.priccilia@binus.edu::c4dd4a50-8335-4e39-a119-dc5e413d78e9" providerId="AD" clId="Web-{A6DB8ECC-F519-E19A-3A59-AC618D62738F}" dt="2025-06-30T11:04:01.572" v="31" actId="20577"/>
        <pc:sldMkLst>
          <pc:docMk/>
          <pc:sldMk cId="2125174800" sldId="333"/>
        </pc:sldMkLst>
        <pc:spChg chg="mod">
          <ac:chgData name="Shania Priccilia" userId="S::shania.priccilia@binus.edu::c4dd4a50-8335-4e39-a119-dc5e413d78e9" providerId="AD" clId="Web-{A6DB8ECC-F519-E19A-3A59-AC618D62738F}" dt="2025-06-30T11:04:01.572" v="31" actId="20577"/>
          <ac:spMkLst>
            <pc:docMk/>
            <pc:sldMk cId="2125174800" sldId="333"/>
            <ac:spMk id="4" creationId="{E80C4902-46C4-1E95-FE4D-EA683502FD99}"/>
          </ac:spMkLst>
        </pc:spChg>
        <pc:graphicFrameChg chg="del">
          <ac:chgData name="Shania Priccilia" userId="S::shania.priccilia@binus.edu::c4dd4a50-8335-4e39-a119-dc5e413d78e9" providerId="AD" clId="Web-{A6DB8ECC-F519-E19A-3A59-AC618D62738F}" dt="2025-06-30T11:03:59.493" v="29"/>
          <ac:graphicFrameMkLst>
            <pc:docMk/>
            <pc:sldMk cId="2125174800" sldId="333"/>
            <ac:graphicFrameMk id="6" creationId="{885ECAB5-B4F7-DC9E-7D76-64BFC2B86944}"/>
          </ac:graphicFrameMkLst>
        </pc:graphicFrameChg>
      </pc:sldChg>
      <pc:sldChg chg="del">
        <pc:chgData name="Shania Priccilia" userId="S::shania.priccilia@binus.edu::c4dd4a50-8335-4e39-a119-dc5e413d78e9" providerId="AD" clId="Web-{A6DB8ECC-F519-E19A-3A59-AC618D62738F}" dt="2025-06-30T11:03:37.101" v="28"/>
        <pc:sldMkLst>
          <pc:docMk/>
          <pc:sldMk cId="612035401" sldId="385"/>
        </pc:sldMkLst>
      </pc:sldChg>
      <pc:sldChg chg="del">
        <pc:chgData name="Shania Priccilia" userId="S::shania.priccilia@binus.edu::c4dd4a50-8335-4e39-a119-dc5e413d78e9" providerId="AD" clId="Web-{A6DB8ECC-F519-E19A-3A59-AC618D62738F}" dt="2025-06-30T11:03:37.101" v="27"/>
        <pc:sldMkLst>
          <pc:docMk/>
          <pc:sldMk cId="3562817498" sldId="386"/>
        </pc:sldMkLst>
      </pc:sldChg>
      <pc:sldChg chg="del">
        <pc:chgData name="Shania Priccilia" userId="S::shania.priccilia@binus.edu::c4dd4a50-8335-4e39-a119-dc5e413d78e9" providerId="AD" clId="Web-{A6DB8ECC-F519-E19A-3A59-AC618D62738F}" dt="2025-06-30T11:03:37.086" v="25"/>
        <pc:sldMkLst>
          <pc:docMk/>
          <pc:sldMk cId="1217161522" sldId="387"/>
        </pc:sldMkLst>
      </pc:sldChg>
      <pc:sldChg chg="del">
        <pc:chgData name="Shania Priccilia" userId="S::shania.priccilia@binus.edu::c4dd4a50-8335-4e39-a119-dc5e413d78e9" providerId="AD" clId="Web-{A6DB8ECC-F519-E19A-3A59-AC618D62738F}" dt="2025-06-30T11:03:37.086" v="24"/>
        <pc:sldMkLst>
          <pc:docMk/>
          <pc:sldMk cId="1068690720" sldId="388"/>
        </pc:sldMkLst>
      </pc:sldChg>
      <pc:sldChg chg="del">
        <pc:chgData name="Shania Priccilia" userId="S::shania.priccilia@binus.edu::c4dd4a50-8335-4e39-a119-dc5e413d78e9" providerId="AD" clId="Web-{A6DB8ECC-F519-E19A-3A59-AC618D62738F}" dt="2025-06-30T11:03:37.086" v="23"/>
        <pc:sldMkLst>
          <pc:docMk/>
          <pc:sldMk cId="1010278789" sldId="389"/>
        </pc:sldMkLst>
      </pc:sldChg>
      <pc:sldChg chg="modSp">
        <pc:chgData name="Shania Priccilia" userId="S::shania.priccilia@binus.edu::c4dd4a50-8335-4e39-a119-dc5e413d78e9" providerId="AD" clId="Web-{A6DB8ECC-F519-E19A-3A59-AC618D62738F}" dt="2025-06-30T11:04:26.057" v="39" actId="20577"/>
        <pc:sldMkLst>
          <pc:docMk/>
          <pc:sldMk cId="694380247" sldId="390"/>
        </pc:sldMkLst>
        <pc:spChg chg="mod">
          <ac:chgData name="Shania Priccilia" userId="S::shania.priccilia@binus.edu::c4dd4a50-8335-4e39-a119-dc5e413d78e9" providerId="AD" clId="Web-{A6DB8ECC-F519-E19A-3A59-AC618D62738F}" dt="2025-06-30T11:04:26.057" v="39" actId="20577"/>
          <ac:spMkLst>
            <pc:docMk/>
            <pc:sldMk cId="694380247" sldId="390"/>
            <ac:spMk id="4" creationId="{A3F736EA-6948-CC3C-404C-D901D54C4C03}"/>
          </ac:spMkLst>
        </pc:spChg>
      </pc:sldChg>
      <pc:sldChg chg="modSp">
        <pc:chgData name="Shania Priccilia" userId="S::shania.priccilia@binus.edu::c4dd4a50-8335-4e39-a119-dc5e413d78e9" providerId="AD" clId="Web-{A6DB8ECC-F519-E19A-3A59-AC618D62738F}" dt="2025-06-30T11:04:07.494" v="33" actId="20577"/>
        <pc:sldMkLst>
          <pc:docMk/>
          <pc:sldMk cId="766404667" sldId="391"/>
        </pc:sldMkLst>
        <pc:spChg chg="mod">
          <ac:chgData name="Shania Priccilia" userId="S::shania.priccilia@binus.edu::c4dd4a50-8335-4e39-a119-dc5e413d78e9" providerId="AD" clId="Web-{A6DB8ECC-F519-E19A-3A59-AC618D62738F}" dt="2025-06-30T11:04:07.494" v="33" actId="20577"/>
          <ac:spMkLst>
            <pc:docMk/>
            <pc:sldMk cId="766404667" sldId="391"/>
            <ac:spMk id="4" creationId="{EB1CB73F-6CD7-9820-8F30-D804A2CD91F1}"/>
          </ac:spMkLst>
        </pc:spChg>
      </pc:sldChg>
      <pc:sldChg chg="delSp del">
        <pc:chgData name="Shania Priccilia" userId="S::shania.priccilia@binus.edu::c4dd4a50-8335-4e39-a119-dc5e413d78e9" providerId="AD" clId="Web-{A6DB8ECC-F519-E19A-3A59-AC618D62738F}" dt="2025-06-30T11:04:19.213" v="36"/>
        <pc:sldMkLst>
          <pc:docMk/>
          <pc:sldMk cId="26577216" sldId="392"/>
        </pc:sldMkLst>
        <pc:spChg chg="del">
          <ac:chgData name="Shania Priccilia" userId="S::shania.priccilia@binus.edu::c4dd4a50-8335-4e39-a119-dc5e413d78e9" providerId="AD" clId="Web-{A6DB8ECC-F519-E19A-3A59-AC618D62738F}" dt="2025-06-30T11:04:15.432" v="35"/>
          <ac:spMkLst>
            <pc:docMk/>
            <pc:sldMk cId="26577216" sldId="392"/>
            <ac:spMk id="4" creationId="{F88A2DED-1A6F-9C4D-7D93-2FCD34C39B39}"/>
          </ac:spMkLst>
        </pc:spChg>
      </pc:sldChg>
      <pc:sldChg chg="modSp">
        <pc:chgData name="Shania Priccilia" userId="S::shania.priccilia@binus.edu::c4dd4a50-8335-4e39-a119-dc5e413d78e9" providerId="AD" clId="Web-{A6DB8ECC-F519-E19A-3A59-AC618D62738F}" dt="2025-06-30T11:04:11.056" v="34" actId="20577"/>
        <pc:sldMkLst>
          <pc:docMk/>
          <pc:sldMk cId="3946212072" sldId="393"/>
        </pc:sldMkLst>
        <pc:spChg chg="mod">
          <ac:chgData name="Shania Priccilia" userId="S::shania.priccilia@binus.edu::c4dd4a50-8335-4e39-a119-dc5e413d78e9" providerId="AD" clId="Web-{A6DB8ECC-F519-E19A-3A59-AC618D62738F}" dt="2025-06-30T11:04:11.056" v="34" actId="20577"/>
          <ac:spMkLst>
            <pc:docMk/>
            <pc:sldMk cId="3946212072" sldId="393"/>
            <ac:spMk id="4" creationId="{623B5041-218A-E59F-7B8D-16E1B85E7870}"/>
          </ac:spMkLst>
        </pc:spChg>
      </pc:sldChg>
      <pc:sldChg chg="del">
        <pc:chgData name="Shania Priccilia" userId="S::shania.priccilia@binus.edu::c4dd4a50-8335-4e39-a119-dc5e413d78e9" providerId="AD" clId="Web-{A6DB8ECC-F519-E19A-3A59-AC618D62738F}" dt="2025-06-30T11:03:37.101" v="26"/>
        <pc:sldMkLst>
          <pc:docMk/>
          <pc:sldMk cId="952783278" sldId="394"/>
        </pc:sldMkLst>
      </pc:sldChg>
    </pc:docChg>
  </pc:docChgLst>
  <pc:docChgLst>
    <pc:chgData name="Shania Priccilia" userId="S::shania.priccilia@binus.edu::c4dd4a50-8335-4e39-a119-dc5e413d78e9" providerId="AD" clId="Web-{202CF316-842A-B85D-B047-88A9E9CB2DFB}"/>
    <pc:docChg chg="modSld">
      <pc:chgData name="Shania Priccilia" userId="S::shania.priccilia@binus.edu::c4dd4a50-8335-4e39-a119-dc5e413d78e9" providerId="AD" clId="Web-{202CF316-842A-B85D-B047-88A9E9CB2DFB}" dt="2025-06-30T11:20:20.982" v="3" actId="20577"/>
      <pc:docMkLst>
        <pc:docMk/>
      </pc:docMkLst>
      <pc:sldChg chg="modSp">
        <pc:chgData name="Shania Priccilia" userId="S::shania.priccilia@binus.edu::c4dd4a50-8335-4e39-a119-dc5e413d78e9" providerId="AD" clId="Web-{202CF316-842A-B85D-B047-88A9E9CB2DFB}" dt="2025-06-30T11:20:20.982" v="3" actId="20577"/>
        <pc:sldMkLst>
          <pc:docMk/>
          <pc:sldMk cId="4105662268" sldId="259"/>
        </pc:sldMkLst>
        <pc:spChg chg="mod">
          <ac:chgData name="Shania Priccilia" userId="S::shania.priccilia@binus.edu::c4dd4a50-8335-4e39-a119-dc5e413d78e9" providerId="AD" clId="Web-{202CF316-842A-B85D-B047-88A9E9CB2DFB}" dt="2025-06-30T11:20:20.982" v="3" actId="20577"/>
          <ac:spMkLst>
            <pc:docMk/>
            <pc:sldMk cId="4105662268" sldId="259"/>
            <ac:spMk id="4" creationId="{F37B5071-5AEC-07E9-E361-22C4629DB39D}"/>
          </ac:spMkLst>
        </pc:spChg>
      </pc:sldChg>
    </pc:docChg>
  </pc:docChgLst>
  <pc:docChgLst>
    <pc:chgData name="Shania Priccilia" userId="S::shania.priccilia@binus.edu::c4dd4a50-8335-4e39-a119-dc5e413d78e9" providerId="AD" clId="Web-{D014268D-0B5C-41FC-8BFA-736708BCEE91}"/>
    <pc:docChg chg="modSld">
      <pc:chgData name="Shania Priccilia" userId="S::shania.priccilia@binus.edu::c4dd4a50-8335-4e39-a119-dc5e413d78e9" providerId="AD" clId="Web-{D014268D-0B5C-41FC-8BFA-736708BCEE91}" dt="2025-06-25T03:48:09.671" v="8"/>
      <pc:docMkLst>
        <pc:docMk/>
      </pc:docMkLst>
      <pc:sldChg chg="modSp">
        <pc:chgData name="Shania Priccilia" userId="S::shania.priccilia@binus.edu::c4dd4a50-8335-4e39-a119-dc5e413d78e9" providerId="AD" clId="Web-{D014268D-0B5C-41FC-8BFA-736708BCEE91}" dt="2025-06-25T03:48:09.671" v="8"/>
        <pc:sldMkLst>
          <pc:docMk/>
          <pc:sldMk cId="4105662268" sldId="259"/>
        </pc:sldMkLst>
        <pc:spChg chg="mod">
          <ac:chgData name="Shania Priccilia" userId="S::shania.priccilia@binus.edu::c4dd4a50-8335-4e39-a119-dc5e413d78e9" providerId="AD" clId="Web-{D014268D-0B5C-41FC-8BFA-736708BCEE91}" dt="2025-06-25T03:48:09.671" v="8"/>
          <ac:spMkLst>
            <pc:docMk/>
            <pc:sldMk cId="4105662268" sldId="259"/>
            <ac:spMk id="4" creationId="{F37B5071-5AEC-07E9-E361-22C4629DB39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aelinik.free.fr/c/ch12.htm" TargetMode="External"/><Relationship Id="rId2" Type="http://schemas.openxmlformats.org/officeDocument/2006/relationships/hyperlink" Target="http://www.exforsys.com/tutorials/c-language/c-pointer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string-functions-in-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dirty="0"/>
              <a:t>Algorithm and programming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altLang="en-US" sz="9600" dirty="0"/>
              <a:t>Pointers and Arrays</a:t>
            </a:r>
            <a:endParaRPr lang="en-US" sz="9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Shania Priccilia,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A11B-2F9E-4E40-B94A-37951AF0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94E0-5EEE-7267-580E-42F911AC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39152-5297-4504-380C-94154A8D96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3600" dirty="0">
                <a:latin typeface="+mj-lt"/>
                <a:cs typeface="Tahoma" pitchFamily="34" charset="0"/>
              </a:rPr>
              <a:t>At the end of this session, student will be able to: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latin typeface="+mj-lt"/>
                <a:cs typeface="Tahoma" pitchFamily="34" charset="0"/>
              </a:rPr>
              <a:t>Explain the concept of array data and pointer (LO2 &amp; LO3)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A43163-205D-662B-E649-FFFD05BAE7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90790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99FFD-E58E-D8B4-ADED-E7895733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635E-1E02-2C02-4DC3-ACB1F722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Subtopics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B5071-5AEC-07E9-E361-22C4629DB3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78782" y="3223274"/>
            <a:ext cx="13714940" cy="9279566"/>
          </a:xfrm>
        </p:spPr>
        <p:txBody>
          <a:bodyPr lIns="50800" tIns="50800" rIns="50800" bIns="5080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+mj-lt"/>
              </a:rPr>
              <a:t>Pointer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+mj-lt"/>
              </a:rPr>
              <a:t>Pointer to Pointer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+mj-lt"/>
              </a:rPr>
              <a:t>Array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+mj-lt"/>
              </a:rPr>
              <a:t>One Dimensional Array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+mj-lt"/>
              </a:rPr>
              <a:t>Pointer Constant &amp; Pointer Variable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+mj-lt"/>
              </a:rPr>
              <a:t>Two Dimensional Array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+mj-lt"/>
              </a:rPr>
              <a:t>Three Dimensional Array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+mj-lt"/>
              </a:rPr>
              <a:t>Array of Pointer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+mj-lt"/>
              </a:rPr>
              <a:t>Array of Character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+mj-lt"/>
              </a:rPr>
              <a:t>String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+mj-lt"/>
              </a:rPr>
              <a:t>String Manipulation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+mj-lt"/>
              </a:rPr>
              <a:t>Exercise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D566C6-D936-74E2-EB81-93137F4418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6622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9BEF-9542-7100-1D62-738DD1E8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Pointer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8487A-CC6E-01E0-FD53-981205337EC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568673" cy="92495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Pointer is a variable that store the address of another variable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Syntax 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	&lt;type&gt; *</a:t>
            </a:r>
            <a:r>
              <a:rPr lang="en-US" altLang="en-US" sz="4000" b="1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ptr_name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Two operators mostly used in pointer : * (content of) and &amp; (address of)</a:t>
            </a:r>
          </a:p>
          <a:p>
            <a:pPr>
              <a:spcBef>
                <a:spcPts val="1200"/>
              </a:spcBef>
            </a:pPr>
            <a:r>
              <a:rPr lang="en-US" altLang="en-US" sz="40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</a:t>
            </a: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: 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Initialize an integer pointer into a data variable: 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*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&amp;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To assign a new value to the variable pointed by the pointer: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*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5;  //means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8E4B81-164B-90D1-DD7A-0603DE2732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85200880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4957-0E93-1CD9-E536-EB04FF699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E90C-7F33-3F6C-EC48-973EF4E0C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Pointer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B4215D-7D79-825F-046E-B2452F10B8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1F99C0-84CF-0671-8CF3-B581A41E5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42776" y="3722936"/>
            <a:ext cx="9893476" cy="53798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EDE8F2-AD8C-8BFC-5957-F8E761F44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8976" y="6912520"/>
            <a:ext cx="10445261" cy="53798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7141134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29ECA-79EA-806D-9E7A-1A0C9A50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30DCA-2DD1-1C75-B7A6-27C249AE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Pointer to Pointer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BB6A5-6FD0-F54A-79A6-2D69B1B5B6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568673" cy="8186342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Pointer to pointer is a variable that saves another address of a pointer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lang="en-US" sz="4000" b="1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</a:rPr>
              <a:t>Syntax: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	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&lt;type&gt; **</a:t>
            </a:r>
            <a:r>
              <a:rPr lang="en-US" altLang="en-US" sz="4000" b="1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ptr_ptr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b="1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algn="just">
              <a:spcBef>
                <a:spcPts val="1200"/>
              </a:spcBef>
            </a:pP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Example: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*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**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ptr_ptr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&amp;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ptr_ptr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&amp;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rgbClr val="FF0000"/>
                </a:solidFill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To assign new value to i: 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*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5;		// means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=5 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**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ptr_ptr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9; 	// means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=9; or *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=9;</a:t>
            </a:r>
          </a:p>
          <a:p>
            <a:pPr marL="623888" lvl="1" indent="0" algn="just">
              <a:spcBef>
                <a:spcPts val="1200"/>
              </a:spcBef>
              <a:buNone/>
            </a:pP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409B17-152D-5CAB-481E-AECA3E247A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128816865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7937D-C936-A40D-9FF6-0ABA6EE0E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6D12A-B6FE-A27E-AB26-E39350745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Pointer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D1FC13-89DE-8BCD-BB20-1FDF042EE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23DB69-729D-2B99-F04E-07785AADA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518049"/>
            <a:ext cx="9262624" cy="59011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714BBB-447B-A12C-95B4-3C4C0FE33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683876" y="6058676"/>
            <a:ext cx="9910031" cy="63757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490348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26D95-2B23-E922-D7CE-2823C102D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7BA1F-8561-A0C8-BE77-686095364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array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7E74B-CFC0-AD83-EB9D-A0E973D8BD1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883731" cy="8186342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An array is a data structure used to store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multiple values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of the same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data type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.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These values are stored in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contiguous memory locations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and can be accessed individually using an index. 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All elements in an array share the same name, and the index (starting from 0) is used to distinguish between them.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ahoma" pitchFamily="34" charset="0"/>
            </a:endParaRP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lang="en-US" sz="4000" b="1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</a:rPr>
              <a:t>Array characteristics: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ahoma" pitchFamily="34" charset="0"/>
            </a:endParaRPr>
          </a:p>
          <a:p>
            <a:pPr marL="1195388" lvl="1" indent="-571500" defTabSz="914400">
              <a:lnSpc>
                <a:spcPct val="90000"/>
              </a:lnSpc>
              <a:spcBef>
                <a:spcPct val="20000"/>
              </a:spcBef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Homogenous 	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  <a:sym typeface="Wingdings" panose="05000000000000000000" pitchFamily="2" charset="2"/>
              </a:rPr>
              <a:t>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All elements have similar data type</a:t>
            </a:r>
          </a:p>
          <a:p>
            <a:pPr marL="1195388" lvl="1" indent="-571500" defTabSz="914400">
              <a:lnSpc>
                <a:spcPct val="90000"/>
              </a:lnSpc>
              <a:spcBef>
                <a:spcPct val="20000"/>
              </a:spcBef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Random Access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  <a:sym typeface="Wingdings" panose="05000000000000000000" pitchFamily="2" charset="2"/>
              </a:rPr>
              <a:t>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Each element can be reached individually, does not have to be sequential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2C37DD-95C6-48A6-3DEB-811DBE186D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68311819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20EDC-2708-5491-7BB9-B419F4BCE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E4640-6FCF-BF42-1614-828885CC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dimensional array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FADA3-7BDF-9729-45FA-AC66059D348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883731" cy="8186342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Syntax: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</a:rPr>
              <a:t>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array_value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[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value_dim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];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ahoma" pitchFamily="34" charset="0"/>
            </a:endParaRP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Example :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</a:rPr>
              <a:t>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A[10];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ahoma" pitchFamily="34" charset="0"/>
            </a:endParaRP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The definition consists of 4 components:</a:t>
            </a:r>
          </a:p>
          <a:p>
            <a:pPr marL="1195388" lvl="1" indent="-571500" defTabSz="914400">
              <a:lnSpc>
                <a:spcPct val="90000"/>
              </a:lnSpc>
              <a:spcBef>
                <a:spcPct val="20000"/>
              </a:spcBef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Type specified</a:t>
            </a:r>
          </a:p>
          <a:p>
            <a:pPr marL="1195388" lvl="1" indent="-571500" defTabSz="914400">
              <a:lnSpc>
                <a:spcPct val="90000"/>
              </a:lnSpc>
              <a:spcBef>
                <a:spcPct val="20000"/>
              </a:spcBef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Identifier (name of the array)</a:t>
            </a:r>
          </a:p>
          <a:p>
            <a:pPr marL="1195388" lvl="1" indent="-571500" defTabSz="914400">
              <a:lnSpc>
                <a:spcPct val="90000"/>
              </a:lnSpc>
              <a:spcBef>
                <a:spcPct val="20000"/>
              </a:spcBef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Operator index ([  ])</a:t>
            </a:r>
          </a:p>
          <a:p>
            <a:pPr marL="1195388" lvl="1" indent="-571500" defTabSz="914400">
              <a:lnSpc>
                <a:spcPct val="90000"/>
              </a:lnSpc>
              <a:spcBef>
                <a:spcPct val="20000"/>
              </a:spcBef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Dimensional value inside operator [ ]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0FF92F-8A6E-C72A-DAEA-7F00472C0C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171609598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B6707-DA32-3A73-4DC6-5ACCBF36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E8026-DF33-A834-8904-DE9332F1B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dimensional array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6F159-BB7F-510D-201D-0CBF1C41744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883731" cy="8186342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An illustration of array 1D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Elements of an array indexed starting from 0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51CF00-2597-524B-B414-E8328AC280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concept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B17DB3E-6E75-1806-4E24-DAF1CFA0B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837" y="5644373"/>
            <a:ext cx="15032131" cy="335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6804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091C2-6D2F-B1F5-9174-24CAE616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F31D2-3F22-73BC-7CA8-3B29681C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dimensional array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4D466-0610-B263-AC4B-520473E359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883731" cy="8186342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Array can be initialized explicitly without dimensional value declaration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Example: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B[ ]={1, 2, -4, 8};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lang="en-US" sz="4000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lang="en-US" sz="4000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B[8]={1, 2, -4, 8};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A07A81-A263-B5A5-D414-E2434BC8A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initialization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7F36A1-232F-47CC-11FC-3F98FEE76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073" y="5724840"/>
            <a:ext cx="8646404" cy="1524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48BB55-0B53-606E-4F17-4E78B59623A0}"/>
              </a:ext>
            </a:extLst>
          </p:cNvPr>
          <p:cNvSpPr txBox="1"/>
          <p:nvPr/>
        </p:nvSpPr>
        <p:spPr>
          <a:xfrm>
            <a:off x="12109242" y="6192292"/>
            <a:ext cx="5858644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Array B has 4 elements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7F1667-C0F5-D11C-5AB6-4D8C78B65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578" y="8531151"/>
            <a:ext cx="16674383" cy="191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0415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1FD6F-1FE0-92D6-5089-95FA9DE23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851A-EF27-21C0-D543-448A15219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dimensional array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60B02-B6BB-BB2B-5677-CE88E8A1DA8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883731" cy="8186342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Example: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B[4] = { 1, 2, -4, 8, 9 };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//error</a:t>
            </a:r>
            <a:endParaRPr lang="en-US" sz="4000" b="1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*Error because </a:t>
            </a:r>
            <a:r>
              <a:rPr lang="en-US" sz="4000" kern="1200" dirty="0">
                <a:solidFill>
                  <a:srgbClr val="FF0000"/>
                </a:solidFill>
                <a:latin typeface="+mj-lt"/>
                <a:ea typeface="+mn-ea"/>
                <a:cs typeface="Courier New" panose="02070309020205020404" pitchFamily="49" charset="0"/>
              </a:rPr>
              <a:t>array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has fewer dimensions than expected.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lang="en-US" sz="4000" kern="1200" dirty="0">
              <a:solidFill>
                <a:srgbClr val="FF0000"/>
              </a:solidFill>
              <a:latin typeface="+mj-lt"/>
              <a:ea typeface="+mn-ea"/>
              <a:cs typeface="Courier New" panose="02070309020205020404" pitchFamily="49" charset="0"/>
            </a:endParaRP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Array initialization after definition: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id-ID" sz="4000" dirty="0">
                <a:latin typeface="Courier New" pitchFamily="49" charset="0"/>
                <a:cs typeface="Tahoma" pitchFamily="34" charset="0"/>
              </a:rPr>
              <a:t>int A[5];</a:t>
            </a:r>
            <a:endParaRPr lang="en-US" sz="4000" dirty="0">
              <a:latin typeface="Courier New" pitchFamily="49" charset="0"/>
              <a:cs typeface="Tahoma" pitchFamily="34" charset="0"/>
            </a:endParaRP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dirty="0">
                <a:latin typeface="Courier New" pitchFamily="49" charset="0"/>
                <a:cs typeface="Tahoma" pitchFamily="34" charset="0"/>
              </a:rPr>
              <a:t>(</a:t>
            </a:r>
            <a:r>
              <a:rPr lang="id-ID" sz="4000" dirty="0" err="1">
                <a:latin typeface="Courier New" pitchFamily="49" charset="0"/>
                <a:cs typeface="Tahoma" pitchFamily="34" charset="0"/>
              </a:rPr>
              <a:t>for</a:t>
            </a:r>
            <a:r>
              <a:rPr lang="id-ID" sz="4000" dirty="0">
                <a:latin typeface="Courier New" pitchFamily="49" charset="0"/>
                <a:cs typeface="Tahoma" pitchFamily="34" charset="0"/>
              </a:rPr>
              <a:t> i=0; i&lt;5;</a:t>
            </a:r>
            <a:r>
              <a:rPr lang="en-US" sz="4000" dirty="0">
                <a:latin typeface="Courier New" pitchFamily="49" charset="0"/>
                <a:cs typeface="Tahoma" pitchFamily="34" charset="0"/>
              </a:rPr>
              <a:t> </a:t>
            </a:r>
            <a:r>
              <a:rPr lang="id-ID" sz="4000" dirty="0">
                <a:latin typeface="Courier New" pitchFamily="49" charset="0"/>
                <a:cs typeface="Tahoma" pitchFamily="34" charset="0"/>
              </a:rPr>
              <a:t>i++) A[i]=0;</a:t>
            </a:r>
            <a:endParaRPr lang="en-US" sz="4000" dirty="0">
              <a:latin typeface="Courier New" pitchFamily="49" charset="0"/>
              <a:cs typeface="Tahoma" pitchFamily="34" charset="0"/>
            </a:endParaRP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lang="en-US" sz="4000" dirty="0">
              <a:latin typeface="Courier New" pitchFamily="49" charset="0"/>
              <a:cs typeface="Tahoma" pitchFamily="34" charset="0"/>
            </a:endParaRP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id-ID" sz="4000" dirty="0">
                <a:latin typeface="Courier New" pitchFamily="49" charset="0"/>
                <a:cs typeface="Tahoma" pitchFamily="34" charset="0"/>
              </a:rPr>
              <a:t>int B[5];</a:t>
            </a:r>
            <a:endParaRPr lang="en-US" sz="4000" dirty="0">
              <a:latin typeface="Courier New" pitchFamily="49" charset="0"/>
              <a:cs typeface="Tahoma" pitchFamily="34" charset="0"/>
            </a:endParaRP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id-ID" sz="4000" dirty="0">
                <a:latin typeface="Courier New" pitchFamily="49" charset="0"/>
                <a:cs typeface="Tahoma" pitchFamily="34" charset="0"/>
              </a:rPr>
              <a:t>B[5]={0,0,0,0,0</a:t>
            </a:r>
            <a:r>
              <a:rPr lang="en-US" sz="4000" dirty="0">
                <a:latin typeface="Courier New" pitchFamily="49" charset="0"/>
                <a:cs typeface="Tahoma" pitchFamily="34" charset="0"/>
              </a:rPr>
              <a:t>};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D8E7A6-A018-C761-E9B9-03D3F52DE9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initialization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A693C7F1-C112-3188-87EA-2894C5716C9B}"/>
              </a:ext>
            </a:extLst>
          </p:cNvPr>
          <p:cNvSpPr>
            <a:spLocks/>
          </p:cNvSpPr>
          <p:nvPr/>
        </p:nvSpPr>
        <p:spPr bwMode="auto">
          <a:xfrm>
            <a:off x="8587154" y="8961558"/>
            <a:ext cx="457200" cy="1378195"/>
          </a:xfrm>
          <a:prstGeom prst="rightBrace">
            <a:avLst>
              <a:gd name="adj1" fmla="val 13889"/>
              <a:gd name="adj2" fmla="val 48333"/>
            </a:avLst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endParaRPr lang="id-ID" b="1" dirty="0"/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43DE4307-BF93-A4A1-0352-F3B6B62A0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3100" y="9449836"/>
            <a:ext cx="3625362" cy="710067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defTabSz="457200">
              <a:spcBef>
                <a:spcPts val="125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dirty="0">
                <a:solidFill>
                  <a:srgbClr val="FF3300"/>
                </a:solidFill>
                <a:latin typeface="+mj-lt"/>
                <a:cs typeface="Tahoma" pitchFamily="34" charset="0"/>
              </a:rPr>
              <a:t>Error, why ?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3A75E0EB-7CE2-C915-7063-5BBA7093E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68237" y="7395738"/>
            <a:ext cx="920225" cy="925511"/>
          </a:xfrm>
          <a:prstGeom prst="rect">
            <a:avLst/>
          </a:prstGeom>
          <a:noFill/>
          <a:ln w="9360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defTabSz="457200">
              <a:spcBef>
                <a:spcPts val="125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1" dirty="0">
                <a:solidFill>
                  <a:srgbClr val="00B050"/>
                </a:solidFill>
                <a:latin typeface="+mj-lt"/>
                <a:cs typeface="Tahoma" pitchFamily="34" charset="0"/>
              </a:rPr>
              <a:t>√</a:t>
            </a:r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A94BB4FF-6ACA-B3ED-F50C-A7ADA696114F}"/>
              </a:ext>
            </a:extLst>
          </p:cNvPr>
          <p:cNvSpPr>
            <a:spLocks/>
          </p:cNvSpPr>
          <p:nvPr/>
        </p:nvSpPr>
        <p:spPr bwMode="auto">
          <a:xfrm>
            <a:off x="11494513" y="7061673"/>
            <a:ext cx="457200" cy="1378195"/>
          </a:xfrm>
          <a:prstGeom prst="rightBrace">
            <a:avLst>
              <a:gd name="adj1" fmla="val 13889"/>
              <a:gd name="adj2" fmla="val 48333"/>
            </a:avLst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endParaRPr lang="id-ID" b="1" dirty="0"/>
          </a:p>
        </p:txBody>
      </p:sp>
    </p:spTree>
    <p:extLst>
      <p:ext uri="{BB962C8B-B14F-4D97-AF65-F5344CB8AC3E}">
        <p14:creationId xmlns:p14="http://schemas.microsoft.com/office/powerpoint/2010/main" val="80339980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A984E-7BE8-3B95-B764-CD3FF8FB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8B56D-A044-87C9-1C9E-71132BB90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dimensional array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AB20EE-9E03-A8E7-FDE9-B208F562E6A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883731" cy="8186342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Two analogous ways of accessing an element </a:t>
            </a:r>
            <a:r>
              <a:rPr lang="en-US" sz="4400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</a:rPr>
              <a:t>at index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2;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	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*(A+2)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4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or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lang="en-US" sz="4400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A[2]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A is equivalent to &amp;A[0]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lang="en-US" sz="4400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</a:rPr>
              <a:t>I</a:t>
            </a:r>
            <a:r>
              <a:rPr kumimoji="0" lang="en-US" sz="4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t represents a constant pointer to the first element of the array.</a:t>
            </a:r>
            <a:endParaRPr lang="en-US" sz="4400" kern="1200" dirty="0">
              <a:solidFill>
                <a:prstClr val="black"/>
              </a:solidFill>
              <a:latin typeface="+mj-lt"/>
              <a:ea typeface="+mn-ea"/>
              <a:cs typeface="Tahoma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C263F2-3493-75C9-1965-2929C7EDAE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Accessing array</a:t>
            </a:r>
          </a:p>
        </p:txBody>
      </p:sp>
    </p:spTree>
    <p:extLst>
      <p:ext uri="{BB962C8B-B14F-4D97-AF65-F5344CB8AC3E}">
        <p14:creationId xmlns:p14="http://schemas.microsoft.com/office/powerpoint/2010/main" val="405678638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5FC2F-3D86-E4AD-D1FD-17BB5233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FF02D-FB7A-B45E-72CD-6A7012117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dimensional array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1C4D7A-09DB-8369-0A25-ABF9B730DB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883731" cy="8186342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Assigning value to an element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Example : 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A[6] = 15;  A[3] = 27;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lang="en-US" sz="4400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lang="en-US" sz="4400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pt-B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A[2] = A[3] - A[6]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	</a:t>
            </a:r>
            <a:endParaRPr lang="en-US" sz="4400" kern="1200" dirty="0">
              <a:solidFill>
                <a:prstClr val="black"/>
              </a:solidFill>
              <a:latin typeface="+mj-lt"/>
              <a:ea typeface="+mn-ea"/>
              <a:cs typeface="Tahoma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D02CD7-26CA-EB80-E422-47E1A49D0B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Assigning Values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2683184-5912-0A4E-F2D8-5B6CA7E4C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111" y="5890558"/>
            <a:ext cx="11282243" cy="252103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950E7E9-4CE0-32BF-C67E-60A6BE247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111" y="9677650"/>
            <a:ext cx="11563597" cy="257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47286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3CA37-7B87-9D72-5297-63CC769F9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9342-E16F-494F-A314-A82AAD27F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dimensional array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0456DE-AD5B-86F5-7FFA-CB9B20E4BE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8404C8-555B-6A1A-FF03-46AE43B25E3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042307" y="5890755"/>
            <a:ext cx="3561820" cy="875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</p:txBody>
      </p:sp>
      <p:pic>
        <p:nvPicPr>
          <p:cNvPr id="4" name="Picture 3" descr="A computer code with numbers and symbols&#10;&#10;AI-generated content may be incorrect.">
            <a:extLst>
              <a:ext uri="{FF2B5EF4-FFF2-40B4-BE49-F238E27FC236}">
                <a16:creationId xmlns:a16="http://schemas.microsoft.com/office/drawing/2014/main" id="{F1FEB561-6EFD-7C8F-9F9C-B40757D49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839" y="3680954"/>
            <a:ext cx="13312718" cy="4959639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3C55E1B-3311-AEA5-8BD4-2A5D64AAD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2307" y="6858000"/>
            <a:ext cx="6898104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8059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DC7F-3D24-655D-D14A-B2D49E9B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39526-9418-7586-A0E3-938A5DB07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dimensional array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8DD567-09AD-C37A-90B7-46805858E0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271EC9-B0F8-AAEE-458A-0A33093D526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101022" y="6096319"/>
            <a:ext cx="3561820" cy="875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91AC5A-C1A3-A1E8-8BD2-328FEE090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3481466"/>
            <a:ext cx="12005823" cy="6981443"/>
          </a:xfrm>
          <a:prstGeom prst="rect">
            <a:avLst/>
          </a:prstGeom>
        </p:spPr>
      </p:pic>
      <p:pic>
        <p:nvPicPr>
          <p:cNvPr id="10" name="Picture 9" descr="A number of black stars&#10;&#10;AI-generated content may be incorrect.">
            <a:extLst>
              <a:ext uri="{FF2B5EF4-FFF2-40B4-BE49-F238E27FC236}">
                <a16:creationId xmlns:a16="http://schemas.microsoft.com/office/drawing/2014/main" id="{5A5A875B-011F-A75C-7D75-487CF16D3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9061" y="7111838"/>
            <a:ext cx="7107562" cy="365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0280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97744-A0C5-9507-21FA-618A4808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A9993-CAFC-9ADE-46A4-5D6EBA2C5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Pointer Constant &amp; Pointer Variable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CDE85-9DDC-FCF8-D497-9FEA64D3580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883731" cy="10058400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Pointer variable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 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400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  <a:sym typeface="Wingdings" panose="05000000000000000000" pitchFamily="2" charset="2"/>
              </a:rPr>
              <a:t> P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ointer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 that can be assigned with new value at run-time.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Pointer constant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 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400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  <a:sym typeface="Wingdings" panose="05000000000000000000" pitchFamily="2" charset="2"/>
              </a:rPr>
              <a:t> P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ointer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 that can not be assigned with new value at run-time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Array is Pointer Constant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to its first element of the array. Array can be filled with pointer variable.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ahoma" pitchFamily="34" charset="0"/>
            </a:endParaRP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Example of pointer variable: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x=10, y=20;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*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				//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is pointer variable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&amp;x;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&amp;y;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ahoma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DFA037-28A7-7414-2691-344144D080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Definition &amp; example</a:t>
            </a:r>
          </a:p>
        </p:txBody>
      </p:sp>
    </p:spTree>
    <p:extLst>
      <p:ext uri="{BB962C8B-B14F-4D97-AF65-F5344CB8AC3E}">
        <p14:creationId xmlns:p14="http://schemas.microsoft.com/office/powerpoint/2010/main" val="11252403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3D43F-A191-5F3B-749A-F7F17807A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AED8D-2658-3FA4-2A80-CD7C4E399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Pointer Constant &amp; Pointer Variable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0441B-AD6C-07D9-75D9-FC7D9DE6B9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473423" cy="6800850"/>
          </a:xfrm>
        </p:spPr>
        <p:txBody>
          <a:bodyPr>
            <a:noAutofit/>
          </a:bodyPr>
          <a:lstStyle/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Example of pointer constant (array):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ahoma" pitchFamily="34" charset="0"/>
            </a:endParaRP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arr1[10];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 dirty="0">
                <a:solidFill>
                  <a:srgbClr val="C0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arr1[10] = {1, 2, 3, 4, 5};		// error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 dirty="0">
                <a:solidFill>
                  <a:srgbClr val="C0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Arr1 = {1, 2, 3, 4, 5};			// error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 dirty="0">
                <a:solidFill>
                  <a:srgbClr val="C0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arr1[10] = 12;						// error max 9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arr1[0] = 23;						// ok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arr2[10] = {1, 2, 3, 4, 5}; //ok</a:t>
            </a:r>
            <a:endParaRPr lang="en-US" sz="3600" kern="1200" dirty="0">
              <a:solidFill>
                <a:prstClr val="black"/>
              </a:solidFill>
              <a:latin typeface="+mj-lt"/>
              <a:ea typeface="+mn-ea"/>
              <a:cs typeface="Tahoma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02443B-EED2-7315-28F4-A1453BCBBC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Accessing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5A172-8D37-3094-39BB-A81E8FED3DD1}"/>
              </a:ext>
            </a:extLst>
          </p:cNvPr>
          <p:cNvSpPr txBox="1"/>
          <p:nvPr/>
        </p:nvSpPr>
        <p:spPr>
          <a:xfrm>
            <a:off x="14859276" y="5410198"/>
            <a:ext cx="6495774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*can only be initialized at definition time</a:t>
            </a:r>
          </a:p>
        </p:txBody>
      </p:sp>
    </p:spTree>
    <p:extLst>
      <p:ext uri="{BB962C8B-B14F-4D97-AF65-F5344CB8AC3E}">
        <p14:creationId xmlns:p14="http://schemas.microsoft.com/office/powerpoint/2010/main" val="307555793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3F641-65D7-A2DC-619C-F88B37FDB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1EA41-5A8A-C7E0-49FE-68CEA0410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Pointer Constant &amp; Pointer Variable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25206-01E8-1934-97E6-D74851A590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50134" y="3254479"/>
            <a:ext cx="19883731" cy="7413521"/>
          </a:xfrm>
        </p:spPr>
        <p:txBody>
          <a:bodyPr>
            <a:noAutofit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Accessing array using a pointer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</a:t>
            </a:r>
            <a:r>
              <a:rPr lang="en-US" sz="36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</a:t>
            </a: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[10];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*</a:t>
            </a:r>
            <a:r>
              <a:rPr lang="en-US" sz="36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ptr_arr</a:t>
            </a: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ptr_arr</a:t>
            </a: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</a:t>
            </a:r>
            <a:r>
              <a:rPr lang="en-US" sz="36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</a:t>
            </a: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 			//or </a:t>
            </a:r>
            <a:r>
              <a:rPr lang="en-US" sz="36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ptr_arr</a:t>
            </a: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&amp;</a:t>
            </a:r>
            <a:r>
              <a:rPr lang="en-US" sz="36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</a:t>
            </a: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[0];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lang="en-US" sz="3600" b="1" kern="1200" dirty="0">
              <a:solidFill>
                <a:prstClr val="black"/>
              </a:solidFill>
              <a:latin typeface="+mj-lt"/>
              <a:ea typeface="+mn-ea"/>
              <a:cs typeface="Tahoma" pitchFamily="34" charset="0"/>
            </a:endParaRP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To access certain element of array using pointer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[4] = {1,2,3,4};	//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is an array (pointer constant)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*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			//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is a pointer variable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printf("%d\n", *(ptr+1));	//output 2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printf("%d\n", *(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+ 1)); //output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A6004B-B969-F781-D7E6-32136D9BA3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Accessing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D1A64-0F09-6B89-ADB8-6E30E4E49626}"/>
              </a:ext>
            </a:extLst>
          </p:cNvPr>
          <p:cNvSpPr txBox="1"/>
          <p:nvPr/>
        </p:nvSpPr>
        <p:spPr>
          <a:xfrm>
            <a:off x="2762249" y="11059112"/>
            <a:ext cx="13335001" cy="1077218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ptr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is a pointer constant pointing to the first element of an array.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arr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[1] analogous with *(arr+1)</a:t>
            </a:r>
          </a:p>
        </p:txBody>
      </p:sp>
    </p:spTree>
    <p:extLst>
      <p:ext uri="{BB962C8B-B14F-4D97-AF65-F5344CB8AC3E}">
        <p14:creationId xmlns:p14="http://schemas.microsoft.com/office/powerpoint/2010/main" val="193167958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95038-E586-6A96-9AD9-79A24979F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CB65F-6B7E-1783-7E2F-CD9CAC830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 dimensional array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F3BE2-924C-C895-8D4E-CA41873B09F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492378"/>
            <a:ext cx="19883731" cy="5804022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C compiler does not limit number of dimensional which can be created. Our PC memory does.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4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ahoma" pitchFamily="34" charset="0"/>
            </a:endParaRP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Syntax: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</a:rPr>
              <a:t>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name_array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[row][col];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ahoma" pitchFamily="34" charset="0"/>
            </a:endParaRP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Example :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</a:rPr>
              <a:t>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a[3][4];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D678A9-2285-D06E-1D73-0573D6F957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definition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B937723-5AA1-37BC-C341-29218A4CD8D0}"/>
              </a:ext>
            </a:extLst>
          </p:cNvPr>
          <p:cNvGrpSpPr>
            <a:grpSpLocks/>
          </p:cNvGrpSpPr>
          <p:nvPr/>
        </p:nvGrpSpPr>
        <p:grpSpPr bwMode="auto">
          <a:xfrm>
            <a:off x="9182100" y="7473494"/>
            <a:ext cx="13998960" cy="4972048"/>
            <a:chOff x="816" y="2256"/>
            <a:chExt cx="4098" cy="150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A65D709-9ED6-4E53-DEF3-24F9D3923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256"/>
              <a:ext cx="3848" cy="864"/>
              <a:chOff x="816" y="2256"/>
              <a:chExt cx="3848" cy="86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3E6B549-F8A5-25DC-FE73-02EC4BC1BB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508"/>
                <a:ext cx="448" cy="11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0" tIns="0" rIns="0" bIns="0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9pPr>
              </a:lstStyle>
              <a:p>
                <a:pPr defTabSz="457200"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ID" sz="3600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rPr>
                  <a:t>Row 0</a:t>
                </a:r>
              </a:p>
              <a:p>
                <a:pPr defTabSz="457200" eaLnBrk="0" hangingPunct="0"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ID" sz="360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Times New Roman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3ED98B-D57A-5585-34BC-6B9AF407F7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677"/>
                <a:ext cx="448" cy="11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0" tIns="0" rIns="0" bIns="0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9pPr>
              </a:lstStyle>
              <a:p>
                <a:pPr defTabSz="457200"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ID" sz="3600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rPr>
                  <a:t>Row 1</a:t>
                </a:r>
              </a:p>
              <a:p>
                <a:pPr defTabSz="457200" eaLnBrk="0" hangingPunct="0"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ID" sz="360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Times New Roman" pitchFamily="18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DDF7759-22B4-C224-2105-D9A9540DA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846"/>
                <a:ext cx="448" cy="112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0" tIns="0" rIns="0" bIns="0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9pPr>
              </a:lstStyle>
              <a:p>
                <a:pPr defTabSz="457200"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ID" sz="3600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rPr>
                  <a:t>Row 2</a:t>
                </a:r>
              </a:p>
              <a:p>
                <a:pPr defTabSz="457200" eaLnBrk="0" hangingPunct="0"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ID" sz="360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Times New Roman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193CD01-B0F7-12F8-93B8-CBD8B54D6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2256"/>
                <a:ext cx="695" cy="11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0" tIns="0" rIns="0" bIns="0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9pPr>
              </a:lstStyle>
              <a:p>
                <a:pPr defTabSz="457200"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ID" sz="3600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rPr>
                  <a:t>Column 0</a:t>
                </a:r>
              </a:p>
              <a:p>
                <a:pPr defTabSz="457200" eaLnBrk="0" hangingPunct="0"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ID" sz="360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Times New Roman" pitchFamily="18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4A61A2-4A65-3EA3-3156-597665CC7F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2" y="2256"/>
                <a:ext cx="696" cy="11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0" tIns="0" rIns="0" bIns="0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9pPr>
              </a:lstStyle>
              <a:p>
                <a:pPr defTabSz="457200"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ID" sz="3600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rPr>
                  <a:t>Column 1</a:t>
                </a:r>
              </a:p>
              <a:p>
                <a:pPr defTabSz="457200" eaLnBrk="0" hangingPunct="0"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ID" sz="360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Times New Roman" pitchFamily="18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9B2D954-D776-FFF0-0F6E-F54455BA80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8" y="2256"/>
                <a:ext cx="695" cy="11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0" tIns="0" rIns="0" bIns="0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9pPr>
              </a:lstStyle>
              <a:p>
                <a:pPr defTabSz="457200"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ID" sz="3600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rPr>
                  <a:t>Column 2</a:t>
                </a:r>
              </a:p>
              <a:p>
                <a:pPr defTabSz="457200" eaLnBrk="0" hangingPunct="0"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ID" sz="360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Times New Roman" pitchFamily="18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14FECFC-1CEE-FE84-0C09-1C799A9BEA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3" y="2256"/>
                <a:ext cx="696" cy="11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0" tIns="0" rIns="0" bIns="0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9pPr>
              </a:lstStyle>
              <a:p>
                <a:pPr defTabSz="457200"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ID" sz="3600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rPr>
                  <a:t>Column 3</a:t>
                </a:r>
              </a:p>
              <a:p>
                <a:pPr defTabSz="457200" eaLnBrk="0" hangingPunct="0"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ID" sz="360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Times New Roman" pitchFamily="18" charset="0"/>
                </a:endParaRP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C1348EB-746A-89D4-AEA1-113B999E30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62" y="2448"/>
                <a:ext cx="826" cy="217"/>
                <a:chOff x="1362" y="2448"/>
                <a:chExt cx="826" cy="217"/>
              </a:xfrm>
            </p:grpSpPr>
            <p:sp>
              <p:nvSpPr>
                <p:cNvPr id="55" name="Freeform 14">
                  <a:extLst>
                    <a:ext uri="{FF2B5EF4-FFF2-40B4-BE49-F238E27FC236}">
                      <a16:creationId xmlns:a16="http://schemas.microsoft.com/office/drawing/2014/main" id="{E4D8F8F8-8323-B7C6-875E-0DDA34F515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2" y="2448"/>
                  <a:ext cx="826" cy="21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2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endParaRPr lang="id-ID" sz="3600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499DEEC1-CA82-5DEF-4B2E-DE0978757F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6" y="2479"/>
                  <a:ext cx="758" cy="169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pPr defTabSz="45720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a[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0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0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</a:t>
                  </a:r>
                </a:p>
                <a:p>
                  <a:pPr defTabSz="457200" eaLnBrk="0" hangingPunct="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ID" sz="3600" b="1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DDF798D-4652-A674-FC93-5B461BF71A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62" y="2665"/>
                <a:ext cx="826" cy="215"/>
                <a:chOff x="1362" y="2665"/>
                <a:chExt cx="826" cy="215"/>
              </a:xfrm>
            </p:grpSpPr>
            <p:sp>
              <p:nvSpPr>
                <p:cNvPr id="53" name="Freeform 17">
                  <a:extLst>
                    <a:ext uri="{FF2B5EF4-FFF2-40B4-BE49-F238E27FC236}">
                      <a16:creationId xmlns:a16="http://schemas.microsoft.com/office/drawing/2014/main" id="{05333FB0-BC87-1031-5972-0B66998CE8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2" y="2665"/>
                  <a:ext cx="826" cy="21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2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endParaRPr lang="id-ID" sz="3600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44E63A5A-9E2D-7A00-DB88-8F5C6BA14E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6" y="2696"/>
                  <a:ext cx="758" cy="168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pPr defTabSz="45720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a[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1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0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</a:t>
                  </a:r>
                </a:p>
                <a:p>
                  <a:pPr defTabSz="457200" eaLnBrk="0" hangingPunct="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ID" sz="3600" b="1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E048E0-0625-DD97-4287-3EB0DBE443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62" y="2880"/>
                <a:ext cx="826" cy="240"/>
                <a:chOff x="1362" y="2880"/>
                <a:chExt cx="826" cy="240"/>
              </a:xfrm>
            </p:grpSpPr>
            <p:sp>
              <p:nvSpPr>
                <p:cNvPr id="51" name="Freeform 20">
                  <a:extLst>
                    <a:ext uri="{FF2B5EF4-FFF2-40B4-BE49-F238E27FC236}">
                      <a16:creationId xmlns:a16="http://schemas.microsoft.com/office/drawing/2014/main" id="{5300AB82-7733-4B6A-723C-344CF027DF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2" y="2880"/>
                  <a:ext cx="826" cy="24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2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endParaRPr lang="id-ID" sz="3600"/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D0A9CFC5-B5E5-C1C7-86CF-CF14ED6D7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6" y="2914"/>
                  <a:ext cx="758" cy="188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pPr defTabSz="45720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ID" sz="3600" b="1" dirty="0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a[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2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][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0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</a:t>
                  </a:r>
                </a:p>
                <a:p>
                  <a:pPr defTabSz="457200" eaLnBrk="0" hangingPunct="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ID" sz="3600" b="1" dirty="0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85CADA5D-0B4A-37A6-B42D-7B947AB4A1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8" y="2448"/>
                <a:ext cx="825" cy="217"/>
                <a:chOff x="2188" y="2448"/>
                <a:chExt cx="825" cy="217"/>
              </a:xfrm>
            </p:grpSpPr>
            <p:sp>
              <p:nvSpPr>
                <p:cNvPr id="49" name="Freeform 23">
                  <a:extLst>
                    <a:ext uri="{FF2B5EF4-FFF2-40B4-BE49-F238E27FC236}">
                      <a16:creationId xmlns:a16="http://schemas.microsoft.com/office/drawing/2014/main" id="{3EBE1A72-6F24-1CA0-CE7C-C9907A0709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8" y="2448"/>
                  <a:ext cx="825" cy="21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2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endParaRPr lang="id-ID" sz="3600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245D194C-4F9D-44F0-3392-363D2C7FA1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21" y="2479"/>
                  <a:ext cx="757" cy="169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pPr defTabSz="45720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a[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0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1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</a:t>
                  </a:r>
                </a:p>
                <a:p>
                  <a:pPr defTabSz="457200" eaLnBrk="0" hangingPunct="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ID" sz="3600" b="1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C3508B4-7CB4-C5E9-EE1D-119730969F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8" y="2665"/>
                <a:ext cx="825" cy="215"/>
                <a:chOff x="2188" y="2665"/>
                <a:chExt cx="825" cy="215"/>
              </a:xfrm>
            </p:grpSpPr>
            <p:sp>
              <p:nvSpPr>
                <p:cNvPr id="47" name="Freeform 26">
                  <a:extLst>
                    <a:ext uri="{FF2B5EF4-FFF2-40B4-BE49-F238E27FC236}">
                      <a16:creationId xmlns:a16="http://schemas.microsoft.com/office/drawing/2014/main" id="{C99BBB23-E9DB-E466-7E2A-02402A9ADA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8" y="2665"/>
                  <a:ext cx="825" cy="21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2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endParaRPr lang="id-ID" sz="3600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6B0084CE-63A7-296A-9EBC-EBEB2CDEB4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21" y="2696"/>
                  <a:ext cx="757" cy="168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pPr defTabSz="45720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a[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1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1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</a:t>
                  </a:r>
                </a:p>
                <a:p>
                  <a:pPr defTabSz="457200" eaLnBrk="0" hangingPunct="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ID" sz="3600" b="1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5E8AA7D5-5827-DEFD-9ED2-19CDD1D38D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8" y="2880"/>
                <a:ext cx="825" cy="240"/>
                <a:chOff x="2188" y="2880"/>
                <a:chExt cx="825" cy="240"/>
              </a:xfrm>
            </p:grpSpPr>
            <p:sp>
              <p:nvSpPr>
                <p:cNvPr id="45" name="Freeform 29">
                  <a:extLst>
                    <a:ext uri="{FF2B5EF4-FFF2-40B4-BE49-F238E27FC236}">
                      <a16:creationId xmlns:a16="http://schemas.microsoft.com/office/drawing/2014/main" id="{C4A3174A-264A-D13B-AE0E-430BD5D157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8" y="2880"/>
                  <a:ext cx="825" cy="24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2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endParaRPr lang="id-ID" sz="3600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12A3F5CC-F65D-A808-547D-084AA804B3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21" y="2914"/>
                  <a:ext cx="757" cy="188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pPr defTabSz="45720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ID" sz="3600" b="1" dirty="0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a[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2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][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1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 dirty="0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</a:t>
                  </a:r>
                </a:p>
                <a:p>
                  <a:pPr defTabSz="457200" eaLnBrk="0" hangingPunct="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ID" sz="3600" b="1" dirty="0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7DF651C3-A596-7A27-94EF-C174088CE5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3" y="2448"/>
                <a:ext cx="826" cy="217"/>
                <a:chOff x="3013" y="2448"/>
                <a:chExt cx="826" cy="217"/>
              </a:xfrm>
            </p:grpSpPr>
            <p:sp>
              <p:nvSpPr>
                <p:cNvPr id="43" name="Freeform 32">
                  <a:extLst>
                    <a:ext uri="{FF2B5EF4-FFF2-40B4-BE49-F238E27FC236}">
                      <a16:creationId xmlns:a16="http://schemas.microsoft.com/office/drawing/2014/main" id="{4E0F83D2-DCC2-98A1-EAB5-AA46055732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3" y="2448"/>
                  <a:ext cx="826" cy="21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2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endParaRPr lang="id-ID" sz="3600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C6762120-AB61-5A47-BB78-10CD09F4BD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6" y="2479"/>
                  <a:ext cx="758" cy="169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pPr defTabSz="45720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a[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0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2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</a:t>
                  </a:r>
                </a:p>
                <a:p>
                  <a:pPr defTabSz="457200" eaLnBrk="0" hangingPunct="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ID" sz="3600" b="1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727CB54-A9F2-76EA-8860-AB59377FBA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3" y="2665"/>
                <a:ext cx="826" cy="215"/>
                <a:chOff x="3013" y="2665"/>
                <a:chExt cx="826" cy="215"/>
              </a:xfrm>
            </p:grpSpPr>
            <p:sp>
              <p:nvSpPr>
                <p:cNvPr id="41" name="Freeform 35">
                  <a:extLst>
                    <a:ext uri="{FF2B5EF4-FFF2-40B4-BE49-F238E27FC236}">
                      <a16:creationId xmlns:a16="http://schemas.microsoft.com/office/drawing/2014/main" id="{40F6AFF7-BA75-FEB1-2ACF-BCCDDA554E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3" y="2665"/>
                  <a:ext cx="826" cy="21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2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endParaRPr lang="id-ID" sz="3600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5CB1B829-2C63-FBE5-CA8B-F5C5805E99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6" y="2696"/>
                  <a:ext cx="758" cy="168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pPr defTabSz="45720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a[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1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2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</a:t>
                  </a:r>
                </a:p>
                <a:p>
                  <a:pPr defTabSz="457200" eaLnBrk="0" hangingPunct="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ID" sz="3600" b="1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66D7A94A-AB07-5730-0424-FE6CA5E5D0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3" y="2880"/>
                <a:ext cx="826" cy="240"/>
                <a:chOff x="3013" y="2880"/>
                <a:chExt cx="826" cy="240"/>
              </a:xfrm>
            </p:grpSpPr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792F9F72-1158-EDA4-27E8-99E1DC6996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3" y="2880"/>
                  <a:ext cx="826" cy="24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2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endParaRPr lang="id-ID" sz="3600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4406B3E7-CD18-1811-E2ED-8A39804674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6" y="2914"/>
                  <a:ext cx="758" cy="188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pPr defTabSz="45720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a[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2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2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</a:t>
                  </a:r>
                </a:p>
                <a:p>
                  <a:pPr defTabSz="457200" eaLnBrk="0" hangingPunct="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ID" sz="3600" b="1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246FADC1-2ADC-31B9-FB9C-77452B2F9F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39" y="2448"/>
                <a:ext cx="825" cy="217"/>
                <a:chOff x="3839" y="2448"/>
                <a:chExt cx="825" cy="217"/>
              </a:xfrm>
            </p:grpSpPr>
            <p:sp>
              <p:nvSpPr>
                <p:cNvPr id="37" name="Freeform 41">
                  <a:extLst>
                    <a:ext uri="{FF2B5EF4-FFF2-40B4-BE49-F238E27FC236}">
                      <a16:creationId xmlns:a16="http://schemas.microsoft.com/office/drawing/2014/main" id="{BC0891BB-E71F-BE47-9B86-161D532C5A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9" y="2448"/>
                  <a:ext cx="825" cy="21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2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endParaRPr lang="id-ID" sz="3600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88497385-2B91-FDC0-3AB0-620F745606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72" y="2479"/>
                  <a:ext cx="757" cy="169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pPr defTabSz="45720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a[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0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3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</a:t>
                  </a:r>
                </a:p>
                <a:p>
                  <a:pPr defTabSz="457200" eaLnBrk="0" hangingPunct="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ID" sz="3600" b="1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E3A4E74D-D8EB-53A7-2FB5-A81FE176EB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39" y="2665"/>
                <a:ext cx="825" cy="215"/>
                <a:chOff x="3839" y="2665"/>
                <a:chExt cx="825" cy="215"/>
              </a:xfrm>
            </p:grpSpPr>
            <p:sp>
              <p:nvSpPr>
                <p:cNvPr id="35" name="Freeform 44">
                  <a:extLst>
                    <a:ext uri="{FF2B5EF4-FFF2-40B4-BE49-F238E27FC236}">
                      <a16:creationId xmlns:a16="http://schemas.microsoft.com/office/drawing/2014/main" id="{BCD03543-64EC-48B1-EEAA-6D3AE8C21A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9" y="2665"/>
                  <a:ext cx="825" cy="21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2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endParaRPr lang="id-ID" sz="3600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F160F0BC-27EF-A8B9-9F65-E898A77E84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72" y="2696"/>
                  <a:ext cx="757" cy="168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pPr defTabSz="45720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a[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1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3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</a:t>
                  </a:r>
                </a:p>
                <a:p>
                  <a:pPr defTabSz="457200" eaLnBrk="0" hangingPunct="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ID" sz="3600" b="1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E2A61348-1802-F1E7-8721-55FED44D5E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39" y="2880"/>
                <a:ext cx="825" cy="240"/>
                <a:chOff x="3839" y="2880"/>
                <a:chExt cx="825" cy="240"/>
              </a:xfrm>
            </p:grpSpPr>
            <p:sp>
              <p:nvSpPr>
                <p:cNvPr id="33" name="Freeform 47">
                  <a:extLst>
                    <a:ext uri="{FF2B5EF4-FFF2-40B4-BE49-F238E27FC236}">
                      <a16:creationId xmlns:a16="http://schemas.microsoft.com/office/drawing/2014/main" id="{72A995C1-EFE1-4A39-DCE1-41E0964FF3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9" y="2880"/>
                  <a:ext cx="825" cy="24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2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endParaRPr lang="id-ID" sz="3600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D8991335-A4DA-04CA-9D3D-7986830FCE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72" y="2914"/>
                  <a:ext cx="757" cy="188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00" kern="1200">
                      <a:solidFill>
                        <a:schemeClr val="tx1"/>
                      </a:solidFill>
                      <a:latin typeface="Arial" pitchFamily="34" charset="0"/>
                      <a:ea typeface="+mn-ea"/>
                      <a:cs typeface="+mn-cs"/>
                    </a:defRPr>
                  </a:lvl9pPr>
                </a:lstStyle>
                <a:p>
                  <a:pPr defTabSz="45720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a[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2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][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3</a:t>
                  </a:r>
                  <a:r>
                    <a:rPr lang="en-ID" sz="3600" b="1">
                      <a:solidFill>
                        <a:srgbClr val="000000"/>
                      </a:solidFill>
                      <a:latin typeface="Times New Roman" pitchFamily="18" charset="0"/>
                      <a:ea typeface="Arial Unicode MS" pitchFamily="34" charset="-128"/>
                      <a:cs typeface="Times New Roman" pitchFamily="18" charset="0"/>
                    </a:rPr>
                    <a:t> </a:t>
                  </a:r>
                  <a:r>
                    <a:rPr lang="en-ID" sz="3600" b="1">
                      <a:solidFill>
                        <a:srgbClr val="000000"/>
                      </a:solidFill>
                      <a:latin typeface="Courier New" pitchFamily="49" charset="0"/>
                      <a:ea typeface="Arial Unicode MS" pitchFamily="34" charset="-128"/>
                      <a:cs typeface="Times New Roman" pitchFamily="18" charset="0"/>
                    </a:rPr>
                    <a:t>]</a:t>
                  </a:r>
                </a:p>
                <a:p>
                  <a:pPr defTabSz="457200" eaLnBrk="0" hangingPunct="0">
                    <a:buClr>
                      <a:srgbClr val="000000"/>
                    </a:buClr>
                    <a:buSzPct val="100000"/>
                    <a:buFont typeface="Times New Roman" pitchFamily="18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ID" sz="3600" b="1">
                    <a:solidFill>
                      <a:srgbClr val="000000"/>
                    </a:solidFill>
                    <a:latin typeface="Courier New" pitchFamily="49" charset="0"/>
                    <a:ea typeface="Arial Unicode MS" pitchFamily="34" charset="-128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97DEC76-A39F-C098-7303-F9D7E6F80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" y="3648"/>
              <a:ext cx="1392" cy="1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ID" sz="360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Times New Roman" pitchFamily="18" charset="0"/>
                </a:rPr>
                <a:t>Row subscript</a:t>
              </a:r>
            </a:p>
            <a:p>
              <a:pPr defTabSz="457200" eaLnBrk="0" hangingPunct="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ID" sz="3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Times New Roman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DDE9FCF-C7EC-9EA7-104C-25B09AC4D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" y="3456"/>
              <a:ext cx="860" cy="11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ID" sz="360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Times New Roman" pitchFamily="18" charset="0"/>
                </a:rPr>
                <a:t>Array name</a:t>
              </a:r>
            </a:p>
            <a:p>
              <a:pPr defTabSz="457200" eaLnBrk="0" hangingPunct="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ID" sz="3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Times New Roman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3A73EB-5C2A-25F9-D8A6-96C9805B5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5" y="3282"/>
              <a:ext cx="1599" cy="12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ID" sz="360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Times New Roman" pitchFamily="18" charset="0"/>
                </a:rPr>
                <a:t>Column subscript</a:t>
              </a:r>
            </a:p>
            <a:p>
              <a:pPr defTabSz="457200" eaLnBrk="0" hangingPunct="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ID" sz="3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Times New Roman" pitchFamily="18" charset="0"/>
              </a:endParaRPr>
            </a:p>
          </p:txBody>
        </p:sp>
        <p:sp>
          <p:nvSpPr>
            <p:cNvPr id="10" name="Freeform 52">
              <a:extLst>
                <a:ext uri="{FF2B5EF4-FFF2-40B4-BE49-F238E27FC236}">
                  <a16:creationId xmlns:a16="http://schemas.microsoft.com/office/drawing/2014/main" id="{ACB88526-76C1-4731-9CC1-33D2CD121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3072"/>
              <a:ext cx="48" cy="43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84"/>
                  </a:lnTo>
                </a:path>
              </a:pathLst>
            </a:custGeom>
            <a:solidFill>
              <a:srgbClr val="FFFFFF"/>
            </a:solidFill>
            <a:ln w="3240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endParaRPr lang="id-ID" sz="3600"/>
            </a:p>
          </p:txBody>
        </p:sp>
        <p:sp>
          <p:nvSpPr>
            <p:cNvPr id="11" name="Freeform 53">
              <a:extLst>
                <a:ext uri="{FF2B5EF4-FFF2-40B4-BE49-F238E27FC236}">
                  <a16:creationId xmlns:a16="http://schemas.microsoft.com/office/drawing/2014/main" id="{0E819C6D-CAD5-6356-B6C4-134BC49A872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419" y="3072"/>
              <a:ext cx="47" cy="56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77"/>
                  </a:lnTo>
                </a:path>
              </a:pathLst>
            </a:custGeom>
            <a:solidFill>
              <a:srgbClr val="FFFFFF"/>
            </a:solidFill>
            <a:ln w="3240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endParaRPr lang="id-ID" sz="3600"/>
            </a:p>
          </p:txBody>
        </p:sp>
        <p:sp>
          <p:nvSpPr>
            <p:cNvPr id="12" name="Freeform 54">
              <a:extLst>
                <a:ext uri="{FF2B5EF4-FFF2-40B4-BE49-F238E27FC236}">
                  <a16:creationId xmlns:a16="http://schemas.microsoft.com/office/drawing/2014/main" id="{D3F11C06-4563-FFB5-2977-7C014A222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3072"/>
              <a:ext cx="47" cy="2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62"/>
                  </a:lnTo>
                </a:path>
              </a:pathLst>
            </a:custGeom>
            <a:solidFill>
              <a:srgbClr val="FFFFFF"/>
            </a:solidFill>
            <a:ln w="3240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endParaRPr lang="id-ID" sz="3600"/>
            </a:p>
          </p:txBody>
        </p:sp>
        <p:sp>
          <p:nvSpPr>
            <p:cNvPr id="13" name="Freeform 55">
              <a:extLst>
                <a:ext uri="{FF2B5EF4-FFF2-40B4-BE49-F238E27FC236}">
                  <a16:creationId xmlns:a16="http://schemas.microsoft.com/office/drawing/2014/main" id="{A7E49901-DBE7-E2AD-4FC9-B6314C889B2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802" y="3312"/>
              <a:ext cx="480" cy="4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25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24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endParaRPr lang="id-ID" sz="3600"/>
            </a:p>
          </p:txBody>
        </p:sp>
      </p:grpSp>
    </p:spTree>
    <p:extLst>
      <p:ext uri="{BB962C8B-B14F-4D97-AF65-F5344CB8AC3E}">
        <p14:creationId xmlns:p14="http://schemas.microsoft.com/office/powerpoint/2010/main" val="3387441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EEB5F-B144-11F0-0A2E-E6A8681D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2043C-68B9-CD89-702B-4D8FC1063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 dimensional array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070B5-3F72-8B7E-C3EA-35DB216A40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009847" y="3492378"/>
            <a:ext cx="19883731" cy="9042522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Initialization: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using row major order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ahoma" pitchFamily="34" charset="0"/>
            </a:endParaRP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Example :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</a:rPr>
              <a:t>	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a[2][4] = {3,5,6,10,4,7,8,3};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int a[2][4] = {{3,5,6,10},</a:t>
            </a: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{4,7,8,3}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lang="en-US" sz="3600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b[2][4] = {{3},{4,7,8,3}};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lang="en-US" sz="3600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c[3][4] = {{3,5,6,10},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 {4,7,8,3},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 {1,2,3,4}};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E5780E-9C1E-B8EE-5B1B-F61751B353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initialization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3334ABF4-A495-EFA2-41F6-FF52A0C3C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0" y="4266361"/>
            <a:ext cx="9232660" cy="163449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ED6E6B0A-6681-5D9A-D53B-55F87EC18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4921" y="6394389"/>
            <a:ext cx="9232655" cy="1634489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1F49FD8-BD9A-C84F-964A-461253F22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4921" y="8812723"/>
            <a:ext cx="9531779" cy="223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0254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BA0DA-82F4-F8A6-9856-AEF5D1E3A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0F63-1D50-D5EA-427B-C8EA27CD5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 dimensional array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96772C-15FB-4C52-FCC1-D9B61B3E4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pic>
        <p:nvPicPr>
          <p:cNvPr id="8" name="Content Placeholder 7" descr="A white background with numbers and symbols&#10;&#10;AI-generated content may be incorrect.">
            <a:extLst>
              <a:ext uri="{FF2B5EF4-FFF2-40B4-BE49-F238E27FC236}">
                <a16:creationId xmlns:a16="http://schemas.microsoft.com/office/drawing/2014/main" id="{171698F3-F292-9CD0-EE87-415B34B31832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838" y="3545243"/>
            <a:ext cx="13590562" cy="5729819"/>
          </a:xfr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AFE7B56-AC3F-FED2-ABE3-BBF14D49066F}"/>
              </a:ext>
            </a:extLst>
          </p:cNvPr>
          <p:cNvSpPr txBox="1">
            <a:spLocks/>
          </p:cNvSpPr>
          <p:nvPr/>
        </p:nvSpPr>
        <p:spPr>
          <a:xfrm>
            <a:off x="18867056" y="7778985"/>
            <a:ext cx="3561820" cy="875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r">
              <a:buFontTx/>
              <a:buNone/>
            </a:pPr>
            <a:r>
              <a:rPr lang="en-US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</p:txBody>
      </p:sp>
      <p:pic>
        <p:nvPicPr>
          <p:cNvPr id="11" name="Picture 10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61DFEE89-78F9-A819-1F00-AD8A8BF52D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825"/>
          <a:stretch>
            <a:fillRect/>
          </a:stretch>
        </p:blipFill>
        <p:spPr>
          <a:xfrm>
            <a:off x="15312261" y="8654853"/>
            <a:ext cx="7109590" cy="2468913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1381644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EEA2D-52F8-7AB7-CDE9-AC46F6BE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27675-3A47-E8A4-282F-BD5E820B6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dimensional array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0B7BC-02CC-6187-38CF-F3F17FA42D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492378"/>
            <a:ext cx="19883731" cy="9274053"/>
          </a:xfrm>
        </p:spPr>
        <p:txBody>
          <a:bodyPr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Syntax: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</a:rPr>
              <a:t>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name_array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[row][col][depth];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ahoma" pitchFamily="34" charset="0"/>
            </a:endParaRP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Example :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</a:rPr>
              <a:t>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x[3][2][4] = {{{1,2,3,4}, {5,6,7,8}},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          {{11,12,13,14}, {15,16,17,18}},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          {{21,22,23,24}, {25,26,27,28}}};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int x[4][3][5] = {{{1, 2, 3}, {0, 4, 3, 4}, {1, 2}},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		   		{{9, 7, 5}, {5, 7, 2}, {9}},        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		   		{{3, 3, 5}, {2, 8, 9, 9}, {1, 2, 1}},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		   		{{0}, {1}, {0, 1, 9}}};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id-ID" sz="4000" dirty="0" err="1">
                <a:latin typeface="Courier New" pitchFamily="49" charset="0"/>
              </a:rPr>
              <a:t>printf</a:t>
            </a:r>
            <a:r>
              <a:rPr lang="id-ID" sz="4000" dirty="0">
                <a:latin typeface="Courier New" pitchFamily="49" charset="0"/>
              </a:rPr>
              <a:t>(“%d”, x[2][1][3]);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029994-B4C9-C8DE-610A-B85014A4FF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206522929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5BC37-754E-6647-5A85-1CF5CBAC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4F51-AC9F-0515-6EF8-732D9270E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Array of Pointer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CBCC1-CD9C-03B4-B171-444BB43208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492378"/>
            <a:ext cx="19883731" cy="9385422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Array filled with pointers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Syntax: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</a:rPr>
              <a:t>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 *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array_name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[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value_dim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];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ahoma" pitchFamily="34" charset="0"/>
            </a:endParaRP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Example :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</a:rPr>
              <a:t>	</a:t>
            </a: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</a:t>
            </a:r>
            <a:r>
              <a:rPr lang="en-US" sz="40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</a:t>
            </a: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int *</a:t>
            </a:r>
            <a:r>
              <a:rPr lang="en-US" sz="40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</a:t>
            </a: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[4]; 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int x=1, y=2, z=3, w=5;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sz="40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</a:t>
            </a: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[0]=&amp;x;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sz="40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</a:t>
            </a: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[1]=&amp;y; 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sz="40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</a:t>
            </a: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[2]=&amp;z;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sz="40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</a:t>
            </a: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[3]=&amp;w;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for(</a:t>
            </a:r>
            <a:r>
              <a:rPr lang="en-US" sz="40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</a:t>
            </a: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=0;i&lt;4;i++) printf("%d ",*</a:t>
            </a:r>
            <a:r>
              <a:rPr lang="en-US" sz="40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ptr</a:t>
            </a: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  <a:r>
              <a:rPr lang="en-US" sz="40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</a:t>
            </a: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]);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D6B5FC-00B4-0CF0-2353-3661A27991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definition</a:t>
            </a:r>
          </a:p>
        </p:txBody>
      </p:sp>
      <p:pic>
        <p:nvPicPr>
          <p:cNvPr id="5" name="Picture 4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FB5B9C7E-C860-8E3A-4DA6-7B0DA86B7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7924" y="9010606"/>
            <a:ext cx="1809775" cy="3136941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4F94A19D-30BC-32FA-11CE-A6A095482C5C}"/>
              </a:ext>
            </a:extLst>
          </p:cNvPr>
          <p:cNvSpPr txBox="1">
            <a:spLocks/>
          </p:cNvSpPr>
          <p:nvPr/>
        </p:nvSpPr>
        <p:spPr>
          <a:xfrm>
            <a:off x="17887924" y="8216919"/>
            <a:ext cx="3561820" cy="875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buFontTx/>
              <a:buNone/>
            </a:pP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15562240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D29E1-D01A-2487-1773-EE83D3D52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883E-0E2B-7213-195A-E11BF306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Array of character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26586-A67A-38A9-0739-2AF5B41F4B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492378"/>
            <a:ext cx="19883731" cy="9385422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Array filled with characters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Syntax: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</a:rPr>
              <a:t>	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char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array_name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value_dim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];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ahoma" pitchFamily="34" charset="0"/>
            </a:endParaRP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ahoma" pitchFamily="34" charset="0"/>
              </a:rPr>
              <a:t>Example :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+mj-lt"/>
                <a:ea typeface="+mn-ea"/>
                <a:cs typeface="Tahoma" pitchFamily="34" charset="0"/>
              </a:rPr>
              <a:t>	</a:t>
            </a: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char name[40];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char ss[20]={'B','I','N','U','S'};		//20 elements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40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char ss[ ]= {'B','I','N','U','S'};		// 5 elements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994F3A-D558-61F2-834B-E45894B0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074427970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D80CD-BBE9-8D06-A96A-0A282C39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E5779-5986-3886-4803-8A20988E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3E025-783F-139C-EF17-F87812092C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492378"/>
            <a:ext cx="19883731" cy="7848889"/>
          </a:xfrm>
        </p:spPr>
        <p:txBody>
          <a:bodyPr lIns="50800" tIns="50800" rIns="50800" bIns="50800" anchor="t">
            <a:normAutofit/>
          </a:bodyPr>
          <a:lstStyle/>
          <a:p>
            <a:pPr defTabSz="914400">
              <a:spcBef>
                <a:spcPct val="20000"/>
              </a:spcBef>
              <a:defRPr/>
            </a:pPr>
            <a:r>
              <a:rPr lang="en-US" sz="40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Characters are the fundamental building blocks of source programs.</a:t>
            </a:r>
            <a:endParaRPr lang="en-US" sz="4000" kern="1200">
              <a:solidFill>
                <a:prstClr val="black"/>
              </a:solidFill>
              <a:latin typeface="+mj-lt"/>
              <a:ea typeface="Open Sans"/>
              <a:cs typeface="Open Sans"/>
            </a:endParaRPr>
          </a:p>
          <a:p>
            <a:pPr defTabSz="914400">
              <a:spcBef>
                <a:spcPct val="20000"/>
              </a:spcBef>
              <a:defRPr/>
            </a:pPr>
            <a:r>
              <a:rPr lang="en-US" sz="40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We have learned about character previously</a:t>
            </a:r>
            <a:endParaRPr lang="en-US" sz="4000" kern="1200">
              <a:solidFill>
                <a:prstClr val="black"/>
              </a:solidFill>
              <a:latin typeface="+mj-lt"/>
              <a:ea typeface="Open Sans"/>
              <a:cs typeface="Open Sans"/>
            </a:endParaRPr>
          </a:p>
          <a:p>
            <a:pPr defTabSz="914400">
              <a:spcBef>
                <a:spcPct val="20000"/>
              </a:spcBef>
              <a:defRPr/>
            </a:pPr>
            <a:r>
              <a:rPr lang="en-US" sz="40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A </a:t>
            </a:r>
            <a:r>
              <a:rPr lang="en-US" sz="4000" b="1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string</a:t>
            </a:r>
            <a:r>
              <a:rPr lang="en-US" sz="40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 is a series of characters treated </a:t>
            </a:r>
            <a:r>
              <a:rPr kumimoji="0" lang="en-US" sz="4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as a </a:t>
            </a:r>
            <a:r>
              <a:rPr lang="en-US" sz="40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single unit.</a:t>
            </a:r>
            <a:endParaRPr lang="en-US" sz="4000" kern="1200">
              <a:solidFill>
                <a:prstClr val="black"/>
              </a:solidFill>
              <a:latin typeface="+mj-lt"/>
              <a:ea typeface="Open Sans"/>
              <a:cs typeface="Open Sans"/>
            </a:endParaRPr>
          </a:p>
          <a:p>
            <a:pPr defTabSz="914400">
              <a:spcBef>
                <a:spcPct val="20000"/>
              </a:spcBef>
              <a:defRPr/>
            </a:pPr>
            <a:r>
              <a:rPr lang="en-US" sz="40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String may include letters, digits and various special characters such as +, -, *, / and $</a:t>
            </a:r>
            <a:endParaRPr lang="en-US" sz="4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Open Sans"/>
              <a:cs typeface="Open Sans"/>
            </a:endParaRPr>
          </a:p>
          <a:p>
            <a:pPr defTabSz="914400">
              <a:spcBef>
                <a:spcPct val="20000"/>
              </a:spcBef>
              <a:defRPr/>
            </a:pPr>
            <a:r>
              <a:rPr kumimoji="0" lang="en-US" sz="4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Tahoma"/>
                <a:cs typeface="Tahoma"/>
              </a:rPr>
              <a:t>String is an </a:t>
            </a:r>
            <a:r>
              <a:rPr kumimoji="0" lang="en-US" sz="4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Tahoma"/>
                <a:cs typeface="Tahoma"/>
              </a:rPr>
              <a:t>array of character</a:t>
            </a:r>
            <a:r>
              <a:rPr kumimoji="0" lang="en-US" sz="4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Tahoma"/>
                <a:cs typeface="Tahoma"/>
              </a:rPr>
              <a:t> that ended with </a:t>
            </a:r>
            <a:r>
              <a:rPr kumimoji="0" lang="en-US" sz="4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Tahoma"/>
                <a:cs typeface="Tahoma"/>
              </a:rPr>
              <a:t>null character</a:t>
            </a:r>
            <a:r>
              <a:rPr kumimoji="0" lang="en-US" sz="4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Tahoma"/>
                <a:cs typeface="Tahoma"/>
              </a:rPr>
              <a:t> ( ‘\0’ or in ASCII = 0</a:t>
            </a:r>
            <a:r>
              <a:rPr lang="en-US" sz="4000" kern="1200">
                <a:solidFill>
                  <a:prstClr val="black"/>
                </a:solidFill>
                <a:latin typeface="Open Sans"/>
                <a:ea typeface="Tahoma"/>
                <a:cs typeface="Tahoma"/>
              </a:rPr>
              <a:t>).</a:t>
            </a:r>
            <a:r>
              <a:rPr lang="en-US" sz="4000" kern="1200">
                <a:solidFill>
                  <a:prstClr val="black"/>
                </a:solidFill>
                <a:latin typeface="Open Sans"/>
                <a:ea typeface="Open Sans"/>
                <a:cs typeface="Open Sans"/>
              </a:rPr>
              <a:t> </a:t>
            </a:r>
            <a:endParaRPr lang="en-US">
              <a:solidFill>
                <a:prstClr val="black"/>
              </a:solidFill>
            </a:endParaRPr>
          </a:p>
          <a:p>
            <a:pPr defTabSz="914400">
              <a:spcBef>
                <a:spcPct val="20000"/>
              </a:spcBef>
              <a:defRPr/>
            </a:pPr>
            <a:endParaRPr lang="en-US" sz="4000" kern="1200">
              <a:solidFill>
                <a:prstClr val="black"/>
              </a:solidFill>
              <a:latin typeface="Open Sans"/>
              <a:ea typeface="Tahoma"/>
              <a:cs typeface="Tahoma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C27AC8-7501-E159-99E2-517B65A2B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173778502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27B07-B337-615B-6E6E-9D3CBD90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2D393-19DE-97CE-0E02-6FF861CE0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E0612-C77A-2831-4162-FA075AC5840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492378"/>
            <a:ext cx="19883731" cy="7848889"/>
          </a:xfrm>
        </p:spPr>
        <p:txBody>
          <a:bodyPr lIns="50800" tIns="50800" rIns="50800" bIns="50800" anchor="t">
            <a:normAutofit/>
          </a:bodyPr>
          <a:lstStyle/>
          <a:p>
            <a:pPr marL="571500" indent="-571500" defTabSz="914400">
              <a:spcBef>
                <a:spcPts val="20"/>
              </a:spcBef>
              <a:buFont typeface="Arial"/>
              <a:buChar char="•"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String constant </a:t>
            </a:r>
            <a:r>
              <a:rPr kumimoji="0" lang="en-US" sz="3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or 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string literal </a:t>
            </a:r>
            <a:r>
              <a:rPr kumimoji="0" lang="en-US" sz="3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is some characters written between double </a:t>
            </a:r>
            <a:r>
              <a:rPr lang="en-US" sz="36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quote</a:t>
            </a:r>
            <a:endParaRPr lang="en-US">
              <a:ea typeface="+mn-ea"/>
            </a:endParaRPr>
          </a:p>
          <a:p>
            <a:pPr marL="571500" indent="-571500" defTabSz="914400">
              <a:spcBef>
                <a:spcPts val="20"/>
              </a:spcBef>
              <a:buFont typeface="Arial"/>
              <a:buChar char="•"/>
              <a:defRPr/>
            </a:pPr>
            <a:r>
              <a:rPr lang="en-US" sz="36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Example</a:t>
            </a:r>
            <a:r>
              <a:rPr kumimoji="0" lang="en-US" sz="3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: </a:t>
            </a:r>
            <a:r>
              <a:rPr lang="en-US" sz="36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"</a:t>
            </a:r>
            <a:r>
              <a:rPr kumimoji="0" lang="en-US" sz="3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Welcome</a:t>
            </a:r>
            <a:r>
              <a:rPr lang="en-US" sz="36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"</a:t>
            </a:r>
            <a:endParaRPr lang="en-US" sz="3600" kern="1200">
              <a:solidFill>
                <a:prstClr val="black"/>
              </a:solidFill>
              <a:latin typeface="+mj-lt"/>
              <a:ea typeface="Open Sans"/>
              <a:cs typeface="Open Sans"/>
            </a:endParaRPr>
          </a:p>
          <a:p>
            <a:pPr marL="623570" lvl="1" indent="0" defTabSz="914400">
              <a:spcBef>
                <a:spcPts val="20"/>
              </a:spcBef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+mj-lt"/>
                <a:ea typeface="Open Sans"/>
                <a:cs typeface="Open Sans"/>
              </a:rPr>
              <a:t>Above string will have character of '</a:t>
            </a:r>
            <a:r>
              <a:rPr lang="en-US" sz="3600" kern="1200" err="1">
                <a:solidFill>
                  <a:prstClr val="black"/>
                </a:solidFill>
                <a:latin typeface="+mj-lt"/>
                <a:ea typeface="Open Sans"/>
                <a:cs typeface="Open Sans"/>
              </a:rPr>
              <a:t>W','e','l','c','o','m','e</a:t>
            </a:r>
            <a:r>
              <a:rPr lang="en-US" sz="3600" kern="1200">
                <a:solidFill>
                  <a:prstClr val="black"/>
                </a:solidFill>
                <a:latin typeface="+mj-lt"/>
                <a:ea typeface="Open Sans"/>
                <a:cs typeface="Open Sans"/>
              </a:rPr>
              <a:t>', and '\0'. </a:t>
            </a:r>
            <a:endParaRPr lang="en-US">
              <a:solidFill>
                <a:prstClr val="black"/>
              </a:solidFill>
            </a:endParaRPr>
          </a:p>
          <a:p>
            <a:pPr marL="0" indent="0" defTabSz="914400">
              <a:spcBef>
                <a:spcPts val="20"/>
              </a:spcBef>
              <a:buNone/>
              <a:defRPr/>
            </a:pPr>
            <a:endParaRPr lang="en-US" sz="36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Open Sans"/>
              <a:cs typeface="Open Sans"/>
            </a:endParaRPr>
          </a:p>
          <a:p>
            <a:pPr marL="571500" indent="-571500" defTabSz="914400">
              <a:spcBef>
                <a:spcPts val="20"/>
              </a:spcBef>
              <a:buFont typeface="Arial"/>
              <a:buChar char="•"/>
              <a:defRPr/>
            </a:pPr>
            <a:r>
              <a:rPr kumimoji="0" lang="en-US" sz="3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String constant type is 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pointer constant</a:t>
            </a:r>
            <a:r>
              <a:rPr kumimoji="0" lang="en-US" sz="3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, thus can be assigned to an array of character</a:t>
            </a:r>
            <a:r>
              <a:rPr lang="en-US" sz="36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.</a:t>
            </a:r>
            <a:endParaRPr lang="en-US" sz="3600" kern="1200">
              <a:solidFill>
                <a:prstClr val="black"/>
              </a:solidFill>
              <a:latin typeface="+mj-lt"/>
              <a:ea typeface="Open Sans"/>
              <a:cs typeface="Open Sans"/>
            </a:endParaRPr>
          </a:p>
          <a:p>
            <a:pPr marL="571500" indent="-571500" defTabSz="914400">
              <a:spcBef>
                <a:spcPts val="20"/>
              </a:spcBef>
              <a:buFont typeface="Arial"/>
              <a:buChar char="•"/>
              <a:defRPr/>
            </a:pPr>
            <a:r>
              <a:rPr kumimoji="0" lang="en-US" sz="3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Example :</a:t>
            </a:r>
            <a:endParaRPr lang="en-US" sz="36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Open Sans"/>
              <a:cs typeface="Open Sans"/>
            </a:endParaRPr>
          </a:p>
          <a:p>
            <a:pPr marL="623570" lvl="1" indent="0" defTabSz="914400">
              <a:spcBef>
                <a:spcPts val="20"/>
              </a:spcBef>
              <a:buNone/>
              <a:defRPr/>
            </a:pPr>
            <a:r>
              <a:rPr kumimoji="0" lang="en-US" sz="3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Open Sans"/>
                <a:cs typeface="Open Sans"/>
              </a:rPr>
              <a:t>char name[40] = </a:t>
            </a:r>
            <a:r>
              <a:rPr lang="en-US" sz="3600" kern="1200">
                <a:solidFill>
                  <a:prstClr val="black"/>
                </a:solidFill>
                <a:latin typeface="Courier New"/>
                <a:ea typeface="Open Sans"/>
                <a:cs typeface="Open Sans"/>
              </a:rPr>
              <a:t>"</a:t>
            </a:r>
            <a:r>
              <a:rPr kumimoji="0" lang="en-US" sz="3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Open Sans"/>
                <a:cs typeface="Open Sans"/>
              </a:rPr>
              <a:t>Amir</a:t>
            </a:r>
            <a:r>
              <a:rPr lang="en-US" sz="3600" kern="1200">
                <a:solidFill>
                  <a:prstClr val="black"/>
                </a:solidFill>
                <a:latin typeface="Courier New"/>
                <a:ea typeface="Open Sans"/>
                <a:cs typeface="Open Sans"/>
              </a:rPr>
              <a:t>"; //ok</a:t>
            </a:r>
          </a:p>
          <a:p>
            <a:pPr marL="623570" lvl="1" indent="0" defTabSz="914400">
              <a:spcBef>
                <a:spcPts val="20"/>
              </a:spcBef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/>
                <a:ea typeface="Open Sans"/>
                <a:cs typeface="Open Sans"/>
              </a:rPr>
              <a:t>name = "Amir";       // error name is a constant pointer</a:t>
            </a:r>
            <a:endParaRPr lang="en-US">
              <a:solidFill>
                <a:prstClr val="black"/>
              </a:solidFill>
              <a:latin typeface="Courier New"/>
              <a:ea typeface="Open Sans"/>
            </a:endParaRPr>
          </a:p>
          <a:p>
            <a:pPr marL="623570" lvl="1" indent="0" defTabSz="914400">
              <a:spcBef>
                <a:spcPts val="20"/>
              </a:spcBef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/>
                <a:ea typeface="Open Sans"/>
                <a:cs typeface="Open Sans"/>
              </a:rPr>
              <a:t>Name[40]= "Amir";     //error</a:t>
            </a:r>
            <a:endParaRPr lang="en-US">
              <a:solidFill>
                <a:prstClr val="black"/>
              </a:solidFill>
              <a:latin typeface="Courier New"/>
              <a:ea typeface="+mn-ea"/>
            </a:endParaRPr>
          </a:p>
          <a:p>
            <a:pPr marL="0" indent="0" defTabSz="914400">
              <a:spcBef>
                <a:spcPct val="20000"/>
              </a:spcBef>
              <a:buSzTx/>
              <a:buNone/>
              <a:defRPr/>
            </a:pPr>
            <a:endParaRPr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35446-3A4C-AC14-AEF4-50E1549C4E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612035401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E6BA3-C07C-027E-1914-55952F7B0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9BD7-26F7-20CC-D97A-896BA177E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3FB38-0694-8301-D7F3-75D1995CA76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492378"/>
            <a:ext cx="19883731" cy="7848889"/>
          </a:xfrm>
        </p:spPr>
        <p:txBody>
          <a:bodyPr lIns="50800" tIns="50800" rIns="50800" bIns="50800" anchor="t">
            <a:normAutofit/>
          </a:bodyPr>
          <a:lstStyle/>
          <a:p>
            <a:pPr marL="571500" indent="-571500" defTabSz="914400">
              <a:spcBef>
                <a:spcPts val="20"/>
              </a:spcBef>
              <a:buFont typeface="Arial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A Constant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String </a:t>
            </a:r>
            <a:r>
              <a:rPr lang="en-US" sz="3600" kern="1200" dirty="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can be linked at compile-time:</a:t>
            </a:r>
          </a:p>
          <a:p>
            <a:pPr marL="571500" indent="-571500" defTabSz="914400">
              <a:spcBef>
                <a:spcPts val="20"/>
              </a:spcBef>
              <a:buFont typeface="Arial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+mj-lt"/>
                <a:ea typeface="Open Sans"/>
                <a:cs typeface="Open Sans"/>
              </a:rPr>
              <a:t>Example:</a:t>
            </a:r>
          </a:p>
          <a:p>
            <a:pPr marL="623570" lvl="1" indent="0" defTabSz="914400">
              <a:spcBef>
                <a:spcPts val="20"/>
              </a:spcBef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+mj-lt"/>
                <a:ea typeface="Open Sans"/>
                <a:cs typeface="Open Sans"/>
              </a:rPr>
              <a:t>"Hello, world"</a:t>
            </a:r>
          </a:p>
          <a:p>
            <a:pPr marL="571500" indent="-571500" defTabSz="914400">
              <a:spcBef>
                <a:spcPts val="20"/>
              </a:spcBef>
              <a:buFont typeface="Arial"/>
              <a:buChar char="•"/>
              <a:defRPr/>
            </a:pPr>
            <a:endParaRPr lang="en-US" sz="3600" kern="12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571500" indent="-571500" defTabSz="914400">
              <a:spcBef>
                <a:spcPts val="20"/>
              </a:spcBef>
              <a:buFont typeface="Arial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Example</a:t>
            </a:r>
            <a:r>
              <a:rPr lang="en-US" sz="3600" kern="1200" dirty="0">
                <a:solidFill>
                  <a:prstClr val="black"/>
                </a:solidFill>
                <a:latin typeface="+mj-lt"/>
                <a:ea typeface="Open Sans"/>
                <a:cs typeface="Open Sans"/>
              </a:rPr>
              <a:t> string initialization:</a:t>
            </a:r>
          </a:p>
          <a:p>
            <a:pPr marL="623570" lvl="1" indent="0" defTabSz="914400">
              <a:spcBef>
                <a:spcPts val="20"/>
              </a:spcBef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Courier New"/>
                <a:ea typeface="Open Sans"/>
                <a:cs typeface="Open Sans"/>
              </a:rPr>
              <a:t>char s[ ] = "BiNus"; </a:t>
            </a:r>
          </a:p>
          <a:p>
            <a:pPr marL="571500" indent="-571500" defTabSz="914400">
              <a:spcBef>
                <a:spcPts val="20"/>
              </a:spcBef>
              <a:buFont typeface="Arial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Similar to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:</a:t>
            </a:r>
            <a:endParaRPr lang="en-US" sz="3600" kern="1200" dirty="0">
              <a:solidFill>
                <a:prstClr val="black"/>
              </a:solidFill>
              <a:latin typeface="+mj-lt"/>
              <a:ea typeface="Open Sans"/>
              <a:cs typeface="Open Sans"/>
            </a:endParaRPr>
          </a:p>
          <a:p>
            <a:pPr marL="623570" lvl="1" indent="0" defTabSz="914400">
              <a:spcBef>
                <a:spcPts val="20"/>
              </a:spcBef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Courier New"/>
                <a:ea typeface="+mn-ea"/>
                <a:cs typeface="Open Sans"/>
              </a:rPr>
              <a:t>char s[ ] = {'B','</a:t>
            </a:r>
            <a:r>
              <a:rPr lang="en-US" sz="3600" kern="1200" dirty="0" err="1">
                <a:solidFill>
                  <a:prstClr val="black"/>
                </a:solidFill>
                <a:latin typeface="Courier New"/>
                <a:ea typeface="+mn-ea"/>
                <a:cs typeface="Open Sans"/>
              </a:rPr>
              <a:t>i</a:t>
            </a:r>
            <a:r>
              <a:rPr lang="en-US" sz="3600" kern="1200" dirty="0">
                <a:solidFill>
                  <a:prstClr val="black"/>
                </a:solidFill>
                <a:latin typeface="Courier New"/>
                <a:ea typeface="+mn-ea"/>
                <a:cs typeface="Open Sans"/>
              </a:rPr>
              <a:t>','</a:t>
            </a:r>
            <a:r>
              <a:rPr lang="en-US" sz="3600" kern="1200" dirty="0" err="1">
                <a:solidFill>
                  <a:prstClr val="black"/>
                </a:solidFill>
                <a:latin typeface="Courier New"/>
                <a:ea typeface="+mn-ea"/>
                <a:cs typeface="Open Sans"/>
              </a:rPr>
              <a:t>N','u','s</a:t>
            </a:r>
            <a:r>
              <a:rPr lang="en-US" sz="3600" kern="1200" dirty="0">
                <a:solidFill>
                  <a:prstClr val="black"/>
                </a:solidFill>
                <a:latin typeface="Courier New"/>
                <a:ea typeface="+mn-ea"/>
                <a:cs typeface="Open Sans"/>
              </a:rPr>
              <a:t>','\</a:t>
            </a:r>
            <a:r>
              <a:rPr lang="en-US" sz="3600" kern="1200" dirty="0">
                <a:solidFill>
                  <a:prstClr val="black"/>
                </a:solidFill>
                <a:latin typeface="Courier New"/>
                <a:ea typeface="Open Sans"/>
                <a:cs typeface="Open Sans"/>
              </a:rPr>
              <a:t>0</a:t>
            </a:r>
            <a:r>
              <a:rPr lang="en-US" sz="3600" kern="1200" dirty="0">
                <a:solidFill>
                  <a:prstClr val="black"/>
                </a:solidFill>
                <a:latin typeface="Courier New"/>
                <a:ea typeface="+mn-ea"/>
                <a:cs typeface="Open Sans"/>
              </a:rPr>
              <a:t>'}; </a:t>
            </a:r>
            <a:endParaRPr lang="en-US" sz="3600" kern="1200" dirty="0">
              <a:solidFill>
                <a:prstClr val="black"/>
              </a:solidFill>
              <a:latin typeface="Courier New"/>
              <a:ea typeface="Open Sans"/>
              <a:cs typeface="Open Sans"/>
            </a:endParaRPr>
          </a:p>
          <a:p>
            <a:pPr marL="571500" indent="-571500" defTabSz="914400">
              <a:spcBef>
                <a:spcPts val="20"/>
              </a:spcBef>
              <a:buFont typeface="Arial"/>
              <a:buChar char="•"/>
              <a:defRPr/>
            </a:pPr>
            <a:endParaRPr lang="en-US" sz="3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Open Sans"/>
              <a:cs typeface="Open Sans"/>
            </a:endParaRPr>
          </a:p>
          <a:p>
            <a:pPr marL="571500" indent="-571500" defTabSz="914400">
              <a:spcBef>
                <a:spcPts val="20"/>
              </a:spcBef>
              <a:buFont typeface="Arial"/>
              <a:buChar char="•"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String </a:t>
            </a:r>
            <a:r>
              <a:rPr lang="en-US" sz="3600" kern="1200" dirty="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as a data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type </a:t>
            </a:r>
            <a:r>
              <a:rPr lang="en-US" sz="3600" kern="1200" dirty="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does not known in C</a:t>
            </a:r>
          </a:p>
          <a:p>
            <a:pPr marL="623570" lvl="1" indent="0" defTabSz="914400">
              <a:spcBef>
                <a:spcPts val="20"/>
              </a:spcBef>
              <a:buNone/>
              <a:defRPr/>
            </a:pPr>
            <a:endParaRPr lang="en-US" sz="3600" kern="1200" dirty="0">
              <a:solidFill>
                <a:prstClr val="black"/>
              </a:solidFill>
              <a:latin typeface="Courier New"/>
              <a:ea typeface="Open Sans"/>
              <a:cs typeface="Open Sans"/>
            </a:endParaRPr>
          </a:p>
          <a:p>
            <a:pPr marL="0" indent="0" defTabSz="914400">
              <a:spcBef>
                <a:spcPct val="20000"/>
              </a:spcBef>
              <a:buSzTx/>
              <a:buNone/>
              <a:defRPr/>
            </a:pPr>
            <a:endParaRPr lang="en-US" sz="3600" kern="1200" dirty="0">
              <a:solidFill>
                <a:prstClr val="black"/>
              </a:solidFill>
              <a:latin typeface="Courier New" panose="02070309020205020404" pitchFamily="49" charset="0"/>
              <a:ea typeface="Open Sans"/>
              <a:cs typeface="Courier New" panose="02070309020205020404" pitchFamily="49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3C2AC3-4309-1AE1-F69F-7E8A2D297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11218957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66122-02C6-464A-3120-7FEA69F4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FE04-4142-0488-B1E9-737838364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Char vs string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AC9DB-226F-2597-364E-BAB0531AE0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492378"/>
            <a:ext cx="19883731" cy="7848889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Character in c written between single quote. Each uses one byte of computer memory.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Example of Character: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US" sz="4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char </a:t>
            </a:r>
            <a:r>
              <a:rPr kumimoji="0" lang="en-US" sz="400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</a:t>
            </a:r>
            <a:r>
              <a:rPr kumimoji="0" lang="en-US" sz="4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='A';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char </a:t>
            </a:r>
            <a:r>
              <a:rPr kumimoji="0" lang="en-US" sz="400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</a:t>
            </a:r>
            <a:r>
              <a:rPr kumimoji="0" lang="en-US" sz="4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=65;    //Ascii</a:t>
            </a:r>
          </a:p>
          <a:p>
            <a:pPr marL="623888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char </a:t>
            </a:r>
            <a:r>
              <a:rPr kumimoji="0" lang="en-US" sz="400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</a:t>
            </a:r>
            <a:r>
              <a:rPr kumimoji="0" lang="en-US" sz="4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=0x41; 	//Ascii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endParaRPr lang="en-US" sz="4000" kern="1200">
              <a:solidFill>
                <a:prstClr val="black"/>
              </a:solidFill>
              <a:latin typeface="+mj-lt"/>
              <a:ea typeface="+mn-ea"/>
              <a:cs typeface="Courier New" panose="02070309020205020404" pitchFamily="49" charset="0"/>
            </a:endParaRP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lang="en-US" sz="4000" kern="1200">
                <a:solidFill>
                  <a:prstClr val="black"/>
                </a:solidFill>
                <a:latin typeface="+mj-lt"/>
                <a:ea typeface="+mn-ea"/>
                <a:cs typeface="Courier New" panose="02070309020205020404" pitchFamily="49" charset="0"/>
              </a:rPr>
              <a:t>String written in between double quote.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lang="en-US" sz="4000" b="1" kern="1200">
                <a:solidFill>
                  <a:prstClr val="black"/>
                </a:solidFill>
                <a:latin typeface="+mj-lt"/>
                <a:ea typeface="+mn-ea"/>
                <a:cs typeface="Courier New" panose="02070309020205020404" pitchFamily="49" charset="0"/>
              </a:rPr>
              <a:t>Example of String:</a:t>
            </a: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Courier New" panose="02070309020205020404" pitchFamily="49" charset="0"/>
            </a:endParaRPr>
          </a:p>
          <a:p>
            <a:pPr marL="609600" lvl="1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4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char </a:t>
            </a:r>
            <a:r>
              <a:rPr kumimoji="0" lang="en-US" sz="400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</a:t>
            </a:r>
            <a:r>
              <a:rPr kumimoji="0" lang="en-US" sz="4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[]="A";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43B85D-BB48-127F-E80C-5C8A202E87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/>
              <a:t>definition</a:t>
            </a: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C15E84AC-78B9-6D79-332E-FB3A1B190982}"/>
              </a:ext>
            </a:extLst>
          </p:cNvPr>
          <p:cNvSpPr>
            <a:spLocks/>
          </p:cNvSpPr>
          <p:nvPr/>
        </p:nvSpPr>
        <p:spPr bwMode="auto">
          <a:xfrm>
            <a:off x="11527904" y="5334000"/>
            <a:ext cx="664096" cy="2153267"/>
          </a:xfrm>
          <a:prstGeom prst="rightBrace">
            <a:avLst>
              <a:gd name="adj1" fmla="val 116667"/>
              <a:gd name="adj2" fmla="val 50000"/>
            </a:avLst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</a:pPr>
            <a:endParaRPr lang="id-ID" sz="1200" kern="120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81ADA5AC-C5EF-16AE-D540-395662B10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4704" y="6055599"/>
            <a:ext cx="2245246" cy="710067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marL="0" marR="0" lvl="0" indent="0" defTabSz="457200" eaLnBrk="1" fontAlgn="base" latinLnBrk="0" hangingPunct="1">
              <a:lnSpc>
                <a:spcPct val="100000"/>
              </a:lnSpc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id-ID" sz="4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Similar</a:t>
            </a: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Tahoma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4A8F84-0557-393F-2C9B-3FDFCC905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0" y="7871145"/>
            <a:ext cx="9196838" cy="256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81749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ADF77-5568-E6D9-C745-EAF6B2D00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527BF-96AB-B9DF-34FF-C35A037FC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character MANIPULATION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A9F28-BBA4-01FA-9CEE-F344D2D7CD3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492378"/>
            <a:ext cx="19883731" cy="7848889"/>
          </a:xfrm>
        </p:spPr>
        <p:txBody>
          <a:bodyPr lIns="50800" tIns="50800" rIns="50800" bIns="50800" anchor="t">
            <a:normAutofit/>
          </a:bodyPr>
          <a:lstStyle/>
          <a:p>
            <a:pPr marL="571500" indent="-571500" defTabSz="914400">
              <a:spcBef>
                <a:spcPts val="20"/>
              </a:spcBef>
              <a:buFont typeface="Arial"/>
              <a:buChar char="•"/>
              <a:defRPr/>
            </a:pPr>
            <a:r>
              <a:rPr lang="en-US" sz="36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The character-handling library (</a:t>
            </a:r>
            <a:r>
              <a:rPr lang="en-US" sz="3600" kern="1200">
                <a:solidFill>
                  <a:prstClr val="black"/>
                </a:solidFill>
                <a:latin typeface="Courier New"/>
                <a:ea typeface="+mn-ea"/>
                <a:cs typeface="Open Sans"/>
              </a:rPr>
              <a:t>&lt;</a:t>
            </a:r>
            <a:r>
              <a:rPr kumimoji="0" lang="en-US" sz="360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Open Sans"/>
              </a:rPr>
              <a:t>cty</a:t>
            </a:r>
            <a:r>
              <a:rPr lang="en-US" sz="3600" kern="1200" err="1">
                <a:solidFill>
                  <a:prstClr val="black"/>
                </a:solidFill>
                <a:latin typeface="Courier New"/>
                <a:ea typeface="+mn-ea"/>
                <a:cs typeface="Open Sans"/>
              </a:rPr>
              <a:t>pe</a:t>
            </a:r>
            <a:r>
              <a:rPr kumimoji="0" lang="en-US" sz="360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Open Sans"/>
              </a:rPr>
              <a:t>.h</a:t>
            </a:r>
            <a:r>
              <a:rPr lang="en-US" sz="3600" kern="1200">
                <a:solidFill>
                  <a:prstClr val="black"/>
                </a:solidFill>
                <a:latin typeface="Courier New"/>
                <a:ea typeface="+mn-ea"/>
                <a:cs typeface="Open Sans"/>
              </a:rPr>
              <a:t>&gt;</a:t>
            </a:r>
            <a:r>
              <a:rPr lang="en-US" sz="36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) includes several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functions </a:t>
            </a:r>
            <a:r>
              <a:rPr lang="en-US" sz="36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that perform useful tests and manipulations of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Open Sans"/>
              </a:rPr>
              <a:t>character</a:t>
            </a:r>
            <a:r>
              <a:rPr lang="en-US" sz="36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 data.</a:t>
            </a:r>
            <a:endParaRPr lang="en-US" sz="3600" kern="1200">
              <a:solidFill>
                <a:prstClr val="black"/>
              </a:solidFill>
              <a:latin typeface="+mj-lt"/>
              <a:ea typeface="Open Sans"/>
              <a:cs typeface="Open Sans"/>
            </a:endParaRPr>
          </a:p>
          <a:p>
            <a:pPr marL="571500" indent="-571500" defTabSz="914400">
              <a:spcBef>
                <a:spcPts val="20"/>
              </a:spcBef>
              <a:buFont typeface="Arial"/>
              <a:buChar char="•"/>
              <a:defRPr/>
            </a:pPr>
            <a:r>
              <a:rPr lang="en-US" sz="36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Each function receives an unsigned char (represented as an int) or EOF as an argument.</a:t>
            </a:r>
            <a:endParaRPr lang="en-US" sz="3600" kern="1200">
              <a:solidFill>
                <a:prstClr val="black"/>
              </a:solidFill>
              <a:latin typeface="+mj-lt"/>
              <a:ea typeface="Open Sans"/>
              <a:cs typeface="Open Sans"/>
            </a:endParaRPr>
          </a:p>
          <a:p>
            <a:pPr marL="0" indent="0" defTabSz="914400">
              <a:spcBef>
                <a:spcPts val="20"/>
              </a:spcBef>
              <a:buNone/>
              <a:defRPr/>
            </a:pPr>
            <a:endParaRPr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Open Sans"/>
              <a:cs typeface="Open Sans"/>
            </a:endParaRPr>
          </a:p>
          <a:p>
            <a:pPr defTabSz="914400">
              <a:spcBef>
                <a:spcPct val="20000"/>
              </a:spcBef>
              <a:buSzTx/>
              <a:buFont typeface="Arial"/>
              <a:buChar char="•"/>
              <a:defRPr/>
            </a:pPr>
            <a:endParaRPr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Open Sans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20000"/>
              </a:spcBef>
              <a:buSzTx/>
              <a:buNone/>
              <a:defRPr/>
            </a:pPr>
            <a:endParaRPr lang="en-US" sz="3600" kern="1200">
              <a:solidFill>
                <a:prstClr val="black"/>
              </a:solidFill>
              <a:latin typeface="+mj-lt"/>
              <a:ea typeface="Open Sans"/>
              <a:cs typeface="Courier New" panose="02070309020205020404" pitchFamily="49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8E82890-8CFD-618B-657A-78E5263C2508}"/>
              </a:ext>
            </a:extLst>
          </p:cNvPr>
          <p:cNvGraphicFramePr>
            <a:graphicFrameLocks noGrp="1"/>
          </p:cNvGraphicFramePr>
          <p:nvPr/>
        </p:nvGraphicFramePr>
        <p:xfrm>
          <a:off x="2790825" y="5780815"/>
          <a:ext cx="19230753" cy="43891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138481">
                  <a:extLst>
                    <a:ext uri="{9D8B030D-6E8A-4147-A177-3AD203B41FA5}">
                      <a16:colId xmlns:a16="http://schemas.microsoft.com/office/drawing/2014/main" val="2248810597"/>
                    </a:ext>
                  </a:extLst>
                </a:gridCol>
                <a:gridCol w="14092272">
                  <a:extLst>
                    <a:ext uri="{9D8B030D-6E8A-4147-A177-3AD203B41FA5}">
                      <a16:colId xmlns:a16="http://schemas.microsoft.com/office/drawing/2014/main" val="3277987995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Function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Description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53724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36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isblank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US" sz="36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c);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Returns a true value if c is a </a:t>
                      </a:r>
                      <a:r>
                        <a:rPr lang="en-US" sz="3600" i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blank character 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that separates words in a line of text and 0 (false) otherwise. 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71257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36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isdigit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US" sz="36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c);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Returns a true value if c is a </a:t>
                      </a:r>
                      <a:r>
                        <a:rPr lang="en-US" sz="3600" i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digit 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and 0 (false) otherwise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38421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36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isalpha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US" sz="36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c);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Returns a true value if c is a </a:t>
                      </a:r>
                      <a:r>
                        <a:rPr lang="en-US" sz="3600" i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letter 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and 0 (false) otherwise.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4471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36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isalnum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US" sz="36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c);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Returns a true value if c is a </a:t>
                      </a:r>
                      <a:r>
                        <a:rPr lang="en-US" sz="3600" i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digit 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or a </a:t>
                      </a:r>
                      <a:r>
                        <a:rPr lang="en-US" sz="3600" i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letter 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and 0 (false) otherwise.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82318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36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islower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US" sz="36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c);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Returns a true value if c is a </a:t>
                      </a:r>
                      <a:r>
                        <a:rPr lang="en-US" sz="3600" i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lowercase letter </a:t>
                      </a:r>
                      <a:r>
                        <a:rPr lang="en-US" sz="36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and 0 (false) otherwise. 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734218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4A1C8-61C0-3A1F-1D2E-68D8862B1B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783278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42E5B-D3CC-6301-C3A9-F74AB57D3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8571-265E-1855-A158-51420702F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character MANIPULATION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23D154-BAA8-6CAB-EECC-E474C216B1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BE93DD50-E203-9F25-AB1D-419ED4B8C03F}"/>
              </a:ext>
            </a:extLst>
          </p:cNvPr>
          <p:cNvGraphicFramePr>
            <a:graphicFrameLocks noGrp="1"/>
          </p:cNvGraphicFramePr>
          <p:nvPr>
            <p:ph sz="quarter" idx="11"/>
          </p:nvPr>
        </p:nvGraphicFramePr>
        <p:xfrm>
          <a:off x="2167797" y="3781751"/>
          <a:ext cx="19249235" cy="5303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3294849289"/>
                    </a:ext>
                  </a:extLst>
                </a:gridCol>
                <a:gridCol w="12391235">
                  <a:extLst>
                    <a:ext uri="{9D8B030D-6E8A-4147-A177-3AD203B41FA5}">
                      <a16:colId xmlns:a16="http://schemas.microsoft.com/office/drawing/2014/main" val="191770394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 b="1">
                          <a:solidFill>
                            <a:schemeClr val="bg1"/>
                          </a:solidFill>
                          <a:effectLst/>
                          <a:latin typeface="Open Sans"/>
                        </a:rPr>
                        <a:t>Function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 b="1">
                          <a:solidFill>
                            <a:schemeClr val="bg1"/>
                          </a:solidFill>
                          <a:effectLst/>
                          <a:latin typeface="Open Sans"/>
                        </a:rPr>
                        <a:t>Description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42297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 b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int </a:t>
                      </a:r>
                      <a:r>
                        <a:rPr lang="en-US" sz="360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isupper</a:t>
                      </a: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(</a:t>
                      </a:r>
                      <a:r>
                        <a:rPr lang="en-US" sz="3600" b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int </a:t>
                      </a: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c);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Returns a true value if c is an </a:t>
                      </a:r>
                      <a:r>
                        <a:rPr lang="en-US" sz="3600" i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uppercase letter </a:t>
                      </a: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and 0 (false) otherwise.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83355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 b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int </a:t>
                      </a:r>
                      <a:r>
                        <a:rPr lang="en-US" sz="360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tolower</a:t>
                      </a: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(</a:t>
                      </a:r>
                      <a:r>
                        <a:rPr lang="en-US" sz="3600" b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int </a:t>
                      </a: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c);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If c is an </a:t>
                      </a:r>
                      <a:r>
                        <a:rPr lang="en-US" sz="3600" i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uppercase letter</a:t>
                      </a: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, </a:t>
                      </a:r>
                      <a:r>
                        <a:rPr lang="en-US" sz="360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tolowerreturns</a:t>
                      </a: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 c as a </a:t>
                      </a:r>
                      <a:r>
                        <a:rPr lang="en-US" sz="3600" i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lowercase letter</a:t>
                      </a: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. Otherwise,</a:t>
                      </a:r>
                    </a:p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tolowerreturns</a:t>
                      </a: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 the argument unchanged.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85999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 b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int </a:t>
                      </a:r>
                      <a:r>
                        <a:rPr lang="en-US" sz="360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toupper</a:t>
                      </a: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(</a:t>
                      </a:r>
                      <a:r>
                        <a:rPr lang="en-US" sz="3600" b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int </a:t>
                      </a: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c);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If c is a </a:t>
                      </a:r>
                      <a:r>
                        <a:rPr lang="en-US" sz="3600" i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lowercase letter</a:t>
                      </a: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, </a:t>
                      </a:r>
                      <a:r>
                        <a:rPr lang="en-US" sz="360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toupperreturns</a:t>
                      </a: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 c as an </a:t>
                      </a:r>
                      <a:r>
                        <a:rPr lang="en-US" sz="3600" i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uppercase letter</a:t>
                      </a: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. Otherwise,</a:t>
                      </a:r>
                    </a:p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60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toupperreturns</a:t>
                      </a:r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/>
                        </a:rPr>
                        <a:t> the argument unchanged.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189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456604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87AB3-3E1D-5DE9-1B0F-84466D2DF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BFEA2-0E95-4AE0-0B33-0370EBD2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character MANIPULATION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44833D-0021-D1BA-EED1-D1598B0E98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F84696E-D907-ABB7-52ED-E85E58922395}"/>
              </a:ext>
            </a:extLst>
          </p:cNvPr>
          <p:cNvGraphicFramePr>
            <a:graphicFrameLocks noGrp="1"/>
          </p:cNvGraphicFramePr>
          <p:nvPr>
            <p:ph sz="quarter" idx="11"/>
          </p:nvPr>
        </p:nvGraphicFramePr>
        <p:xfrm>
          <a:off x="2333203" y="3533522"/>
          <a:ext cx="19363054" cy="8699975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9681527">
                  <a:extLst>
                    <a:ext uri="{9D8B030D-6E8A-4147-A177-3AD203B41FA5}">
                      <a16:colId xmlns:a16="http://schemas.microsoft.com/office/drawing/2014/main" val="3154350730"/>
                    </a:ext>
                  </a:extLst>
                </a:gridCol>
                <a:gridCol w="9681527">
                  <a:extLst>
                    <a:ext uri="{9D8B030D-6E8A-4147-A177-3AD203B41FA5}">
                      <a16:colId xmlns:a16="http://schemas.microsoft.com/office/drawing/2014/main" val="235992073"/>
                    </a:ext>
                  </a:extLst>
                </a:gridCol>
              </a:tblGrid>
              <a:tr h="788666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4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Function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4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Description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835232"/>
                  </a:ext>
                </a:extLst>
              </a:tr>
              <a:tr h="359829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40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40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isspace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US" sz="40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c);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Returns a true value if c is a </a:t>
                      </a:r>
                      <a:r>
                        <a:rPr lang="en-US" sz="4000" i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whitespace character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—newline ('\n'), space</a:t>
                      </a:r>
                    </a:p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(' '), form feed ('\f'), carriage return ('\r'), horizontal tab ('\t') or vertical tab ('\v')—and 0 (false) otherwise.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567176"/>
                  </a:ext>
                </a:extLst>
              </a:tr>
              <a:tr h="4313019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40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40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iscntrl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US" sz="40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c);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Returns a true value if c is a </a:t>
                      </a:r>
                      <a:r>
                        <a:rPr lang="en-US" sz="4000" i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control character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— horizontal tab ('\t'), vertical tab ('\v'), form feed ('\f'), alert ('\a'), backspace ('\b'), carriage return ('\r'), newline ('\n') and others— and 0 (false) otherwise.</a:t>
                      </a:r>
                      <a:endParaRPr lang="en-US"/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584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228746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F5471-B625-8B4D-53B3-6DF7748C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71955-5313-35EE-9EC8-626F735C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STRING MANIPULATION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DEDE4D-735D-1D13-23B0-3183338FAB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492378"/>
            <a:ext cx="19883731" cy="7848889"/>
          </a:xfrm>
        </p:spPr>
        <p:txBody>
          <a:bodyPr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In Standard Library Function (header file </a:t>
            </a: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string.h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) provides functions to manipulate string: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3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strlen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			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Return a value of string length; excluded null char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3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strcpy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(s1,s2)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Copy s2 to s1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3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strncpy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(s1,s2,n)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Copy first n characters of s2 to s1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3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strcat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(s1,s2)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Adding string s2 to the end of string s1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3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strncat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(s1,s2,n) 	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Adding n characters of string s2 to the end of string s1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3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strcmp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(s1,s2)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Comparing the value of string s1 and s2, if similar returning 0</a:t>
            </a:r>
          </a:p>
          <a:p>
            <a:pPr defTabSz="914400">
              <a:lnSpc>
                <a:spcPct val="90000"/>
              </a:lnSpc>
              <a:spcBef>
                <a:spcPct val="20000"/>
              </a:spcBef>
              <a:buSzTx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Courier New" panose="02070309020205020404" pitchFamily="49" charset="0"/>
              </a:rPr>
              <a:t>etc.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3A39F7-896F-5290-CAE8-BDE5238EF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1217161522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22DBD-33E2-50F7-E53F-1739463D6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3A451-EB7B-827B-D7D1-3358EA1B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STRING MANIPULATION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EB216-E6E3-B998-CF2F-94E757A945D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10579602"/>
            <a:ext cx="3719073" cy="1264340"/>
          </a:xfrm>
          <a:ln>
            <a:solidFill>
              <a:schemeClr val="bg2">
                <a:lumMod val="10000"/>
              </a:schemeClr>
            </a:solidFill>
          </a:ln>
        </p:spPr>
        <p:txBody>
          <a:bodyPr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Output: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Budi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None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61E247-2398-829C-88C6-BBD68A501F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/>
              <a:t>examples</a:t>
            </a:r>
          </a:p>
        </p:txBody>
      </p:sp>
      <p:pic>
        <p:nvPicPr>
          <p:cNvPr id="5" name="Picture 4" descr="A computer code with colorful text&#10;&#10;AI-generated content may be incorrect.">
            <a:extLst>
              <a:ext uri="{FF2B5EF4-FFF2-40B4-BE49-F238E27FC236}">
                <a16:creationId xmlns:a16="http://schemas.microsoft.com/office/drawing/2014/main" id="{C4B951E7-95E1-8EAE-B2A2-7E14BFEE6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027" y="3680953"/>
            <a:ext cx="8225987" cy="6520333"/>
          </a:xfrm>
          <a:prstGeom prst="rect">
            <a:avLst/>
          </a:prstGeom>
        </p:spPr>
      </p:pic>
      <p:pic>
        <p:nvPicPr>
          <p:cNvPr id="8" name="Picture 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4A8AB39-6412-690F-B106-0486A85D8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9262" y="3680953"/>
            <a:ext cx="9140387" cy="6531980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0567038-A826-8CB3-E309-AC7D8777EC62}"/>
              </a:ext>
            </a:extLst>
          </p:cNvPr>
          <p:cNvSpPr txBox="1">
            <a:spLocks/>
          </p:cNvSpPr>
          <p:nvPr/>
        </p:nvSpPr>
        <p:spPr>
          <a:xfrm>
            <a:off x="10919262" y="10536344"/>
            <a:ext cx="3719073" cy="1264340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FontTx/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Output: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FontTx/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Hello-World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FontTx/>
              <a:buNone/>
              <a:defRPr/>
            </a:pPr>
            <a:endParaRPr lang="en-US" sz="3600" kern="120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690720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88CCF-1BB7-E95F-44AD-8FF7C994D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53B49-496D-757C-86A8-DDE1B3A7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STRING MANIPULATION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2A1798-E422-76AD-BF22-CE19628704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74BC14E-17B5-A4C4-2D59-DD7122968681}"/>
              </a:ext>
            </a:extLst>
          </p:cNvPr>
          <p:cNvSpPr txBox="1">
            <a:spLocks/>
          </p:cNvSpPr>
          <p:nvPr/>
        </p:nvSpPr>
        <p:spPr>
          <a:xfrm>
            <a:off x="12192000" y="3819020"/>
            <a:ext cx="3387969" cy="3707195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FontTx/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Output: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FontTx/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6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FontTx/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-1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FontTx/>
              <a:buNone/>
              <a:defRPr/>
            </a:pPr>
            <a:r>
              <a:rPr lang="en-US" sz="3600" kern="120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xycdef</a:t>
            </a:r>
            <a:endParaRPr lang="en-US" sz="3600" kern="120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SzTx/>
              <a:buFontTx/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Happy</a:t>
            </a:r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95206E0-3292-598A-BAC0-965EC628C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996" y="3178279"/>
            <a:ext cx="9147961" cy="862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278789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F4AE7-5074-9FA0-9731-6B80178FD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8C96-8358-2660-7D7B-6EE1F7E0E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 fontScale="90000"/>
          </a:bodyPr>
          <a:lstStyle/>
          <a:p>
            <a:r>
              <a:rPr lang="en-US">
                <a:latin typeface="Open Sans ExtraBold"/>
                <a:ea typeface="Open Sans ExtraBold"/>
                <a:cs typeface="Open Sans ExtraBold"/>
              </a:rPr>
              <a:t>String conversion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87EB0-7DB4-929C-5125-65EBA30292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492378"/>
            <a:ext cx="19883731" cy="7848889"/>
          </a:xfrm>
        </p:spPr>
        <p:txBody>
          <a:bodyPr lIns="50800" tIns="50800" rIns="50800" bIns="50800" anchor="t">
            <a:normAutofit/>
          </a:bodyPr>
          <a:lstStyle/>
          <a:p>
            <a:pPr defTabSz="914400">
              <a:spcBef>
                <a:spcPct val="20000"/>
              </a:spcBef>
              <a:buFont typeface="Arial"/>
              <a:buChar char="•"/>
              <a:defRPr/>
            </a:pPr>
            <a:r>
              <a:rPr lang="en-US" sz="3600" b="1" kern="1200">
                <a:solidFill>
                  <a:schemeClr val="tx2">
                    <a:lumMod val="49000"/>
                  </a:schemeClr>
                </a:solidFill>
                <a:latin typeface="+mj-lt"/>
                <a:ea typeface="+mn-ea"/>
                <a:cs typeface="Open Sans"/>
              </a:rPr>
              <a:t>string-conversion functions </a:t>
            </a:r>
            <a:r>
              <a:rPr lang="en-US" sz="3600" kern="1200">
                <a:solidFill>
                  <a:schemeClr val="tx2">
                    <a:lumMod val="49000"/>
                  </a:schemeClr>
                </a:solidFill>
                <a:latin typeface="+mj-lt"/>
                <a:ea typeface="+mn-ea"/>
                <a:cs typeface="Open Sans"/>
              </a:rPr>
              <a:t>are function included in the </a:t>
            </a:r>
            <a:r>
              <a:rPr lang="en-US" sz="3600" b="1" kern="1200">
                <a:solidFill>
                  <a:schemeClr val="tx2">
                    <a:lumMod val="49000"/>
                  </a:schemeClr>
                </a:solidFill>
                <a:latin typeface="+mj-lt"/>
                <a:ea typeface="+mn-ea"/>
                <a:cs typeface="Open Sans"/>
              </a:rPr>
              <a:t>general utilities library (&lt;</a:t>
            </a:r>
            <a:r>
              <a:rPr lang="en-US" sz="3600" b="1" kern="1200" err="1">
                <a:solidFill>
                  <a:schemeClr val="tx2">
                    <a:lumMod val="49000"/>
                  </a:schemeClr>
                </a:solidFill>
                <a:latin typeface="+mj-lt"/>
                <a:ea typeface="+mn-ea"/>
                <a:cs typeface="Open Sans"/>
              </a:rPr>
              <a:t>stdlib.h</a:t>
            </a:r>
            <a:r>
              <a:rPr lang="en-US" sz="3600" b="1" kern="1200">
                <a:solidFill>
                  <a:schemeClr val="tx2">
                    <a:lumMod val="49000"/>
                  </a:schemeClr>
                </a:solidFill>
                <a:latin typeface="+mj-lt"/>
                <a:ea typeface="+mn-ea"/>
                <a:cs typeface="Open Sans"/>
              </a:rPr>
              <a:t>&gt;</a:t>
            </a:r>
            <a:r>
              <a:rPr lang="en-US" sz="3600" kern="1200">
                <a:solidFill>
                  <a:schemeClr val="tx2">
                    <a:lumMod val="49000"/>
                  </a:schemeClr>
                </a:solidFill>
                <a:latin typeface="+mj-lt"/>
                <a:ea typeface="+mn-ea"/>
                <a:cs typeface="Open Sans"/>
              </a:rPr>
              <a:t>).</a:t>
            </a:r>
            <a:endParaRPr lang="en-US" sz="3600" kern="1200">
              <a:solidFill>
                <a:schemeClr val="tx2">
                  <a:lumMod val="49000"/>
                </a:schemeClr>
              </a:solidFill>
              <a:latin typeface="+mj-lt"/>
              <a:ea typeface="Open Sans"/>
              <a:cs typeface="Open Sans"/>
            </a:endParaRPr>
          </a:p>
          <a:p>
            <a:pPr defTabSz="914400">
              <a:spcBef>
                <a:spcPct val="20000"/>
              </a:spcBef>
              <a:buFont typeface="Arial"/>
              <a:buChar char="•"/>
              <a:defRPr/>
            </a:pPr>
            <a:r>
              <a:rPr lang="en-US" sz="36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These functions convert strings of digits to integer and floating-point values.</a:t>
            </a:r>
            <a:endParaRPr lang="en-US" sz="3600" kern="1200">
              <a:solidFill>
                <a:prstClr val="black"/>
              </a:solidFill>
              <a:latin typeface="+mj-lt"/>
              <a:ea typeface="Open Sans"/>
              <a:cs typeface="Open Sans"/>
            </a:endParaRPr>
          </a:p>
          <a:p>
            <a:pPr defTabSz="914400">
              <a:spcBef>
                <a:spcPct val="20000"/>
              </a:spcBef>
              <a:buFont typeface="Arial"/>
              <a:buChar char="•"/>
              <a:defRPr/>
            </a:pPr>
            <a:r>
              <a:rPr lang="en-US" sz="36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Functions included are </a:t>
            </a:r>
            <a:r>
              <a:rPr lang="en-US" sz="3600" kern="1200" err="1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strtod</a:t>
            </a:r>
            <a:r>
              <a:rPr lang="en-US" sz="36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, </a:t>
            </a:r>
            <a:r>
              <a:rPr lang="en-US" sz="3600" kern="1200" err="1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strtol</a:t>
            </a:r>
            <a:r>
              <a:rPr lang="en-US" sz="36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, </a:t>
            </a:r>
            <a:r>
              <a:rPr lang="en-US" sz="3600" kern="1200" err="1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strtoul</a:t>
            </a:r>
            <a:r>
              <a:rPr lang="en-US" sz="3600" kern="1200">
                <a:solidFill>
                  <a:prstClr val="black"/>
                </a:solidFill>
                <a:latin typeface="+mj-lt"/>
                <a:ea typeface="+mn-ea"/>
                <a:cs typeface="Open Sans"/>
              </a:rPr>
              <a:t>.</a:t>
            </a:r>
            <a:endParaRPr lang="en-US" sz="3600" kern="1200">
              <a:solidFill>
                <a:prstClr val="black"/>
              </a:solidFill>
              <a:latin typeface="+mj-lt"/>
              <a:ea typeface="Open Sans"/>
              <a:cs typeface="Open San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1B6D9B-6F61-B8E3-A495-8DBF999BEB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FEB202-67EC-95D9-6E48-CC3CACCBED3D}"/>
              </a:ext>
            </a:extLst>
          </p:cNvPr>
          <p:cNvGraphicFramePr>
            <a:graphicFrameLocks noGrp="1"/>
          </p:cNvGraphicFramePr>
          <p:nvPr/>
        </p:nvGraphicFramePr>
        <p:xfrm>
          <a:off x="2657553" y="6516944"/>
          <a:ext cx="17831544" cy="46329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8350033">
                  <a:extLst>
                    <a:ext uri="{9D8B030D-6E8A-4147-A177-3AD203B41FA5}">
                      <a16:colId xmlns:a16="http://schemas.microsoft.com/office/drawing/2014/main" val="1335737881"/>
                    </a:ext>
                  </a:extLst>
                </a:gridCol>
                <a:gridCol w="9481511">
                  <a:extLst>
                    <a:ext uri="{9D8B030D-6E8A-4147-A177-3AD203B41FA5}">
                      <a16:colId xmlns:a16="http://schemas.microsoft.com/office/drawing/2014/main" val="80007052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40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Function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4000" b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Description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10893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40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double </a:t>
                      </a:r>
                      <a:r>
                        <a:rPr lang="en-US" sz="40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strtod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US" sz="40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const char 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*</a:t>
                      </a:r>
                      <a:r>
                        <a:rPr lang="en-US" sz="40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nPtr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, </a:t>
                      </a:r>
                      <a:r>
                        <a:rPr lang="en-US" sz="40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char 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**</a:t>
                      </a:r>
                      <a:r>
                        <a:rPr lang="en-US" sz="40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endPtr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);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Converts the string </a:t>
                      </a:r>
                      <a:r>
                        <a:rPr lang="en-US" sz="40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nPtr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 to double.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9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077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40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long </a:t>
                      </a:r>
                      <a:r>
                        <a:rPr lang="en-US" sz="40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strtol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US" sz="40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const char 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*</a:t>
                      </a:r>
                      <a:r>
                        <a:rPr lang="en-US" sz="40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nPtr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, </a:t>
                      </a:r>
                      <a:r>
                        <a:rPr lang="en-US" sz="40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char 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**</a:t>
                      </a:r>
                      <a:r>
                        <a:rPr lang="en-US" sz="40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endPtr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, </a:t>
                      </a:r>
                      <a:r>
                        <a:rPr lang="en-US" sz="40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base);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Converts the string </a:t>
                      </a:r>
                      <a:r>
                        <a:rPr lang="en-US" sz="40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nPtr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 to long.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99874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40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unsigned long </a:t>
                      </a:r>
                      <a:r>
                        <a:rPr lang="en-US" sz="40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strtoul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US" sz="40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const char 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*</a:t>
                      </a:r>
                      <a:r>
                        <a:rPr lang="en-US" sz="40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nPtr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, </a:t>
                      </a:r>
                      <a:r>
                        <a:rPr lang="en-US" sz="40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char 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**</a:t>
                      </a:r>
                      <a:r>
                        <a:rPr lang="en-US" sz="40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endPtr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, </a:t>
                      </a:r>
                      <a:r>
                        <a:rPr lang="en-US" sz="4000" b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int 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base);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Converts the string </a:t>
                      </a:r>
                      <a:r>
                        <a:rPr lang="en-US" sz="4000" err="1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nPtr</a:t>
                      </a:r>
                      <a:r>
                        <a:rPr lang="en-US" sz="4000">
                          <a:solidFill>
                            <a:schemeClr val="tx2">
                              <a:lumMod val="49000"/>
                            </a:schemeClr>
                          </a:solidFill>
                          <a:effectLst/>
                          <a:latin typeface="Calibri"/>
                        </a:rPr>
                        <a:t> to unsigned long.</a:t>
                      </a:r>
                    </a:p>
                  </a:txBody>
                  <a:tcPr>
                    <a:lnL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617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4760802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805E6-5FE5-F05B-D6DC-E84C0B77A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A5683-D6C0-134C-339E-516C38F9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 fontScale="90000"/>
          </a:bodyPr>
          <a:lstStyle/>
          <a:p>
            <a:r>
              <a:rPr lang="en-US">
                <a:latin typeface="Open Sans ExtraBold"/>
                <a:ea typeface="Open Sans ExtraBold"/>
                <a:cs typeface="Open Sans ExtraBold"/>
              </a:rPr>
              <a:t>STRING conversion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74628C-06CD-BE64-C9BD-1ED7E8A54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702ADC6-B40F-2229-88BF-143F3F2D140E}"/>
              </a:ext>
            </a:extLst>
          </p:cNvPr>
          <p:cNvSpPr txBox="1">
            <a:spLocks/>
          </p:cNvSpPr>
          <p:nvPr/>
        </p:nvSpPr>
        <p:spPr>
          <a:xfrm>
            <a:off x="2157875" y="3819020"/>
            <a:ext cx="19329279" cy="6431513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20"/>
              </a:spcBef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#include &lt;</a:t>
            </a:r>
            <a:r>
              <a:rPr lang="en-US" sz="3600" kern="1200" err="1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</a:p>
          <a:p>
            <a:pPr marL="0" indent="0" defTabSz="914400">
              <a:lnSpc>
                <a:spcPct val="90000"/>
              </a:lnSpc>
              <a:spcBef>
                <a:spcPts val="20"/>
              </a:spcBef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#include &lt;</a:t>
            </a:r>
            <a:r>
              <a:rPr lang="en-US" sz="3600" kern="1200" err="1">
                <a:solidFill>
                  <a:prstClr val="black"/>
                </a:solidFill>
                <a:latin typeface="Courier New"/>
                <a:cs typeface="Courier New"/>
              </a:rPr>
              <a:t>stdlib.h</a:t>
            </a: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</a:p>
          <a:p>
            <a:pPr marL="0" indent="0" defTabSz="914400">
              <a:lnSpc>
                <a:spcPct val="90000"/>
              </a:lnSpc>
              <a:spcBef>
                <a:spcPts val="20"/>
              </a:spcBef>
              <a:buNone/>
              <a:defRPr/>
            </a:pPr>
            <a:endParaRPr lang="en-US" sz="3600" kern="1200">
              <a:solidFill>
                <a:srgbClr val="000000"/>
              </a:solidFill>
              <a:latin typeface="Courier New"/>
              <a:cs typeface="Courier New"/>
            </a:endParaRPr>
          </a:p>
          <a:p>
            <a:pPr marL="0" indent="0" defTabSz="914400">
              <a:lnSpc>
                <a:spcPct val="90000"/>
              </a:lnSpc>
              <a:spcBef>
                <a:spcPts val="20"/>
              </a:spcBef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int main(void)</a:t>
            </a:r>
          </a:p>
          <a:p>
            <a:pPr marL="0" indent="0" defTabSz="914400">
              <a:lnSpc>
                <a:spcPct val="90000"/>
              </a:lnSpc>
              <a:spcBef>
                <a:spcPts val="20"/>
              </a:spcBef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</a:p>
          <a:p>
            <a:pPr marL="0" indent="0" defTabSz="914400">
              <a:lnSpc>
                <a:spcPct val="90000"/>
              </a:lnSpc>
              <a:spcBef>
                <a:spcPts val="20"/>
              </a:spcBef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 char *</a:t>
            </a:r>
            <a:r>
              <a:rPr lang="en-US" sz="3600" kern="1200" err="1">
                <a:solidFill>
                  <a:prstClr val="black"/>
                </a:solidFill>
                <a:latin typeface="Courier New"/>
                <a:cs typeface="Courier New"/>
              </a:rPr>
              <a:t>stringPtr</a:t>
            </a: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; // create char pointer</a:t>
            </a:r>
          </a:p>
          <a:p>
            <a:pPr marL="0" indent="0" defTabSz="914400">
              <a:lnSpc>
                <a:spcPct val="90000"/>
              </a:lnSpc>
              <a:spcBef>
                <a:spcPts val="20"/>
              </a:spcBef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 const char *string = "51.2% are admitted"; //  initialize string</a:t>
            </a:r>
          </a:p>
          <a:p>
            <a:pPr marL="0" indent="0" defTabSz="914400">
              <a:lnSpc>
                <a:spcPct val="90000"/>
              </a:lnSpc>
              <a:spcBef>
                <a:spcPts val="20"/>
              </a:spcBef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 double d = </a:t>
            </a:r>
            <a:r>
              <a:rPr lang="en-US" sz="3600" kern="1200" err="1">
                <a:solidFill>
                  <a:prstClr val="black"/>
                </a:solidFill>
                <a:latin typeface="Courier New"/>
                <a:cs typeface="Courier New"/>
              </a:rPr>
              <a:t>strtod</a:t>
            </a: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(string, &amp;</a:t>
            </a:r>
            <a:r>
              <a:rPr lang="en-US" sz="3600" kern="1200" err="1">
                <a:solidFill>
                  <a:prstClr val="black"/>
                </a:solidFill>
                <a:latin typeface="Courier New"/>
                <a:cs typeface="Courier New"/>
              </a:rPr>
              <a:t>stringPtr</a:t>
            </a: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</a:p>
          <a:p>
            <a:pPr marL="0" indent="0" defTabSz="914400">
              <a:lnSpc>
                <a:spcPct val="90000"/>
              </a:lnSpc>
              <a:spcBef>
                <a:spcPts val="20"/>
              </a:spcBef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 </a:t>
            </a:r>
            <a:r>
              <a:rPr lang="en-US" sz="3600" kern="1200" err="1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("The string \"%s\" is converted to the\n", string);</a:t>
            </a:r>
          </a:p>
          <a:p>
            <a:pPr marL="0" indent="0" defTabSz="914400">
              <a:lnSpc>
                <a:spcPct val="90000"/>
              </a:lnSpc>
              <a:spcBef>
                <a:spcPts val="20"/>
              </a:spcBef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 </a:t>
            </a:r>
            <a:r>
              <a:rPr lang="en-US" sz="3600" kern="1200" err="1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("double value %.2f and the string \"%s\"\n", d, </a:t>
            </a:r>
            <a:r>
              <a:rPr lang="en-US" sz="3600" kern="1200" err="1">
                <a:solidFill>
                  <a:prstClr val="black"/>
                </a:solidFill>
                <a:latin typeface="Courier New"/>
                <a:cs typeface="Courier New"/>
              </a:rPr>
              <a:t>stringPtr</a:t>
            </a: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</a:p>
          <a:p>
            <a:pPr marL="0" indent="0" defTabSz="914400">
              <a:lnSpc>
                <a:spcPct val="90000"/>
              </a:lnSpc>
              <a:spcBef>
                <a:spcPct val="20000"/>
              </a:spcBef>
              <a:buNone/>
              <a:defRPr/>
            </a:pPr>
            <a:r>
              <a:rPr lang="en-US" sz="3600" kern="120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lang="en-US">
              <a:ea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366BB-3D30-F602-CB65-D32316AA5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822" y="10399525"/>
            <a:ext cx="12878642" cy="147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221940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D3829-A8D8-18BD-60B1-2E2D5E289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FD44-3084-C3ED-5A9C-7E0CD890C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 fontScale="90000"/>
          </a:bodyPr>
          <a:lstStyle/>
          <a:p>
            <a:r>
              <a:rPr lang="en-US">
                <a:latin typeface="Open Sans ExtraBold"/>
                <a:ea typeface="Open Sans ExtraBold"/>
                <a:cs typeface="Open Sans ExtraBold"/>
              </a:rPr>
              <a:t>STRING MANIPULATION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5E29BB-6BA3-EEE8-4E83-ED3816D425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EA4EBE4-5DB5-E25E-90B8-1FBBFFA3C016}"/>
              </a:ext>
            </a:extLst>
          </p:cNvPr>
          <p:cNvSpPr txBox="1">
            <a:spLocks/>
          </p:cNvSpPr>
          <p:nvPr/>
        </p:nvSpPr>
        <p:spPr>
          <a:xfrm>
            <a:off x="2157875" y="3819020"/>
            <a:ext cx="11857634" cy="9020964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2D567D"/>
                </a:solidFill>
                <a:latin typeface="Courier New"/>
              </a:rPr>
              <a:t>#include 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&lt;</a:t>
            </a:r>
            <a:r>
              <a:rPr lang="en-US" sz="3200" kern="1200" err="1">
                <a:solidFill>
                  <a:prstClr val="black"/>
                </a:solidFill>
                <a:latin typeface="Courier New"/>
              </a:rPr>
              <a:t>stdio.h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&gt;</a:t>
            </a:r>
          </a:p>
          <a:p>
            <a:pPr marL="0" indent="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2D567D"/>
                </a:solidFill>
                <a:latin typeface="Courier New"/>
              </a:rPr>
              <a:t>#include 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&lt;</a:t>
            </a:r>
            <a:r>
              <a:rPr lang="en-US" sz="3200" kern="1200" err="1">
                <a:solidFill>
                  <a:prstClr val="black"/>
                </a:solidFill>
                <a:latin typeface="Courier New"/>
              </a:rPr>
              <a:t>stdlib.h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&gt;</a:t>
            </a:r>
          </a:p>
          <a:p>
            <a:pPr marL="0" indent="0" defTabSz="914400">
              <a:spcBef>
                <a:spcPct val="20000"/>
              </a:spcBef>
              <a:buNone/>
              <a:defRPr/>
            </a:pPr>
            <a:endParaRPr lang="en-US" sz="3200" kern="1200">
              <a:solidFill>
                <a:prstClr val="black"/>
              </a:solidFill>
              <a:latin typeface="Courier New"/>
            </a:endParaRPr>
          </a:p>
          <a:p>
            <a:pPr marL="0" indent="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2D567D"/>
                </a:solidFill>
                <a:latin typeface="Courier New"/>
              </a:rPr>
              <a:t>int 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main(</a:t>
            </a:r>
            <a:r>
              <a:rPr lang="en-US" sz="3200" b="1" kern="1200">
                <a:solidFill>
                  <a:srgbClr val="2D567D"/>
                </a:solidFill>
                <a:latin typeface="Courier New"/>
              </a:rPr>
              <a:t>void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){</a:t>
            </a: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2D567D"/>
                </a:solidFill>
                <a:latin typeface="Courier New"/>
              </a:rPr>
              <a:t>const char 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*string = </a:t>
            </a:r>
            <a:r>
              <a:rPr lang="en-US" sz="3200" b="1" kern="1200">
                <a:solidFill>
                  <a:srgbClr val="899CB8"/>
                </a:solidFill>
                <a:latin typeface="Courier New"/>
              </a:rPr>
              <a:t>"-1234567abc"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;</a:t>
            </a:r>
            <a:r>
              <a:rPr lang="en-US" sz="3200" kern="1200">
                <a:solidFill>
                  <a:srgbClr val="6D6D6D"/>
                </a:solidFill>
                <a:latin typeface="Courier New"/>
              </a:rPr>
              <a:t> </a:t>
            </a: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2D567D"/>
                </a:solidFill>
                <a:latin typeface="Courier New"/>
              </a:rPr>
              <a:t>char 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*</a:t>
            </a:r>
            <a:r>
              <a:rPr lang="en-US" sz="3200" kern="1200" err="1">
                <a:solidFill>
                  <a:prstClr val="black"/>
                </a:solidFill>
                <a:latin typeface="Courier New"/>
              </a:rPr>
              <a:t>remainderPtr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; </a:t>
            </a: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2D567D"/>
                </a:solidFill>
                <a:latin typeface="Courier New"/>
              </a:rPr>
              <a:t>long 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x = </a:t>
            </a:r>
            <a:r>
              <a:rPr lang="en-US" sz="3200" kern="1200" err="1">
                <a:solidFill>
                  <a:prstClr val="black"/>
                </a:solidFill>
                <a:latin typeface="Courier New"/>
              </a:rPr>
              <a:t>strtol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(string, &amp;</a:t>
            </a:r>
            <a:r>
              <a:rPr lang="en-US" sz="3200" kern="1200" err="1">
                <a:solidFill>
                  <a:prstClr val="black"/>
                </a:solidFill>
                <a:latin typeface="Courier New"/>
              </a:rPr>
              <a:t>remainderPtr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, </a:t>
            </a:r>
            <a:r>
              <a:rPr lang="en-US" sz="3200" b="1" kern="1200">
                <a:solidFill>
                  <a:srgbClr val="899CB8"/>
                </a:solidFill>
                <a:latin typeface="Courier New"/>
              </a:rPr>
              <a:t>0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);</a:t>
            </a: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pt-BR" sz="3200" kern="1200" err="1">
                <a:solidFill>
                  <a:prstClr val="black"/>
                </a:solidFill>
                <a:latin typeface="Courier New"/>
              </a:rPr>
              <a:t>printf</a:t>
            </a:r>
            <a:r>
              <a:rPr lang="pt-BR" sz="3200" kern="1200">
                <a:solidFill>
                  <a:prstClr val="black"/>
                </a:solidFill>
                <a:latin typeface="Courier New"/>
              </a:rPr>
              <a:t>(</a:t>
            </a:r>
            <a:r>
              <a:rPr lang="pt-BR" sz="3200" b="1" kern="1200">
                <a:solidFill>
                  <a:srgbClr val="899CB8"/>
                </a:solidFill>
                <a:latin typeface="Courier New"/>
              </a:rPr>
              <a:t>"%s\"%s\"\</a:t>
            </a:r>
            <a:r>
              <a:rPr lang="pt-BR" sz="3200" b="1" kern="1200" err="1">
                <a:solidFill>
                  <a:srgbClr val="899CB8"/>
                </a:solidFill>
                <a:latin typeface="Courier New"/>
              </a:rPr>
              <a:t>n%s%ld</a:t>
            </a:r>
            <a:r>
              <a:rPr lang="pt-BR" sz="3200" b="1" kern="1200">
                <a:solidFill>
                  <a:srgbClr val="899CB8"/>
                </a:solidFill>
                <a:latin typeface="Courier New"/>
              </a:rPr>
              <a:t>\</a:t>
            </a:r>
            <a:r>
              <a:rPr lang="pt-BR" sz="3200" b="1" kern="1200" err="1">
                <a:solidFill>
                  <a:srgbClr val="899CB8"/>
                </a:solidFill>
                <a:latin typeface="Courier New"/>
              </a:rPr>
              <a:t>n%s</a:t>
            </a:r>
            <a:r>
              <a:rPr lang="pt-BR" sz="3200" b="1" kern="1200">
                <a:solidFill>
                  <a:srgbClr val="899CB8"/>
                </a:solidFill>
                <a:latin typeface="Courier New"/>
              </a:rPr>
              <a:t>\"%s\"\</a:t>
            </a:r>
            <a:r>
              <a:rPr lang="pt-BR" sz="3200" b="1" kern="1200" err="1">
                <a:solidFill>
                  <a:srgbClr val="899CB8"/>
                </a:solidFill>
                <a:latin typeface="Courier New"/>
              </a:rPr>
              <a:t>n%s%ld</a:t>
            </a:r>
            <a:r>
              <a:rPr lang="pt-BR" sz="3200" b="1" kern="1200">
                <a:solidFill>
                  <a:srgbClr val="899CB8"/>
                </a:solidFill>
                <a:latin typeface="Courier New"/>
              </a:rPr>
              <a:t>\n"</a:t>
            </a:r>
            <a:r>
              <a:rPr lang="pt-BR" sz="3200" kern="1200">
                <a:solidFill>
                  <a:prstClr val="black"/>
                </a:solidFill>
                <a:latin typeface="Courier New"/>
              </a:rPr>
              <a:t>,</a:t>
            </a:r>
            <a:endParaRPr lang="en-US" sz="3200" kern="1200">
              <a:solidFill>
                <a:prstClr val="black"/>
              </a:solidFill>
              <a:latin typeface="Courier New"/>
            </a:endParaRP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899CB8"/>
                </a:solidFill>
                <a:latin typeface="Courier New"/>
              </a:rPr>
              <a:t>"The original string is "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, string,</a:t>
            </a: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899CB8"/>
                </a:solidFill>
                <a:latin typeface="Courier New"/>
              </a:rPr>
              <a:t>"The converted value is "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, x,</a:t>
            </a: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899CB8"/>
                </a:solidFill>
                <a:latin typeface="Courier New"/>
              </a:rPr>
              <a:t>"The remainder of the original string is "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,</a:t>
            </a: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kern="1200" err="1">
                <a:solidFill>
                  <a:prstClr val="black"/>
                </a:solidFill>
                <a:latin typeface="Courier New"/>
              </a:rPr>
              <a:t>remainderPtr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,</a:t>
            </a: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899CB8"/>
                </a:solidFill>
                <a:latin typeface="Courier New"/>
              </a:rPr>
              <a:t>"The converted value plus 567 is "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, x + </a:t>
            </a:r>
            <a:r>
              <a:rPr lang="en-US" sz="3200" b="1" kern="1200">
                <a:solidFill>
                  <a:srgbClr val="899CB8"/>
                </a:solidFill>
                <a:latin typeface="Courier New"/>
              </a:rPr>
              <a:t>567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);</a:t>
            </a:r>
          </a:p>
          <a:p>
            <a:pPr marL="0" indent="0" defTabSz="914400">
              <a:spcBef>
                <a:spcPct val="20000"/>
              </a:spcBef>
              <a:buNone/>
              <a:defRPr/>
            </a:pPr>
            <a:r>
              <a:rPr lang="en-US" sz="3200" kern="1200">
                <a:solidFill>
                  <a:prstClr val="black"/>
                </a:solidFill>
                <a:latin typeface="Courier New"/>
              </a:rPr>
              <a:t>}</a:t>
            </a:r>
            <a:endParaRPr lang="en-US" sz="3200">
              <a:solidFill>
                <a:prstClr val="black"/>
              </a:solidFill>
              <a:latin typeface="Courier New"/>
            </a:endParaRPr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4664DC5-7D1F-309D-1748-C13BB7829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2696" y="3822707"/>
            <a:ext cx="8515012" cy="191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8049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8BD80-6350-07C7-87F8-B3807D325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F3DC-3421-DC1B-0D99-013001A79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 fontScale="90000"/>
          </a:bodyPr>
          <a:lstStyle/>
          <a:p>
            <a:r>
              <a:rPr lang="en-US">
                <a:latin typeface="Open Sans ExtraBold"/>
                <a:ea typeface="Open Sans ExtraBold"/>
                <a:cs typeface="Open Sans ExtraBold"/>
              </a:rPr>
              <a:t>STRING conversion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75A667-129F-1CF4-5608-E948AE41B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838" y="2374733"/>
            <a:ext cx="9768875" cy="803546"/>
          </a:xfrm>
        </p:spPr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5185E18-137F-1055-34D8-D817C24B0569}"/>
              </a:ext>
            </a:extLst>
          </p:cNvPr>
          <p:cNvSpPr txBox="1">
            <a:spLocks/>
          </p:cNvSpPr>
          <p:nvPr/>
        </p:nvSpPr>
        <p:spPr>
          <a:xfrm>
            <a:off x="2157875" y="3819020"/>
            <a:ext cx="11857634" cy="9020964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2D567D"/>
                </a:solidFill>
                <a:latin typeface="Courier New"/>
              </a:rPr>
              <a:t>#include 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&lt;</a:t>
            </a:r>
            <a:r>
              <a:rPr lang="en-US" sz="3200" kern="1200" err="1">
                <a:solidFill>
                  <a:prstClr val="black"/>
                </a:solidFill>
                <a:latin typeface="Courier New"/>
              </a:rPr>
              <a:t>stdio.h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&gt;</a:t>
            </a:r>
          </a:p>
          <a:p>
            <a:pPr marL="0" indent="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2D567D"/>
                </a:solidFill>
                <a:latin typeface="Courier New"/>
              </a:rPr>
              <a:t>#include 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&lt;</a:t>
            </a:r>
            <a:r>
              <a:rPr lang="en-US" sz="3200" kern="1200" err="1">
                <a:solidFill>
                  <a:prstClr val="black"/>
                </a:solidFill>
                <a:latin typeface="Courier New"/>
              </a:rPr>
              <a:t>stdlib.h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&gt;</a:t>
            </a:r>
          </a:p>
          <a:p>
            <a:pPr marL="0" indent="0" defTabSz="914400">
              <a:spcBef>
                <a:spcPct val="20000"/>
              </a:spcBef>
              <a:buNone/>
              <a:defRPr/>
            </a:pPr>
            <a:endParaRPr lang="en-US" sz="3200" kern="1200">
              <a:solidFill>
                <a:prstClr val="black"/>
              </a:solidFill>
              <a:latin typeface="Courier New"/>
            </a:endParaRPr>
          </a:p>
          <a:p>
            <a:pPr marL="0" indent="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2D567D"/>
                </a:solidFill>
                <a:latin typeface="Courier New"/>
              </a:rPr>
              <a:t>int 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main(</a:t>
            </a:r>
            <a:r>
              <a:rPr lang="en-US" sz="3200" b="1" kern="1200">
                <a:solidFill>
                  <a:srgbClr val="2D567D"/>
                </a:solidFill>
                <a:latin typeface="Courier New"/>
              </a:rPr>
              <a:t>void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){</a:t>
            </a: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2D567D"/>
                </a:solidFill>
                <a:latin typeface="Courier New"/>
              </a:rPr>
              <a:t>const char 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*string = </a:t>
            </a:r>
            <a:r>
              <a:rPr lang="en-US" sz="3200" b="1" kern="1200">
                <a:solidFill>
                  <a:srgbClr val="899CB8"/>
                </a:solidFill>
                <a:latin typeface="Courier New"/>
              </a:rPr>
              <a:t>"1234567abc"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; </a:t>
            </a:r>
            <a:r>
              <a:rPr lang="en-US" sz="3200" kern="1200">
                <a:solidFill>
                  <a:srgbClr val="6D6D6D"/>
                </a:solidFill>
                <a:latin typeface="Courier New"/>
              </a:rPr>
              <a:t>// initialize string pointer </a:t>
            </a:r>
            <a:endParaRPr lang="en-US" sz="3200" kern="1200">
              <a:solidFill>
                <a:prstClr val="black"/>
              </a:solidFill>
              <a:latin typeface="Courier New"/>
            </a:endParaRP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2D567D"/>
                </a:solidFill>
                <a:latin typeface="Courier New"/>
              </a:rPr>
              <a:t>char 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*</a:t>
            </a:r>
            <a:r>
              <a:rPr lang="en-US" sz="3200" kern="1200" err="1">
                <a:solidFill>
                  <a:prstClr val="black"/>
                </a:solidFill>
                <a:latin typeface="Courier New"/>
              </a:rPr>
              <a:t>remainderPtr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; </a:t>
            </a:r>
            <a:r>
              <a:rPr lang="en-US" sz="3200" kern="1200">
                <a:solidFill>
                  <a:srgbClr val="6D6D6D"/>
                </a:solidFill>
                <a:latin typeface="Courier New"/>
              </a:rPr>
              <a:t>// create char pointer </a:t>
            </a:r>
            <a:endParaRPr lang="en-US" sz="3200" kern="1200">
              <a:solidFill>
                <a:prstClr val="black"/>
              </a:solidFill>
              <a:latin typeface="Courier New"/>
            </a:endParaRP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2D567D"/>
                </a:solidFill>
                <a:latin typeface="Courier New"/>
              </a:rPr>
              <a:t>unsigned long int 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x = </a:t>
            </a:r>
            <a:r>
              <a:rPr lang="en-US" sz="3200" kern="1200" err="1">
                <a:solidFill>
                  <a:prstClr val="black"/>
                </a:solidFill>
                <a:latin typeface="Courier New"/>
              </a:rPr>
              <a:t>strtoul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(string, &amp;</a:t>
            </a:r>
            <a:r>
              <a:rPr lang="en-US" sz="3200" kern="1200" err="1">
                <a:solidFill>
                  <a:prstClr val="black"/>
                </a:solidFill>
                <a:latin typeface="Courier New"/>
              </a:rPr>
              <a:t>remainderPtr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, </a:t>
            </a:r>
            <a:r>
              <a:rPr lang="en-US" sz="3200" b="1" kern="1200">
                <a:solidFill>
                  <a:srgbClr val="899CB8"/>
                </a:solidFill>
                <a:latin typeface="Courier New"/>
              </a:rPr>
              <a:t>0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);</a:t>
            </a: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pt-BR" sz="3200" kern="1200" err="1">
                <a:solidFill>
                  <a:prstClr val="black"/>
                </a:solidFill>
                <a:latin typeface="Courier New"/>
              </a:rPr>
              <a:t>printf</a:t>
            </a:r>
            <a:r>
              <a:rPr lang="pt-BR" sz="3200" kern="1200">
                <a:solidFill>
                  <a:prstClr val="black"/>
                </a:solidFill>
                <a:latin typeface="Courier New"/>
              </a:rPr>
              <a:t>(</a:t>
            </a:r>
            <a:r>
              <a:rPr lang="pt-BR" sz="3200" b="1" kern="1200">
                <a:solidFill>
                  <a:srgbClr val="899CB8"/>
                </a:solidFill>
                <a:latin typeface="Courier New"/>
              </a:rPr>
              <a:t>"%s\"%s\"\</a:t>
            </a:r>
            <a:r>
              <a:rPr lang="pt-BR" sz="3200" b="1" kern="1200" err="1">
                <a:solidFill>
                  <a:srgbClr val="899CB8"/>
                </a:solidFill>
                <a:latin typeface="Courier New"/>
              </a:rPr>
              <a:t>n%s%ld</a:t>
            </a:r>
            <a:r>
              <a:rPr lang="pt-BR" sz="3200" b="1" kern="1200">
                <a:solidFill>
                  <a:srgbClr val="899CB8"/>
                </a:solidFill>
                <a:latin typeface="Courier New"/>
              </a:rPr>
              <a:t>\</a:t>
            </a:r>
            <a:r>
              <a:rPr lang="pt-BR" sz="3200" b="1" kern="1200" err="1">
                <a:solidFill>
                  <a:srgbClr val="899CB8"/>
                </a:solidFill>
                <a:latin typeface="Courier New"/>
              </a:rPr>
              <a:t>n%s</a:t>
            </a:r>
            <a:r>
              <a:rPr lang="pt-BR" sz="3200" b="1" kern="1200">
                <a:solidFill>
                  <a:srgbClr val="899CB8"/>
                </a:solidFill>
                <a:latin typeface="Courier New"/>
              </a:rPr>
              <a:t>\"%s\"\</a:t>
            </a:r>
            <a:r>
              <a:rPr lang="pt-BR" sz="3200" b="1" kern="1200" err="1">
                <a:solidFill>
                  <a:srgbClr val="899CB8"/>
                </a:solidFill>
                <a:latin typeface="Courier New"/>
              </a:rPr>
              <a:t>n%s%ld</a:t>
            </a:r>
            <a:r>
              <a:rPr lang="pt-BR" sz="3200" b="1" kern="1200">
                <a:solidFill>
                  <a:srgbClr val="899CB8"/>
                </a:solidFill>
                <a:latin typeface="Courier New"/>
              </a:rPr>
              <a:t>\n"</a:t>
            </a:r>
            <a:r>
              <a:rPr lang="pt-BR" sz="3200" kern="1200">
                <a:solidFill>
                  <a:prstClr val="black"/>
                </a:solidFill>
                <a:latin typeface="Courier New"/>
              </a:rPr>
              <a:t>,</a:t>
            </a:r>
            <a:endParaRPr lang="en-US" sz="3200" kern="1200">
              <a:solidFill>
                <a:prstClr val="black"/>
              </a:solidFill>
              <a:latin typeface="Courier New"/>
            </a:endParaRP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899CB8"/>
                </a:solidFill>
                <a:latin typeface="Courier New"/>
              </a:rPr>
              <a:t>"The original string is "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, string,</a:t>
            </a: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899CB8"/>
                </a:solidFill>
                <a:latin typeface="Courier New"/>
              </a:rPr>
              <a:t>"The converted value is "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, x,</a:t>
            </a: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899CB8"/>
                </a:solidFill>
                <a:latin typeface="Courier New"/>
              </a:rPr>
              <a:t>"The remainder of the original string is "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,</a:t>
            </a: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kern="1200" err="1">
                <a:solidFill>
                  <a:prstClr val="black"/>
                </a:solidFill>
                <a:latin typeface="Courier New"/>
              </a:rPr>
              <a:t>remainderPtr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,</a:t>
            </a:r>
          </a:p>
          <a:p>
            <a:pPr marL="623570" lvl="1" indent="-280670" defTabSz="914400">
              <a:spcBef>
                <a:spcPct val="20000"/>
              </a:spcBef>
              <a:buNone/>
              <a:defRPr/>
            </a:pPr>
            <a:r>
              <a:rPr lang="en-US" sz="3200" b="1" kern="1200">
                <a:solidFill>
                  <a:srgbClr val="899CB8"/>
                </a:solidFill>
                <a:latin typeface="Courier New"/>
              </a:rPr>
              <a:t>"The converted value plus 567 is "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, x + </a:t>
            </a:r>
            <a:r>
              <a:rPr lang="en-US" sz="3200" b="1" kern="1200">
                <a:solidFill>
                  <a:srgbClr val="899CB8"/>
                </a:solidFill>
                <a:latin typeface="Courier New"/>
              </a:rPr>
              <a:t>567</a:t>
            </a:r>
            <a:r>
              <a:rPr lang="en-US" sz="3200" kern="1200">
                <a:solidFill>
                  <a:prstClr val="black"/>
                </a:solidFill>
                <a:latin typeface="Courier New"/>
              </a:rPr>
              <a:t>);</a:t>
            </a:r>
          </a:p>
          <a:p>
            <a:pPr marL="0" indent="0" defTabSz="914400">
              <a:spcBef>
                <a:spcPct val="20000"/>
              </a:spcBef>
              <a:buNone/>
              <a:defRPr/>
            </a:pPr>
            <a:r>
              <a:rPr lang="en-US" sz="3200" kern="1200">
                <a:solidFill>
                  <a:prstClr val="black"/>
                </a:solidFill>
                <a:latin typeface="Courier New"/>
              </a:rPr>
              <a:t>}</a:t>
            </a:r>
            <a:endParaRPr lang="en-US" sz="3200">
              <a:solidFill>
                <a:prstClr val="black"/>
              </a:solidFill>
              <a:latin typeface="Courier New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E5356A-3A3E-0F80-43D7-95A4C094A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0895" y="3819019"/>
            <a:ext cx="7775229" cy="211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82442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6EA5-BCA1-3295-49C2-DB14D881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C1F7-855D-E3C0-782B-68B7432F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C4902-46C4-1E95-FE4D-EA683502FD99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9368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Create a program to get 10 integer values from keyboard and store in an array. Find out: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Max value inside the array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Min value inside the array 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Calculate average value of the array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Show the result to the monitor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174800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3BB92-A153-0E9D-1845-0DE01394B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8ED33-1F76-002C-1E3B-43D0BE0FC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CB73F-6CD7-9820-8F30-D804A2CD91F1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9368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cs typeface="Courier New"/>
              </a:rPr>
              <a:t>Question 2</a:t>
            </a: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Create a program of matrix addition. Use 2D array!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cs typeface="Courier New"/>
              </a:rPr>
              <a:t>Question 3</a:t>
            </a: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Create a program of matrix multiplication. Use 2D array!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E7091E-23CC-B89B-8957-2B72D342B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7" y="4815840"/>
            <a:ext cx="8860140" cy="2590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A3CB01-4616-21EE-C069-D09279274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67377" y="9662160"/>
            <a:ext cx="8860140" cy="2590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66404667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477A4-8D46-C57E-C464-F46503D4A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E5EC0-50D1-36D8-748D-A4AF039BE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B5041-218A-E59F-7B8D-16E1B85E7870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9368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cs typeface="Courier New"/>
              </a:rPr>
              <a:t>Question 4</a:t>
            </a: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Given the following Arrays: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A[3][4]={1, 3, 2, 4, 5, 7, 6, 8, 9,11, 12 };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B[3][3]={{1, 2}, {3, 4, 5} ,{ 7 }};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What are the values of: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A[1][1] = ?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B[2][2] = ?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A[2][3] = ?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B[0][1] = ?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A[0][2] = ?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212072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6EA5-BCA1-3295-49C2-DB14D881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C1F7-855D-E3C0-782B-68B7432F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>
                <a:latin typeface="Tahoma" pitchFamily="34" charset="0"/>
                <a:cs typeface="Tahoma" pitchFamily="34" charset="0"/>
              </a:rPr>
              <a:t>exercise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C4902-46C4-1E95-FE4D-EA683502FD99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9368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cs typeface="Courier New"/>
              </a:rPr>
              <a:t>Question 5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Create a program that display user input, with no extra space (single whitespace followed by multiple whitespace(s)).</a:t>
            </a:r>
            <a:endParaRPr lang="en-US" sz="3600" dirty="0">
              <a:latin typeface="Open Sans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sz="20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Open Sans"/>
                <a:cs typeface="Courier New"/>
              </a:rPr>
              <a:t>Question 6</a:t>
            </a:r>
            <a:endParaRPr lang="en-US" altLang="en-US" sz="3600" b="1" dirty="0">
              <a:cs typeface="Courier New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Create a program that validate a user input for password. String must contain: Upper case, lower case, special character (_/@-!?*#) , number, no whitespace, and maximum length is 12.</a:t>
            </a:r>
            <a:endParaRPr lang="en-US" sz="3600" dirty="0"/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cs typeface="Courier New"/>
              </a:rPr>
              <a:t>Question 7</a:t>
            </a: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Create a program in C to rotate a string. Example: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5ECAB5-B4F7-DC9E-7D76-64BFC2B86944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9787629"/>
          <a:ext cx="162560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966976770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1463987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Sample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66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KASUR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RUSAK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46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799035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95257-A1EC-3486-F40D-D5E48334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145AB-9D68-476E-2CA9-0301671F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SUMMARY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736EA-6948-CC3C-404C-D901D54C4C03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7296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Pointer is a variable that store the address of another variable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Pointer to pointer is a variable that saves another address of a pointer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cs typeface="Courier New"/>
              </a:rPr>
              <a:t>Data saved in a certain structure to be accessed as a group or individually. Some variables saved using the same name distinguish by their index which called as an array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cs typeface="Courier New"/>
              </a:rPr>
              <a:t>Character is a variable that represented by int in ASCII table. ​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cs typeface="Courier New"/>
              </a:rPr>
              <a:t>String is an array of character that ended with null character. ​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cs typeface="Courier New"/>
              </a:rPr>
              <a:t>There are multiple function in handling character​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cs typeface="Courier New"/>
              </a:rPr>
              <a:t>Same as character, there are multiple function in handling string.</a:t>
            </a:r>
          </a:p>
          <a:p>
            <a:pPr>
              <a:spcBef>
                <a:spcPts val="1200"/>
              </a:spcBef>
            </a:pPr>
            <a:endParaRPr lang="en-US" altLang="en-US" sz="4000" dirty="0">
              <a:latin typeface="+mj-lt"/>
              <a:cs typeface="Courier New"/>
            </a:endParaRPr>
          </a:p>
          <a:p>
            <a:pPr>
              <a:spcBef>
                <a:spcPts val="1200"/>
              </a:spcBef>
            </a:pPr>
            <a:endParaRPr lang="en-US" altLang="en-US" sz="4000" dirty="0">
              <a:latin typeface="+mj-lt"/>
              <a:cs typeface="Courier New"/>
            </a:endParaRPr>
          </a:p>
          <a:p>
            <a:pPr>
              <a:spcBef>
                <a:spcPts val="1200"/>
              </a:spcBef>
            </a:pPr>
            <a:endParaRPr lang="en-US" altLang="en-US" sz="4000" dirty="0">
              <a:latin typeface="+mj-lt"/>
              <a:cs typeface="Courier New"/>
            </a:endParaRPr>
          </a:p>
          <a:p>
            <a:pPr algn="just">
              <a:spcBef>
                <a:spcPts val="1200"/>
              </a:spcBef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380247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9BD8-6A35-C6F1-8612-C1D26B50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45B8-DA6B-8391-50C8-B64F103B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REFRENCES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C637192-B017-8920-94C9-2C0A55F44F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00067"/>
            <a:ext cx="19460171" cy="1001836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Paul Deitel &amp; Harvey Deitel. (2021). C how to program. 09. Pearson  Education. New York. ISBN: 9780137398393.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 Programming – Pointers: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2"/>
              </a:rPr>
              <a:t>http://www.exforsys.com/tutorials/c-language/c-pointers.html</a:t>
            </a: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Storing Similar Data Items: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3"/>
              </a:rPr>
              <a:t>http://aelinik.free.fr/c/ch12.htm</a:t>
            </a: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String manipulation: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4"/>
              </a:rPr>
              <a:t>https://www.geeksforgeeks.org/string-functions-in-c/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7690936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437cf3-862c-4aa8-bd7e-caeecb8e11df">
      <Terms xmlns="http://schemas.microsoft.com/office/infopath/2007/PartnerControls"/>
    </lcf76f155ced4ddcb4097134ff3c332f>
    <TaxCatchAll xmlns="fc2d5289-3ec1-4d76-80c1-a1cd17baf85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CA077843E12C45ABBF89EA0D3E6ECB" ma:contentTypeVersion="12" ma:contentTypeDescription="Create a new document." ma:contentTypeScope="" ma:versionID="5ed595dea67b8b322e39378c6251215c">
  <xsd:schema xmlns:xsd="http://www.w3.org/2001/XMLSchema" xmlns:xs="http://www.w3.org/2001/XMLSchema" xmlns:p="http://schemas.microsoft.com/office/2006/metadata/properties" xmlns:ns2="02437cf3-862c-4aa8-bd7e-caeecb8e11df" xmlns:ns3="fc2d5289-3ec1-4d76-80c1-a1cd17baf85c" targetNamespace="http://schemas.microsoft.com/office/2006/metadata/properties" ma:root="true" ma:fieldsID="d378c5c85e55afa0691156e287dbbb41" ns2:_="" ns3:_="">
    <xsd:import namespace="02437cf3-862c-4aa8-bd7e-caeecb8e11df"/>
    <xsd:import namespace="fc2d5289-3ec1-4d76-80c1-a1cd17baf8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37cf3-862c-4aa8-bd7e-caeecb8e1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d5289-3ec1-4d76-80c1-a1cd17baf8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ed2725a-0247-41b8-b239-ecd86c77a8ad}" ma:internalName="TaxCatchAll" ma:showField="CatchAllData" ma:web="fc2d5289-3ec1-4d76-80c1-a1cd17baf8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33A855-A4BC-4442-842D-98F2AD928A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A24560-1BED-4BD4-9DA3-0CF560A8CCAC}">
  <ds:schemaRefs>
    <ds:schemaRef ds:uri="http://schemas.microsoft.com/office/2006/metadata/properties"/>
    <ds:schemaRef ds:uri="http://schemas.microsoft.com/office/infopath/2007/PartnerControls"/>
    <ds:schemaRef ds:uri="02437cf3-862c-4aa8-bd7e-caeecb8e11df"/>
    <ds:schemaRef ds:uri="fc2d5289-3ec1-4d76-80c1-a1cd17baf85c"/>
  </ds:schemaRefs>
</ds:datastoreItem>
</file>

<file path=customXml/itemProps3.xml><?xml version="1.0" encoding="utf-8"?>
<ds:datastoreItem xmlns:ds="http://schemas.openxmlformats.org/officeDocument/2006/customXml" ds:itemID="{51A3D0E6-8C1A-4B8D-9748-848F1F8643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37cf3-862c-4aa8-bd7e-caeecb8e11df"/>
    <ds:schemaRef ds:uri="fc2d5289-3ec1-4d76-80c1-a1cd17baf8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1. Algorithm &amp; Programming and Introduction to C Programming</Template>
  <TotalTime>4227</TotalTime>
  <Words>3244</Words>
  <Application>Microsoft Macintosh PowerPoint</Application>
  <PresentationFormat>Custom</PresentationFormat>
  <Paragraphs>469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7" baseType="lpstr">
      <vt:lpstr>Tahoma</vt:lpstr>
      <vt:lpstr>OCRB</vt:lpstr>
      <vt:lpstr>Courier New</vt:lpstr>
      <vt:lpstr>Arial</vt:lpstr>
      <vt:lpstr>Open Sans ExtraBold</vt:lpstr>
      <vt:lpstr>Times New Roman</vt:lpstr>
      <vt:lpstr>Open Sans</vt:lpstr>
      <vt:lpstr>Open Sans Light</vt:lpstr>
      <vt:lpstr>Calibri</vt:lpstr>
      <vt:lpstr>Open Sans Semibold</vt:lpstr>
      <vt:lpstr>Wingdings</vt:lpstr>
      <vt:lpstr>21_BasicWhite</vt:lpstr>
      <vt:lpstr>Pointers and Arrays</vt:lpstr>
      <vt:lpstr>Learning Objectives</vt:lpstr>
      <vt:lpstr>Subtopics</vt:lpstr>
      <vt:lpstr>Pointer</vt:lpstr>
      <vt:lpstr>Pointer</vt:lpstr>
      <vt:lpstr>Pointer to Pointer</vt:lpstr>
      <vt:lpstr>Pointer</vt:lpstr>
      <vt:lpstr>array</vt:lpstr>
      <vt:lpstr>One dimensional array </vt:lpstr>
      <vt:lpstr>One dimensional array </vt:lpstr>
      <vt:lpstr>One dimensional array </vt:lpstr>
      <vt:lpstr>One dimensional array </vt:lpstr>
      <vt:lpstr>One dimensional array </vt:lpstr>
      <vt:lpstr>One dimensional array </vt:lpstr>
      <vt:lpstr>One dimensional array </vt:lpstr>
      <vt:lpstr>One dimensional array </vt:lpstr>
      <vt:lpstr>Pointer Constant &amp; Pointer Variable</vt:lpstr>
      <vt:lpstr>Pointer Constant &amp; Pointer Variable</vt:lpstr>
      <vt:lpstr>Pointer Constant &amp; Pointer Variable</vt:lpstr>
      <vt:lpstr>TWO dimensional array </vt:lpstr>
      <vt:lpstr>TWO dimensional array </vt:lpstr>
      <vt:lpstr>TWO dimensional array </vt:lpstr>
      <vt:lpstr>three dimensional array </vt:lpstr>
      <vt:lpstr>Array of Pointer</vt:lpstr>
      <vt:lpstr>Array of character</vt:lpstr>
      <vt:lpstr>String</vt:lpstr>
      <vt:lpstr>String</vt:lpstr>
      <vt:lpstr>String</vt:lpstr>
      <vt:lpstr>Char vs string</vt:lpstr>
      <vt:lpstr>character MANIPULATION</vt:lpstr>
      <vt:lpstr>character MANIPULATION</vt:lpstr>
      <vt:lpstr>character MANIPULATION</vt:lpstr>
      <vt:lpstr>STRING MANIPULATION</vt:lpstr>
      <vt:lpstr>STRING MANIPULATION</vt:lpstr>
      <vt:lpstr>STRING MANIPULATION</vt:lpstr>
      <vt:lpstr>String conversion</vt:lpstr>
      <vt:lpstr>STRING conversion</vt:lpstr>
      <vt:lpstr>STRING MANIPULATION</vt:lpstr>
      <vt:lpstr>STRING conversion</vt:lpstr>
      <vt:lpstr>exercise</vt:lpstr>
      <vt:lpstr>exercise</vt:lpstr>
      <vt:lpstr>exercise</vt:lpstr>
      <vt:lpstr>exercise</vt:lpstr>
      <vt:lpstr>SUMMARY</vt:lpstr>
      <vt:lpstr>REFRENCES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SHANIA PRICCILIA</dc:creator>
  <cp:lastModifiedBy>Shania Priccilia</cp:lastModifiedBy>
  <cp:revision>70</cp:revision>
  <dcterms:created xsi:type="dcterms:W3CDTF">2025-05-12T11:13:33Z</dcterms:created>
  <dcterms:modified xsi:type="dcterms:W3CDTF">2025-07-25T03:59:52Z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0x010100B4CA077843E12C45ABBF89EA0D3E6ECB</vt:lpwstr>
  </property>
  <property fmtid="{D5CDD505-2E9C-101B-9397-08002B2CF9AE}" pid="3" name="MediaServiceImageTags">
    <vt:lpwstr/>
  </property>
</Properties>
</file>