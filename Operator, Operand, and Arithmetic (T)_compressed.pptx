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39"/>
  </p:notesMasterIdLst>
  <p:sldIdLst>
    <p:sldId id="256" r:id="rId5"/>
    <p:sldId id="258" r:id="rId6"/>
    <p:sldId id="259" r:id="rId7"/>
    <p:sldId id="262" r:id="rId8"/>
    <p:sldId id="308" r:id="rId9"/>
    <p:sldId id="310" r:id="rId10"/>
    <p:sldId id="309" r:id="rId11"/>
    <p:sldId id="313" r:id="rId12"/>
    <p:sldId id="312" r:id="rId13"/>
    <p:sldId id="314" r:id="rId14"/>
    <p:sldId id="315" r:id="rId15"/>
    <p:sldId id="317" r:id="rId16"/>
    <p:sldId id="316" r:id="rId17"/>
    <p:sldId id="318" r:id="rId18"/>
    <p:sldId id="319" r:id="rId19"/>
    <p:sldId id="320" r:id="rId20"/>
    <p:sldId id="321" r:id="rId21"/>
    <p:sldId id="323" r:id="rId22"/>
    <p:sldId id="322" r:id="rId23"/>
    <p:sldId id="324" r:id="rId24"/>
    <p:sldId id="325" r:id="rId25"/>
    <p:sldId id="326" r:id="rId26"/>
    <p:sldId id="328" r:id="rId27"/>
    <p:sldId id="329" r:id="rId28"/>
    <p:sldId id="330" r:id="rId29"/>
    <p:sldId id="332" r:id="rId30"/>
    <p:sldId id="331" r:id="rId31"/>
    <p:sldId id="333" r:id="rId32"/>
    <p:sldId id="336" r:id="rId33"/>
    <p:sldId id="335" r:id="rId34"/>
    <p:sldId id="337" r:id="rId35"/>
    <p:sldId id="338" r:id="rId36"/>
    <p:sldId id="334" r:id="rId37"/>
    <p:sldId id="287" r:id="rId38"/>
  </p:sldIdLst>
  <p:sldSz cx="24384000" cy="13716000"/>
  <p:notesSz cx="6858000" cy="9144000"/>
  <p:embeddedFontLst>
    <p:embeddedFont>
      <p:font typeface="Cambria Math" panose="02040503050406030204" pitchFamily="18" charset="0"/>
      <p:regular r:id="rId40"/>
    </p:embeddedFont>
    <p:embeddedFont>
      <p:font typeface="OCRB" panose="020B0609020202020204" pitchFamily="49" charset="0"/>
      <p:regular r:id="rId41"/>
    </p:embeddedFont>
    <p:embeddedFont>
      <p:font typeface="Open Sans ExtraBold" panose="020B0906030804020204" pitchFamily="34" charset="0"/>
      <p:bold r:id="rId42"/>
      <p:italic r:id="rId43"/>
      <p:boldItalic r:id="rId44"/>
    </p:embeddedFont>
    <p:embeddedFont>
      <p:font typeface="Open Sans Light" panose="020B0306030504020204" pitchFamily="34" charset="0"/>
      <p:regular r:id="rId45"/>
      <p:italic r:id="rId46"/>
    </p:embeddedFont>
    <p:embeddedFont>
      <p:font typeface="Tahoma" panose="020B0604030504040204" pitchFamily="34" charset="0"/>
      <p:regular r:id="rId47"/>
      <p:bold r:id="rId48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DE53FB-B8C1-BD3A-0560-005C4530DB5D}" v="23" dt="2025-06-30T10:28:56.852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6197"/>
  </p:normalViewPr>
  <p:slideViewPr>
    <p:cSldViewPr snapToGrid="0" snapToObjects="1">
      <p:cViewPr varScale="1">
        <p:scale>
          <a:sx n="24" d="100"/>
          <a:sy n="24" d="100"/>
        </p:scale>
        <p:origin x="115" y="749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3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5.fntdata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8" Type="http://schemas.openxmlformats.org/officeDocument/2006/relationships/slide" Target="slides/slide4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font" Target="fonts/font7.fntdata"/><Relationship Id="rId20" Type="http://schemas.openxmlformats.org/officeDocument/2006/relationships/slide" Target="slides/slide16.xml"/><Relationship Id="rId41" Type="http://schemas.openxmlformats.org/officeDocument/2006/relationships/font" Target="fonts/font2.fntdata"/><Relationship Id="rId54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nia Priccilia" userId="S::shania.priccilia@binus.edu::c4dd4a50-8335-4e39-a119-dc5e413d78e9" providerId="AD" clId="Web-{E0B8F82B-FE7E-4B36-861E-8C523820687A}"/>
    <pc:docChg chg="modSld">
      <pc:chgData name="Shania Priccilia" userId="S::shania.priccilia@binus.edu::c4dd4a50-8335-4e39-a119-dc5e413d78e9" providerId="AD" clId="Web-{E0B8F82B-FE7E-4B36-861E-8C523820687A}" dt="2025-06-25T03:18:11.659" v="1" actId="20577"/>
      <pc:docMkLst>
        <pc:docMk/>
      </pc:docMkLst>
      <pc:sldChg chg="modSp">
        <pc:chgData name="Shania Priccilia" userId="S::shania.priccilia@binus.edu::c4dd4a50-8335-4e39-a119-dc5e413d78e9" providerId="AD" clId="Web-{E0B8F82B-FE7E-4B36-861E-8C523820687A}" dt="2025-06-25T03:18:11.659" v="1" actId="20577"/>
        <pc:sldMkLst>
          <pc:docMk/>
          <pc:sldMk cId="4105662268" sldId="259"/>
        </pc:sldMkLst>
        <pc:spChg chg="mod">
          <ac:chgData name="Shania Priccilia" userId="S::shania.priccilia@binus.edu::c4dd4a50-8335-4e39-a119-dc5e413d78e9" providerId="AD" clId="Web-{E0B8F82B-FE7E-4B36-861E-8C523820687A}" dt="2025-06-25T03:18:11.659" v="1" actId="20577"/>
          <ac:spMkLst>
            <pc:docMk/>
            <pc:sldMk cId="4105662268" sldId="259"/>
            <ac:spMk id="4" creationId="{F37B5071-5AEC-07E9-E361-22C4629DB39D}"/>
          </ac:spMkLst>
        </pc:spChg>
      </pc:sldChg>
    </pc:docChg>
  </pc:docChgLst>
  <pc:docChgLst>
    <pc:chgData name="Shania Priccilia" userId="S::shania.priccilia@binus.edu::c4dd4a50-8335-4e39-a119-dc5e413d78e9" providerId="AD" clId="Web-{4CDE53FB-B8C1-BD3A-0560-005C4530DB5D}"/>
    <pc:docChg chg="modSld">
      <pc:chgData name="Shania Priccilia" userId="S::shania.priccilia@binus.edu::c4dd4a50-8335-4e39-a119-dc5e413d78e9" providerId="AD" clId="Web-{4CDE53FB-B8C1-BD3A-0560-005C4530DB5D}" dt="2025-06-30T10:28:56.852" v="21"/>
      <pc:docMkLst>
        <pc:docMk/>
      </pc:docMkLst>
      <pc:sldChg chg="modSp">
        <pc:chgData name="Shania Priccilia" userId="S::shania.priccilia@binus.edu::c4dd4a50-8335-4e39-a119-dc5e413d78e9" providerId="AD" clId="Web-{4CDE53FB-B8C1-BD3A-0560-005C4530DB5D}" dt="2025-06-30T10:28:47.773" v="19" actId="20577"/>
        <pc:sldMkLst>
          <pc:docMk/>
          <pc:sldMk cId="3807564589" sldId="256"/>
        </pc:sldMkLst>
        <pc:spChg chg="mod">
          <ac:chgData name="Shania Priccilia" userId="S::shania.priccilia@binus.edu::c4dd4a50-8335-4e39-a119-dc5e413d78e9" providerId="AD" clId="Web-{4CDE53FB-B8C1-BD3A-0560-005C4530DB5D}" dt="2025-06-30T10:28:47.773" v="19" actId="20577"/>
          <ac:spMkLst>
            <pc:docMk/>
            <pc:sldMk cId="3807564589" sldId="256"/>
            <ac:spMk id="2" creationId="{50F9371B-F92F-AED8-457A-F4BAE6779B8C}"/>
          </ac:spMkLst>
        </pc:spChg>
      </pc:sldChg>
      <pc:sldChg chg="addSp delSp modSp">
        <pc:chgData name="Shania Priccilia" userId="S::shania.priccilia@binus.edu::c4dd4a50-8335-4e39-a119-dc5e413d78e9" providerId="AD" clId="Web-{4CDE53FB-B8C1-BD3A-0560-005C4530DB5D}" dt="2025-06-30T10:28:54.227" v="20"/>
        <pc:sldMkLst>
          <pc:docMk/>
          <pc:sldMk cId="1968907909" sldId="258"/>
        </pc:sldMkLst>
        <pc:spChg chg="del">
          <ac:chgData name="Shania Priccilia" userId="S::shania.priccilia@binus.edu::c4dd4a50-8335-4e39-a119-dc5e413d78e9" providerId="AD" clId="Web-{4CDE53FB-B8C1-BD3A-0560-005C4530DB5D}" dt="2025-06-30T10:28:54.227" v="20"/>
          <ac:spMkLst>
            <pc:docMk/>
            <pc:sldMk cId="1968907909" sldId="258"/>
            <ac:spMk id="3" creationId="{15FC02B1-FC54-7AA3-7866-74F99147264B}"/>
          </ac:spMkLst>
        </pc:spChg>
        <pc:spChg chg="add mod">
          <ac:chgData name="Shania Priccilia" userId="S::shania.priccilia@binus.edu::c4dd4a50-8335-4e39-a119-dc5e413d78e9" providerId="AD" clId="Web-{4CDE53FB-B8C1-BD3A-0560-005C4530DB5D}" dt="2025-06-30T10:28:54.227" v="20"/>
          <ac:spMkLst>
            <pc:docMk/>
            <pc:sldMk cId="1968907909" sldId="258"/>
            <ac:spMk id="6" creationId="{CC0850A5-C6BA-CE95-46D9-73AF6A7DEE8C}"/>
          </ac:spMkLst>
        </pc:spChg>
      </pc:sldChg>
      <pc:sldChg chg="addSp delSp modSp">
        <pc:chgData name="Shania Priccilia" userId="S::shania.priccilia@binus.edu::c4dd4a50-8335-4e39-a119-dc5e413d78e9" providerId="AD" clId="Web-{4CDE53FB-B8C1-BD3A-0560-005C4530DB5D}" dt="2025-06-30T10:28:56.852" v="21"/>
        <pc:sldMkLst>
          <pc:docMk/>
          <pc:sldMk cId="4105662268" sldId="259"/>
        </pc:sldMkLst>
        <pc:spChg chg="del">
          <ac:chgData name="Shania Priccilia" userId="S::shania.priccilia@binus.edu::c4dd4a50-8335-4e39-a119-dc5e413d78e9" providerId="AD" clId="Web-{4CDE53FB-B8C1-BD3A-0560-005C4530DB5D}" dt="2025-06-30T10:28:56.852" v="21"/>
          <ac:spMkLst>
            <pc:docMk/>
            <pc:sldMk cId="4105662268" sldId="259"/>
            <ac:spMk id="3" creationId="{2F63D14B-FD76-D22A-48FE-7092D41FE3E9}"/>
          </ac:spMkLst>
        </pc:spChg>
        <pc:spChg chg="add mod">
          <ac:chgData name="Shania Priccilia" userId="S::shania.priccilia@binus.edu::c4dd4a50-8335-4e39-a119-dc5e413d78e9" providerId="AD" clId="Web-{4CDE53FB-B8C1-BD3A-0560-005C4530DB5D}" dt="2025-06-30T10:28:56.852" v="21"/>
          <ac:spMkLst>
            <pc:docMk/>
            <pc:sldMk cId="4105662268" sldId="259"/>
            <ac:spMk id="6" creationId="{370B6CCC-2ACB-D019-B8F0-FA2ADA2D416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5.png"/><Relationship Id="rId5" Type="http://schemas.openxmlformats.org/officeDocument/2006/relationships/image" Target="../media/image11.sv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svg"/><Relationship Id="rId7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04" name="Content Placeholder 7">
            <a:extLst>
              <a:ext uri="{FF2B5EF4-FFF2-40B4-BE49-F238E27FC236}">
                <a16:creationId xmlns:a16="http://schemas.microsoft.com/office/drawing/2014/main" id="{A238D5AC-1068-5240-9AFA-91BA1250D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://aelinik.free.fr/c/ch06.ht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 lIns="50800" tIns="50800" rIns="50800" bIns="50800" anchor="t">
            <a:normAutofit/>
          </a:bodyPr>
          <a:lstStyle/>
          <a:p>
            <a:r>
              <a:rPr lang="en-US" dirty="0"/>
              <a:t>Algorithm and programming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altLang="en-US" sz="9600" dirty="0"/>
              <a:t>Operator, Oper</a:t>
            </a:r>
            <a:r>
              <a:rPr lang="id-ID" altLang="en-US" sz="9600" dirty="0"/>
              <a:t>a</a:t>
            </a:r>
            <a:r>
              <a:rPr lang="en-AU" altLang="en-US" sz="9600" dirty="0" err="1"/>
              <a:t>nd</a:t>
            </a:r>
            <a:r>
              <a:rPr lang="en-AU" altLang="en-US" sz="9600" dirty="0"/>
              <a:t>, and Arithmetic </a:t>
            </a:r>
            <a:endParaRPr lang="en-US" sz="96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Shania Priccilia, </a:t>
            </a:r>
            <a:r>
              <a:rPr lang="en-US" dirty="0" err="1"/>
              <a:t>S.Kom</a:t>
            </a:r>
            <a:r>
              <a:rPr lang="en-US" dirty="0"/>
              <a:t>., </a:t>
            </a:r>
            <a:r>
              <a:rPr lang="en-US" dirty="0" err="1"/>
              <a:t>M.Kom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756458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DA11B-2F9E-4E40-B94A-37951AF09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394E0-5EEE-7267-580E-42F911ACD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Learning Objectives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639152-5297-4504-380C-94154A8D96C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altLang="en-US" sz="3600" dirty="0">
                <a:latin typeface="+mj-lt"/>
                <a:cs typeface="Tahoma" pitchFamily="34" charset="0"/>
              </a:rPr>
              <a:t>At the end of this session, student will be able to: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en-US" sz="3600" dirty="0">
                <a:latin typeface="+mj-lt"/>
                <a:cs typeface="Tahoma" pitchFamily="34" charset="0"/>
              </a:rPr>
              <a:t>Creating instructions using various operator in C programming language (LO1 &amp; LO2)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C0850A5-C6BA-CE95-46D9-73AF6A7DEE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890790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99FFD-E58E-D8B4-ADED-E78957338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4635E-1E02-2C02-4DC3-ACB1F7225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Subtopics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B5071-5AEC-07E9-E361-22C4629DB39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078782" y="4058081"/>
            <a:ext cx="13714940" cy="8180811"/>
          </a:xfrm>
        </p:spPr>
        <p:txBody>
          <a:bodyPr lIns="50800" tIns="50800" rIns="50800" bIns="50800" anchor="t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200" dirty="0">
                <a:latin typeface="+mj-lt"/>
              </a:rPr>
              <a:t>Operator and Operand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200" dirty="0">
                <a:latin typeface="+mj-lt"/>
              </a:rPr>
              <a:t>Assignment Operators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200" dirty="0">
                <a:latin typeface="+mj-lt"/>
              </a:rPr>
              <a:t>Arithmetic Operators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200" dirty="0">
                <a:latin typeface="+mj-lt"/>
              </a:rPr>
              <a:t>Relational Operators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200" dirty="0">
                <a:latin typeface="+mj-lt"/>
              </a:rPr>
              <a:t>Conditional Expressions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200" dirty="0">
                <a:latin typeface="+mj-lt"/>
              </a:rPr>
              <a:t>Logical Operators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200" dirty="0">
                <a:latin typeface="+mj-lt"/>
              </a:rPr>
              <a:t>Bitwise Operators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200" dirty="0">
                <a:latin typeface="+mj-lt"/>
              </a:rPr>
              <a:t>Pointer Operators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200" dirty="0">
                <a:latin typeface="+mj-lt"/>
              </a:rPr>
              <a:t>Precedence and Associative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200" dirty="0">
                <a:latin typeface="+mj-lt"/>
              </a:rPr>
              <a:t>Exercise 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0B6CCC-2ACB-D019-B8F0-FA2ADA2D41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566226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D9BEF-9542-7100-1D62-738DD1E84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Operator and Operand 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571B89-20C8-3334-2B4D-61CE8AA817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58487A-CC6E-01E0-FD53-981205337EC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657600"/>
            <a:ext cx="19568673" cy="8186342"/>
          </a:xfrm>
        </p:spPr>
        <p:txBody>
          <a:bodyPr>
            <a:normAutofit/>
          </a:bodyPr>
          <a:lstStyle/>
          <a:p>
            <a:pPr algn="just">
              <a:spcBef>
                <a:spcPts val="1200"/>
              </a:spcBef>
            </a:pPr>
            <a:r>
              <a:rPr lang="en-US" altLang="en-US" sz="36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Operator</a:t>
            </a: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is a symbol to process values in result for a new value</a:t>
            </a:r>
          </a:p>
          <a:p>
            <a:pPr algn="just">
              <a:spcBef>
                <a:spcPts val="1200"/>
              </a:spcBef>
            </a:pPr>
            <a:r>
              <a:rPr lang="en-US" altLang="en-US" sz="36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Operand</a:t>
            </a: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is part which specifies what data is to be manipulated or operated on</a:t>
            </a:r>
          </a:p>
          <a:p>
            <a:pPr algn="just">
              <a:spcBef>
                <a:spcPts val="1200"/>
              </a:spcBef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Example  :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36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	</a:t>
            </a:r>
            <a:r>
              <a:rPr lang="en-US" altLang="en-US" sz="40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C = A + B	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36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	</a:t>
            </a:r>
          </a:p>
          <a:p>
            <a:pPr marL="0" indent="0">
              <a:spcBef>
                <a:spcPts val="1200"/>
              </a:spcBef>
              <a:buNone/>
            </a:pPr>
            <a:endParaRPr lang="en-US" altLang="en-US" sz="3600" b="1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algn="just">
              <a:spcBef>
                <a:spcPts val="1200"/>
              </a:spcBef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Based on its </a:t>
            </a:r>
            <a:r>
              <a:rPr lang="en-US" altLang="en-US" sz="36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operand number</a:t>
            </a: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, operator can be divided into three: </a:t>
            </a:r>
          </a:p>
          <a:p>
            <a:pPr marL="1195388" lvl="1" indent="-571500" algn="just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Unary operator		(needs one operand)</a:t>
            </a:r>
          </a:p>
          <a:p>
            <a:pPr marL="1195388" lvl="1" indent="-571500" algn="just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Binary operator		(needs two operands)</a:t>
            </a:r>
          </a:p>
          <a:p>
            <a:pPr marL="1195388" lvl="1" indent="-571500" algn="just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Ternary operator		(needs three operands)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DB9FA3-2171-C910-0B3C-4D32DC8BC0A3}"/>
              </a:ext>
            </a:extLst>
          </p:cNvPr>
          <p:cNvSpPr txBox="1"/>
          <p:nvPr/>
        </p:nvSpPr>
        <p:spPr>
          <a:xfrm>
            <a:off x="3777537" y="6548713"/>
            <a:ext cx="11495248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= and + sign are </a:t>
            </a:r>
            <a:r>
              <a:rPr kumimoji="0" lang="en-US" sz="32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operators</a:t>
            </a: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, A, B and C are </a:t>
            </a:r>
            <a:r>
              <a:rPr kumimoji="0" lang="en-US" sz="32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operands</a:t>
            </a:r>
          </a:p>
        </p:txBody>
      </p:sp>
    </p:spTree>
    <p:extLst>
      <p:ext uri="{BB962C8B-B14F-4D97-AF65-F5344CB8AC3E}">
        <p14:creationId xmlns:p14="http://schemas.microsoft.com/office/powerpoint/2010/main" val="85200880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34957-0E93-1CD9-E536-EB04FF699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E90C-7F33-3F6C-EC48-973EF4E0C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Operator and Operand 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836374-F1B4-C133-58F2-3B07467130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C3FE71-3A71-0A50-A550-DF4B23EBB03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657600"/>
            <a:ext cx="19568673" cy="8186342"/>
          </a:xfrm>
        </p:spPr>
        <p:txBody>
          <a:bodyPr>
            <a:normAutofit/>
          </a:bodyPr>
          <a:lstStyle/>
          <a:p>
            <a:pPr algn="just">
              <a:spcBef>
                <a:spcPts val="1200"/>
              </a:spcBef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Based on its </a:t>
            </a:r>
            <a:r>
              <a:rPr lang="en-US" altLang="en-US" sz="36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operation type</a:t>
            </a: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, operator can be grouped as:</a:t>
            </a:r>
          </a:p>
          <a:p>
            <a:pPr marL="1195388" lvl="1" indent="-571500" algn="just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Assignment Operator</a:t>
            </a:r>
          </a:p>
          <a:p>
            <a:pPr marL="1195388" lvl="1" indent="-571500" algn="just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Logical Operator</a:t>
            </a:r>
          </a:p>
          <a:p>
            <a:pPr marL="1195388" lvl="1" indent="-571500" algn="just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Arithmetic Operator</a:t>
            </a:r>
          </a:p>
          <a:p>
            <a:pPr marL="1195388" lvl="1" indent="-571500" algn="just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Relational Operator</a:t>
            </a:r>
          </a:p>
          <a:p>
            <a:pPr marL="1195388" lvl="1" indent="-571500" algn="just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Bitwise Operator</a:t>
            </a:r>
          </a:p>
          <a:p>
            <a:pPr marL="1195388" lvl="1" indent="-571500" algn="just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Pointer Operator</a:t>
            </a:r>
          </a:p>
        </p:txBody>
      </p:sp>
    </p:spTree>
    <p:extLst>
      <p:ext uri="{BB962C8B-B14F-4D97-AF65-F5344CB8AC3E}">
        <p14:creationId xmlns:p14="http://schemas.microsoft.com/office/powerpoint/2010/main" val="1571411344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BBD4D-C329-348E-BA20-0AA7EE550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275EC-C40E-39EC-1B45-956F7BA94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ASSIGNMENT OPERATOR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842654-FDA8-0412-3D04-01FD33228A7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 &amp; 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92AC68-EFC7-14CA-1E49-33FEC04109B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19454373" cy="8186342"/>
          </a:xfrm>
        </p:spPr>
        <p:txBody>
          <a:bodyPr>
            <a:normAutofit/>
          </a:bodyPr>
          <a:lstStyle/>
          <a:p>
            <a:pPr algn="just">
              <a:spcBef>
                <a:spcPts val="1200"/>
              </a:spcBef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A binary operator</a:t>
            </a:r>
          </a:p>
          <a:p>
            <a:pPr algn="just">
              <a:spcBef>
                <a:spcPts val="1200"/>
              </a:spcBef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Used in assigning value to an operand</a:t>
            </a:r>
          </a:p>
          <a:p>
            <a:pPr algn="just">
              <a:spcBef>
                <a:spcPts val="1200"/>
              </a:spcBef>
            </a:pP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Syntax: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4000" b="1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Operand1 </a:t>
            </a:r>
            <a:r>
              <a:rPr lang="en-US" altLang="en-US" sz="4000" b="1" dirty="0">
                <a:solidFill>
                  <a:srgbClr val="FF0000"/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=</a:t>
            </a:r>
            <a:r>
              <a:rPr lang="en-US" altLang="en-US" sz="4000" b="1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Operand2;</a:t>
            </a:r>
          </a:p>
          <a:p>
            <a:pPr marL="1195388" lvl="1" indent="-571500" algn="just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Left hand side operand (</a:t>
            </a: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Operand1</a:t>
            </a: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) should have (L-Value) such as variable</a:t>
            </a:r>
          </a:p>
          <a:p>
            <a:pPr marL="1195388" lvl="1" indent="-5715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Right hand side operand (</a:t>
            </a: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Operand2</a:t>
            </a: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) can be constant, another variable, expression or function</a:t>
            </a:r>
          </a:p>
          <a:p>
            <a:pPr marL="623888" lvl="1" indent="0">
              <a:spcBef>
                <a:spcPts val="1200"/>
              </a:spcBef>
              <a:buNone/>
            </a:pPr>
            <a:endParaRPr lang="en-US" altLang="en-US" sz="32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>
              <a:spcBef>
                <a:spcPts val="1200"/>
              </a:spcBef>
            </a:pP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Example:</a:t>
            </a:r>
          </a:p>
        </p:txBody>
      </p:sp>
      <p:pic>
        <p:nvPicPr>
          <p:cNvPr id="6" name="Picture 5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93429D44-DFB0-C1E4-816E-09F9AB90F4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9291" y="7963542"/>
            <a:ext cx="15244706" cy="4678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264172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7643C-73B2-A60A-8DFE-386DAED94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7269D-63CC-E7B2-DFCD-5032F5406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ARITHMETIC OPERATOR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66D2F3-3F17-DA30-57BC-A851281C2F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pic>
        <p:nvPicPr>
          <p:cNvPr id="9" name="table">
            <a:extLst>
              <a:ext uri="{FF2B5EF4-FFF2-40B4-BE49-F238E27FC236}">
                <a16:creationId xmlns:a16="http://schemas.microsoft.com/office/drawing/2014/main" id="{F6BF19D0-B4F3-C156-9720-9C24B1CBA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6777" y="3666089"/>
            <a:ext cx="14458950" cy="8637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173716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37EF0-7F01-501E-A336-575B6A808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2F004-29FA-2886-8A3A-132DF544F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ARITHMETIC OPERATOR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D62665-5BE0-BB3F-F2C9-FF715D3948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 &amp; EXAMPLE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74367EBD-83D7-968F-2858-A626A8BAA3D4}"/>
              </a:ext>
            </a:extLst>
          </p:cNvPr>
          <p:cNvSpPr txBox="1">
            <a:spLocks/>
          </p:cNvSpPr>
          <p:nvPr/>
        </p:nvSpPr>
        <p:spPr>
          <a:xfrm>
            <a:off x="2167377" y="3223274"/>
            <a:ext cx="13529823" cy="8778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spcBef>
                <a:spcPts val="1200"/>
              </a:spcBef>
              <a:buFontTx/>
              <a:buNone/>
            </a:pP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Modulo</a:t>
            </a:r>
          </a:p>
          <a:p>
            <a:pPr algn="just">
              <a:spcBef>
                <a:spcPts val="1200"/>
              </a:spcBef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Symbol : %</a:t>
            </a:r>
          </a:p>
          <a:p>
            <a:pPr algn="just">
              <a:spcBef>
                <a:spcPts val="1200"/>
              </a:spcBef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Binary operator</a:t>
            </a:r>
          </a:p>
          <a:p>
            <a:pPr algn="just">
              <a:spcBef>
                <a:spcPts val="1200"/>
              </a:spcBef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To find remainder of a division</a:t>
            </a:r>
          </a:p>
          <a:p>
            <a:pPr algn="just">
              <a:spcBef>
                <a:spcPts val="1200"/>
              </a:spcBef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N%2, can be used to find an odd or even number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N%2 = 0 </a:t>
            </a: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  <a:sym typeface="Wingdings" panose="05000000000000000000" pitchFamily="2" charset="2"/>
              </a:rPr>
              <a:t></a:t>
            </a: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 N is even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N%2 = 1 </a:t>
            </a: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  <a:sym typeface="Wingdings" panose="05000000000000000000" pitchFamily="2" charset="2"/>
              </a:rPr>
              <a:t></a:t>
            </a: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 N is odd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2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Increment and Decrement</a:t>
            </a:r>
          </a:p>
          <a:p>
            <a:pPr algn="just">
              <a:spcBef>
                <a:spcPts val="1200"/>
              </a:spcBef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Symbol : ++(increment), --(decrement)</a:t>
            </a:r>
          </a:p>
          <a:p>
            <a:pPr algn="just">
              <a:spcBef>
                <a:spcPts val="1200"/>
              </a:spcBef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Unary operator</a:t>
            </a:r>
          </a:p>
          <a:p>
            <a:pPr algn="just">
              <a:spcBef>
                <a:spcPts val="1200"/>
              </a:spcBef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Increase (++) and decrease (--) the value of a variable by 1.</a:t>
            </a:r>
          </a:p>
          <a:p>
            <a:pPr algn="just">
              <a:spcBef>
                <a:spcPts val="1200"/>
              </a:spcBef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Its position can be in the front (pre) or after (post) a variable.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2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algn="just">
              <a:spcBef>
                <a:spcPts val="1200"/>
              </a:spcBef>
            </a:pPr>
            <a:endParaRPr lang="en-US" altLang="en-US" sz="32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505327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1AE0C-6895-60B5-F184-CB004318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BABB1-99B9-7672-7827-F1A64F7C2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ARITHMETIC OPERATOR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CD585D-367E-F278-D7F3-233FD60826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INCREMENT &amp; DECREMENT EXAMPLE</a:t>
            </a:r>
          </a:p>
        </p:txBody>
      </p:sp>
      <p:pic>
        <p:nvPicPr>
          <p:cNvPr id="7" name="Picture 6" descr="A close-up of blue text&#10;&#10;AI-generated content may be incorrect.">
            <a:extLst>
              <a:ext uri="{FF2B5EF4-FFF2-40B4-BE49-F238E27FC236}">
                <a16:creationId xmlns:a16="http://schemas.microsoft.com/office/drawing/2014/main" id="{2926B33E-4A38-26E0-C9F6-D3CC51A558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365"/>
          <a:stretch/>
        </p:blipFill>
        <p:spPr>
          <a:xfrm>
            <a:off x="2167377" y="3505307"/>
            <a:ext cx="8729223" cy="277662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CADC757-7905-FEB9-007B-F56D4AB90DEF}"/>
              </a:ext>
            </a:extLst>
          </p:cNvPr>
          <p:cNvSpPr txBox="1"/>
          <p:nvPr/>
        </p:nvSpPr>
        <p:spPr>
          <a:xfrm>
            <a:off x="11197629" y="4022577"/>
            <a:ext cx="7547573" cy="1742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 eaLnBrk="1" hangingPunct="1">
              <a:lnSpc>
                <a:spcPct val="114000"/>
              </a:lnSpc>
            </a:pPr>
            <a:r>
              <a:rPr lang="en-US" altLang="en-US" sz="3200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</a:rPr>
              <a:t>If a stand-alone statement: </a:t>
            </a:r>
          </a:p>
          <a:p>
            <a:pPr lvl="1" algn="l" hangingPunct="1">
              <a:lnSpc>
                <a:spcPct val="114000"/>
              </a:lnSpc>
            </a:pPr>
            <a:r>
              <a:rPr lang="en-US" altLang="en-US" sz="3200" b="1" dirty="0">
                <a:solidFill>
                  <a:schemeClr val="bg2">
                    <a:lumMod val="10000"/>
                  </a:schemeClr>
                </a:solidFill>
                <a:latin typeface="+mj-lt"/>
                <a:ea typeface="Tahoma" pitchFamily="34" charset="0"/>
                <a:cs typeface="Courier New" pitchFamily="49" charset="0"/>
              </a:rPr>
              <a:t>n++ </a:t>
            </a:r>
            <a:r>
              <a:rPr lang="en-US" altLang="en-US" sz="3200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</a:rPr>
              <a:t>or </a:t>
            </a:r>
            <a:r>
              <a:rPr lang="en-US" altLang="en-US" sz="3200" b="1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</a:rPr>
              <a:t>++n</a:t>
            </a:r>
            <a:r>
              <a:rPr lang="en-US" altLang="en-US" sz="3200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</a:rPr>
              <a:t> equal to </a:t>
            </a:r>
            <a:r>
              <a:rPr lang="en-US" altLang="en-US" sz="3200" b="1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</a:rPr>
              <a:t>n=n+1;</a:t>
            </a:r>
          </a:p>
          <a:p>
            <a:pPr lvl="1" algn="l" hangingPunct="1">
              <a:lnSpc>
                <a:spcPct val="114000"/>
              </a:lnSpc>
            </a:pPr>
            <a:r>
              <a:rPr lang="en-US" altLang="en-US" sz="3200" b="1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</a:rPr>
              <a:t>n-- </a:t>
            </a:r>
            <a:r>
              <a:rPr lang="en-US" altLang="en-US" sz="3200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</a:rPr>
              <a:t>or </a:t>
            </a:r>
            <a:r>
              <a:rPr lang="en-US" altLang="en-US" sz="3200" b="1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</a:rPr>
              <a:t>--n </a:t>
            </a:r>
            <a:r>
              <a:rPr lang="en-US" altLang="en-US" sz="3200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</a:rPr>
              <a:t>equal to </a:t>
            </a:r>
            <a:r>
              <a:rPr lang="en-US" altLang="en-US" sz="3200" b="1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</a:rPr>
              <a:t>n=n-1;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AE11FCB-8B79-48FC-60EF-81555D361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376" y="6563960"/>
            <a:ext cx="9434073" cy="643179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B957239-9EF3-4F4D-DD5B-3357A99F1680}"/>
              </a:ext>
            </a:extLst>
          </p:cNvPr>
          <p:cNvSpPr txBox="1"/>
          <p:nvPr/>
        </p:nvSpPr>
        <p:spPr>
          <a:xfrm>
            <a:off x="12192000" y="6772116"/>
            <a:ext cx="4933950" cy="2133918"/>
          </a:xfrm>
          <a:prstGeom prst="rect">
            <a:avLst/>
          </a:prstGeom>
          <a:noFill/>
          <a:ln w="12700" cap="flat">
            <a:solidFill>
              <a:schemeClr val="bg2">
                <a:lumMod val="1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400" b="1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Output:</a:t>
            </a:r>
          </a:p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4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45</a:t>
            </a:r>
          </a:p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4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 = 45</a:t>
            </a:r>
          </a:p>
        </p:txBody>
      </p:sp>
    </p:spTree>
    <p:extLst>
      <p:ext uri="{BB962C8B-B14F-4D97-AF65-F5344CB8AC3E}">
        <p14:creationId xmlns:p14="http://schemas.microsoft.com/office/powerpoint/2010/main" val="4053727031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646AF-AE53-18BB-1320-A8177F26C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4ECDA-09A0-D2A8-724B-A3E21B67E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ARITHMETIC OPERATOR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A4774-29DE-9D5D-357A-88F566E419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INCREMENT &amp; DECREMENT EXAMPLE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21C3619-8FD4-8475-4B13-62546F6B46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42"/>
          <a:stretch/>
        </p:blipFill>
        <p:spPr>
          <a:xfrm>
            <a:off x="2198108" y="3747291"/>
            <a:ext cx="9365242" cy="67174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46112F-151F-59EE-565B-0A30675D2341}"/>
              </a:ext>
            </a:extLst>
          </p:cNvPr>
          <p:cNvSpPr txBox="1"/>
          <p:nvPr/>
        </p:nvSpPr>
        <p:spPr>
          <a:xfrm>
            <a:off x="11936252" y="3747291"/>
            <a:ext cx="11076148" cy="57378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 eaLnBrk="1" hangingPunct="1">
              <a:lnSpc>
                <a:spcPct val="114000"/>
              </a:lnSpc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</a:rPr>
              <a:t>If ++n and n++ or --n and n-- as a bounded statement (sub expression), they have a different meaning:</a:t>
            </a:r>
          </a:p>
          <a:p>
            <a:pPr lvl="1" indent="0" algn="l" hangingPunct="1">
              <a:lnSpc>
                <a:spcPct val="114000"/>
              </a:lnSpc>
            </a:pPr>
            <a:endParaRPr lang="en-US" altLang="en-US" sz="3600" b="1" dirty="0">
              <a:solidFill>
                <a:schemeClr val="bg2">
                  <a:lumMod val="10000"/>
                </a:schemeClr>
              </a:solidFill>
              <a:latin typeface="+mj-lt"/>
              <a:cs typeface="Tahoma" pitchFamily="34" charset="0"/>
            </a:endParaRPr>
          </a:p>
          <a:p>
            <a:pPr lvl="1" indent="0" algn="l" hangingPunct="1">
              <a:lnSpc>
                <a:spcPct val="114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</a:rPr>
              <a:t>++n</a:t>
            </a:r>
          </a:p>
          <a:p>
            <a:pPr lvl="1" indent="0" algn="l" hangingPunct="1">
              <a:lnSpc>
                <a:spcPct val="114000"/>
              </a:lnSpc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</a:rPr>
              <a:t>n add by 1, then continue to process its expression</a:t>
            </a:r>
          </a:p>
          <a:p>
            <a:pPr algn="l" eaLnBrk="1" hangingPunct="1">
              <a:lnSpc>
                <a:spcPct val="114000"/>
              </a:lnSpc>
            </a:pPr>
            <a:endParaRPr lang="en-US" altLang="en-US" sz="3600" b="1" dirty="0">
              <a:solidFill>
                <a:schemeClr val="bg2">
                  <a:lumMod val="10000"/>
                </a:schemeClr>
              </a:solidFill>
              <a:latin typeface="+mj-lt"/>
              <a:cs typeface="Tahoma" pitchFamily="34" charset="0"/>
            </a:endParaRPr>
          </a:p>
          <a:p>
            <a:pPr algn="l" eaLnBrk="1" hangingPunct="1">
              <a:lnSpc>
                <a:spcPct val="114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</a:rPr>
              <a:t>n++</a:t>
            </a:r>
          </a:p>
          <a:p>
            <a:pPr algn="l" eaLnBrk="1" hangingPunct="1">
              <a:lnSpc>
                <a:spcPct val="114000"/>
              </a:lnSpc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</a:rPr>
              <a:t>process the expression initially, then add n by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B5B694-B63D-92F1-CFE1-14299CC8C052}"/>
              </a:ext>
            </a:extLst>
          </p:cNvPr>
          <p:cNvSpPr txBox="1"/>
          <p:nvPr/>
        </p:nvSpPr>
        <p:spPr>
          <a:xfrm>
            <a:off x="8011954" y="10229313"/>
            <a:ext cx="4933950" cy="2133918"/>
          </a:xfrm>
          <a:prstGeom prst="rect">
            <a:avLst/>
          </a:prstGeom>
          <a:noFill/>
          <a:ln w="12700" cap="flat">
            <a:solidFill>
              <a:schemeClr val="bg2">
                <a:lumMod val="1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400" b="1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Output:</a:t>
            </a:r>
          </a:p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4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 = 45</a:t>
            </a:r>
          </a:p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4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 = 44</a:t>
            </a:r>
          </a:p>
        </p:txBody>
      </p:sp>
    </p:spTree>
    <p:extLst>
      <p:ext uri="{BB962C8B-B14F-4D97-AF65-F5344CB8AC3E}">
        <p14:creationId xmlns:p14="http://schemas.microsoft.com/office/powerpoint/2010/main" val="2461600804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62243-5186-DF03-7724-07F7A3A84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D22E2-4CD9-8CD9-552B-0A3251120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ARITHMETIC OPERATOR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4A4EE1-590A-20D2-088B-78B230F57A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COMBINED OPERATOR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AD34F8-3989-2702-AC72-347B8A10CF0A}"/>
              </a:ext>
            </a:extLst>
          </p:cNvPr>
          <p:cNvSpPr txBox="1">
            <a:spLocks/>
          </p:cNvSpPr>
          <p:nvPr/>
        </p:nvSpPr>
        <p:spPr>
          <a:xfrm>
            <a:off x="2209065" y="3335732"/>
            <a:ext cx="19454373" cy="3922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ctr">
              <a:spcBef>
                <a:spcPts val="1200"/>
              </a:spcBef>
              <a:buNone/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Every expression using the following form:</a:t>
            </a:r>
          </a:p>
          <a:p>
            <a:pPr marL="0" indent="0" algn="ctr">
              <a:spcBef>
                <a:spcPts val="1200"/>
              </a:spcBef>
              <a:buNone/>
            </a:pPr>
            <a:r>
              <a:rPr lang="en-US" altLang="en-US" sz="3600" b="1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&lt;Variable&gt; = &lt;Variable&gt; &lt;Operator&gt; &lt;Exp&gt;;</a:t>
            </a:r>
          </a:p>
          <a:p>
            <a:pPr marL="0" indent="0" algn="ctr">
              <a:spcBef>
                <a:spcPts val="1200"/>
              </a:spcBef>
              <a:buNone/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has similar meaning with:</a:t>
            </a:r>
          </a:p>
          <a:p>
            <a:pPr marL="0" indent="0" algn="ctr">
              <a:spcBef>
                <a:spcPts val="1200"/>
              </a:spcBef>
              <a:buNone/>
            </a:pPr>
            <a:r>
              <a:rPr lang="en-US" altLang="en-US" sz="3600" b="1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&lt;Variable&gt; &lt;Operator&gt; = &lt;Exp&gt;;</a:t>
            </a:r>
          </a:p>
          <a:p>
            <a:pPr marL="0" indent="0" algn="ctr">
              <a:spcBef>
                <a:spcPts val="1200"/>
              </a:spcBef>
              <a:buNone/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or also known as:</a:t>
            </a:r>
          </a:p>
          <a:p>
            <a:pPr marL="0" indent="0" algn="ctr">
              <a:spcBef>
                <a:spcPts val="1200"/>
              </a:spcBef>
              <a:buNone/>
            </a:pPr>
            <a:r>
              <a:rPr lang="en-US" altLang="en-US" sz="36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Combined Operator</a:t>
            </a:r>
          </a:p>
          <a:p>
            <a:pPr marL="0" indent="0" algn="ctr">
              <a:spcBef>
                <a:spcPts val="1200"/>
              </a:spcBef>
              <a:buNone/>
            </a:pPr>
            <a:endParaRPr lang="en-US" altLang="en-US" sz="36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algn="ctr">
              <a:spcBef>
                <a:spcPts val="1200"/>
              </a:spcBef>
            </a:pPr>
            <a:endParaRPr lang="en-US" altLang="en-US" sz="36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graphicFrame>
        <p:nvGraphicFramePr>
          <p:cNvPr id="7" name="Group 4">
            <a:extLst>
              <a:ext uri="{FF2B5EF4-FFF2-40B4-BE49-F238E27FC236}">
                <a16:creationId xmlns:a16="http://schemas.microsoft.com/office/drawing/2014/main" id="{F8D73B8B-4BF7-3A9B-5B6B-724AD01F9D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0095784"/>
              </p:ext>
            </p:extLst>
          </p:nvPr>
        </p:nvGraphicFramePr>
        <p:xfrm>
          <a:off x="4640102" y="7827588"/>
          <a:ext cx="14592299" cy="4907196"/>
        </p:xfrm>
        <a:graphic>
          <a:graphicData uri="http://schemas.openxmlformats.org/drawingml/2006/table">
            <a:tbl>
              <a:tblPr/>
              <a:tblGrid>
                <a:gridCol w="6934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580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794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Expression</a:t>
                      </a:r>
                      <a:endParaRPr kumimoji="0" lang="en-US" sz="4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+mj-lt"/>
                        <a:cs typeface="Tahoma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Combined Operator</a:t>
                      </a:r>
                      <a:endParaRPr kumimoji="0" lang="en-US" sz="4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+mj-lt"/>
                        <a:cs typeface="Tahoma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953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a = a + b;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a += b;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953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a = a – b;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a -= b;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953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a = a * b;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a *= b;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38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a = a / b;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a /= b;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6667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a = a % b;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a %= b;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08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a = a ^ b ;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a ^= b;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3413907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E73DE-FCD5-7616-2B96-854B062AB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8252D-777F-FFD9-2E6A-6F03E502D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ARITHMETIC OPERATOR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2897C6-140E-AF60-479E-3F45546EC4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1FF83EC0-E444-87F5-330B-DA12EB98D3D4}"/>
              </a:ext>
            </a:extLst>
          </p:cNvPr>
          <p:cNvSpPr txBox="1">
            <a:spLocks/>
          </p:cNvSpPr>
          <p:nvPr/>
        </p:nvSpPr>
        <p:spPr>
          <a:xfrm>
            <a:off x="2167377" y="3223274"/>
            <a:ext cx="13529823" cy="8778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spcBef>
                <a:spcPts val="1200"/>
              </a:spcBef>
              <a:buFontTx/>
              <a:buNone/>
            </a:pPr>
            <a:r>
              <a:rPr lang="es-ES" altLang="en-US" sz="40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x *= y +1;  has similar </a:t>
            </a:r>
            <a:r>
              <a:rPr lang="es-ES" altLang="en-US" sz="4000" dirty="0" err="1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meaning</a:t>
            </a:r>
            <a:r>
              <a:rPr lang="es-ES" altLang="en-US" sz="40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s-ES" altLang="en-US" sz="4000" dirty="0" err="1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with</a:t>
            </a:r>
            <a:r>
              <a:rPr lang="es-ES" altLang="en-US" sz="40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?</a:t>
            </a:r>
          </a:p>
          <a:p>
            <a:pPr marL="0" indent="0" algn="just">
              <a:spcBef>
                <a:spcPts val="1200"/>
              </a:spcBef>
              <a:buFontTx/>
              <a:buNone/>
            </a:pPr>
            <a:endParaRPr lang="es-ES" altLang="en-US" sz="40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514350" indent="-514350" algn="just">
              <a:spcBef>
                <a:spcPts val="1200"/>
              </a:spcBef>
              <a:buSzPct val="100000"/>
              <a:buFontTx/>
              <a:buAutoNum type="alphaLcParenR"/>
            </a:pPr>
            <a:r>
              <a:rPr lang="es-ES" altLang="en-US" sz="40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x = x * (y + 1);</a:t>
            </a:r>
          </a:p>
          <a:p>
            <a:pPr marL="514350" indent="-514350" algn="just">
              <a:spcBef>
                <a:spcPts val="1200"/>
              </a:spcBef>
              <a:buSzPct val="100000"/>
              <a:buFontTx/>
              <a:buAutoNum type="alphaLcParenR"/>
            </a:pPr>
            <a:r>
              <a:rPr lang="es-ES" altLang="en-US" sz="40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x = x * y + 1;</a:t>
            </a:r>
          </a:p>
          <a:p>
            <a:pPr marL="514350" indent="-514350" algn="just">
              <a:spcBef>
                <a:spcPts val="1200"/>
              </a:spcBef>
              <a:buSzPct val="100000"/>
              <a:buFontTx/>
              <a:buAutoNum type="alphaLcParenR"/>
            </a:pPr>
            <a:r>
              <a:rPr lang="es-ES" altLang="en-US" sz="40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x = x + 1 * y;</a:t>
            </a:r>
          </a:p>
          <a:p>
            <a:pPr marL="514350" indent="-514350" algn="just">
              <a:spcBef>
                <a:spcPts val="1200"/>
              </a:spcBef>
              <a:buSzPct val="100000"/>
              <a:buFontTx/>
              <a:buAutoNum type="alphaLcParenR"/>
            </a:pPr>
            <a:r>
              <a:rPr lang="es-ES" altLang="en-US" sz="40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x = (x + 1) * y;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2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algn="just">
              <a:spcBef>
                <a:spcPts val="1200"/>
              </a:spcBef>
            </a:pPr>
            <a:endParaRPr lang="en-US" altLang="en-US" sz="32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8916500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5A589-7F73-A395-E035-C9E4C558C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B875C-3E38-FAE2-C960-C081C2D02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ARITHMETIC OPERATOR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C1F3FB-9848-9A74-0576-18BC42B286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C7A8CA8-04F6-42D2-B62E-4DB079D741DD}"/>
              </a:ext>
            </a:extLst>
          </p:cNvPr>
          <p:cNvSpPr txBox="1">
            <a:spLocks/>
          </p:cNvSpPr>
          <p:nvPr/>
        </p:nvSpPr>
        <p:spPr>
          <a:xfrm>
            <a:off x="2167377" y="3223274"/>
            <a:ext cx="13529823" cy="8778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spcBef>
                <a:spcPts val="1200"/>
              </a:spcBef>
              <a:buFontTx/>
              <a:buNone/>
            </a:pPr>
            <a:r>
              <a:rPr lang="es-ES" altLang="en-US" sz="40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x *= y +1;  has similar </a:t>
            </a:r>
            <a:r>
              <a:rPr lang="es-ES" altLang="en-US" sz="4000" dirty="0" err="1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meaning</a:t>
            </a:r>
            <a:r>
              <a:rPr lang="es-ES" altLang="en-US" sz="40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s-ES" altLang="en-US" sz="4000" dirty="0" err="1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with</a:t>
            </a:r>
            <a:r>
              <a:rPr lang="es-ES" altLang="en-US" sz="40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?</a:t>
            </a:r>
          </a:p>
          <a:p>
            <a:pPr marL="0" indent="0" algn="just">
              <a:spcBef>
                <a:spcPts val="1200"/>
              </a:spcBef>
              <a:buFontTx/>
              <a:buNone/>
            </a:pPr>
            <a:endParaRPr lang="es-ES" altLang="en-US" sz="40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514350" indent="-514350" algn="just">
              <a:spcBef>
                <a:spcPts val="1200"/>
              </a:spcBef>
              <a:buSzPct val="100000"/>
              <a:buFontTx/>
              <a:buAutoNum type="alphaLcParenR"/>
            </a:pPr>
            <a:r>
              <a:rPr lang="es-ES" altLang="en-US" sz="40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x = x * (y + 1);</a:t>
            </a:r>
          </a:p>
          <a:p>
            <a:pPr marL="514350" indent="-514350" algn="just">
              <a:spcBef>
                <a:spcPts val="1200"/>
              </a:spcBef>
              <a:buSzPct val="100000"/>
              <a:buFontTx/>
              <a:buAutoNum type="alphaLcParenR"/>
            </a:pPr>
            <a:r>
              <a:rPr lang="es-ES" altLang="en-US" sz="40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x = x * y + 1;</a:t>
            </a:r>
          </a:p>
          <a:p>
            <a:pPr marL="514350" indent="-514350" algn="just">
              <a:spcBef>
                <a:spcPts val="1200"/>
              </a:spcBef>
              <a:buSzPct val="100000"/>
              <a:buFontTx/>
              <a:buAutoNum type="alphaLcParenR"/>
            </a:pPr>
            <a:r>
              <a:rPr lang="es-ES" altLang="en-US" sz="40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x = x + 1 * y;</a:t>
            </a:r>
          </a:p>
          <a:p>
            <a:pPr marL="514350" indent="-514350" algn="just">
              <a:spcBef>
                <a:spcPts val="1200"/>
              </a:spcBef>
              <a:buSzPct val="100000"/>
              <a:buFontTx/>
              <a:buAutoNum type="alphaLcParenR"/>
            </a:pPr>
            <a:r>
              <a:rPr lang="es-ES" altLang="en-US" sz="40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x = (x + 1) * y;</a:t>
            </a:r>
          </a:p>
          <a:p>
            <a:pPr marL="0" indent="0" algn="just">
              <a:spcBef>
                <a:spcPts val="1200"/>
              </a:spcBef>
              <a:buFontTx/>
              <a:buNone/>
            </a:pPr>
            <a:endParaRPr lang="en-US" altLang="en-US" sz="32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indent="0" algn="just">
              <a:spcBef>
                <a:spcPts val="1200"/>
              </a:spcBef>
              <a:buFontTx/>
              <a:buNone/>
            </a:pPr>
            <a:r>
              <a:rPr lang="en-US" altLang="en-US" sz="40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Answer: a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2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algn="just">
              <a:spcBef>
                <a:spcPts val="1200"/>
              </a:spcBef>
            </a:pPr>
            <a:endParaRPr lang="en-US" altLang="en-US" sz="32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9852628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00426-CF80-42A7-0D19-ECAAA400B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1F7B9-BED9-AB20-1B6F-3213C121A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Relational OPERATOR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05E310-EF83-6362-8319-6D2C2475EB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4F17B-0FD9-1AAE-FC8C-7806BBDADBAA}"/>
              </a:ext>
            </a:extLst>
          </p:cNvPr>
          <p:cNvSpPr txBox="1">
            <a:spLocks/>
          </p:cNvSpPr>
          <p:nvPr/>
        </p:nvSpPr>
        <p:spPr>
          <a:xfrm>
            <a:off x="2167377" y="3223274"/>
            <a:ext cx="19778223" cy="3006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Used to compare values with TRUE or FALSE result</a:t>
            </a:r>
          </a:p>
          <a:p>
            <a:pPr algn="just">
              <a:spcBef>
                <a:spcPts val="1200"/>
              </a:spcBef>
            </a:pP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FALSE</a:t>
            </a: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in C language equals to the value of </a:t>
            </a: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0</a:t>
            </a:r>
          </a:p>
          <a:p>
            <a:pPr algn="just">
              <a:spcBef>
                <a:spcPts val="1200"/>
              </a:spcBef>
            </a:pP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TRUE</a:t>
            </a: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on the other hand </a:t>
            </a: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not equal to 0</a:t>
            </a:r>
          </a:p>
          <a:p>
            <a:pPr algn="just">
              <a:spcBef>
                <a:spcPts val="1200"/>
              </a:spcBef>
            </a:pP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TRUE</a:t>
            </a: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set by a C program at run time equal to the value of </a:t>
            </a: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1</a:t>
            </a:r>
          </a:p>
          <a:p>
            <a:pPr algn="just">
              <a:spcBef>
                <a:spcPts val="1200"/>
              </a:spcBef>
            </a:pPr>
            <a:endParaRPr lang="en-US" altLang="en-US" sz="32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graphicFrame>
        <p:nvGraphicFramePr>
          <p:cNvPr id="5" name="Group 33">
            <a:extLst>
              <a:ext uri="{FF2B5EF4-FFF2-40B4-BE49-F238E27FC236}">
                <a16:creationId xmlns:a16="http://schemas.microsoft.com/office/drawing/2014/main" id="{2E3A313F-5FF7-F55C-06E7-8612805CB9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305048"/>
              </p:ext>
            </p:extLst>
          </p:nvPr>
        </p:nvGraphicFramePr>
        <p:xfrm>
          <a:off x="5192552" y="6498785"/>
          <a:ext cx="13487400" cy="5120640"/>
        </p:xfrm>
        <a:graphic>
          <a:graphicData uri="http://schemas.openxmlformats.org/drawingml/2006/table">
            <a:tbl>
              <a:tblPr/>
              <a:tblGrid>
                <a:gridCol w="32618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255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Symbol</a:t>
                      </a:r>
                      <a:endParaRPr kumimoji="0" lang="en-US" sz="36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Functionality</a:t>
                      </a:r>
                      <a:endParaRPr kumimoji="0" lang="en-US" sz="3600" b="0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==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Equality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!=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Not equal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&lt;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Less than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&gt;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Greater than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&lt;=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Less or equal than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&gt;=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Greater or equal than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?: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Conditional assignment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5174128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B990C-F501-5FE6-1D14-ED570BA00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55D39-A4D7-9A92-FC5E-F857BAE7B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Relational OPERATOR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8633A8-CABD-6BDD-B5AC-29B92B75B4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9" name="Picture 8" descr="A computer code with text&#10;&#10;AI-generated content may be incorrect.">
            <a:extLst>
              <a:ext uri="{FF2B5EF4-FFF2-40B4-BE49-F238E27FC236}">
                <a16:creationId xmlns:a16="http://schemas.microsoft.com/office/drawing/2014/main" id="{99E76DE8-FC9E-CF6B-8F3D-B18076F289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7376" y="7198064"/>
            <a:ext cx="13796524" cy="60582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9B0DD16-DAAD-7AC4-4494-98DCF7D8BB61}"/>
              </a:ext>
            </a:extLst>
          </p:cNvPr>
          <p:cNvSpPr txBox="1"/>
          <p:nvPr/>
        </p:nvSpPr>
        <p:spPr>
          <a:xfrm>
            <a:off x="15106650" y="7744538"/>
            <a:ext cx="7777046" cy="2564805"/>
          </a:xfrm>
          <a:prstGeom prst="rect">
            <a:avLst/>
          </a:prstGeom>
          <a:noFill/>
          <a:ln w="12700" cap="flat">
            <a:solidFill>
              <a:schemeClr val="bg2">
                <a:lumMod val="1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000" b="1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Output:</a:t>
            </a:r>
          </a:p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 not equal 6</a:t>
            </a:r>
          </a:p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 less than 6</a:t>
            </a:r>
          </a:p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 less or equal than 6</a:t>
            </a:r>
          </a:p>
        </p:txBody>
      </p:sp>
      <p:pic>
        <p:nvPicPr>
          <p:cNvPr id="15" name="Picture 1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E76259A9-266E-F240-F410-B59E8464FA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7376" y="3260663"/>
            <a:ext cx="7681474" cy="380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677010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E3BF2-D28A-E143-2BFD-B75BDBE7E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58485-E967-9298-5D64-E94ECBF71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Conditional Expressions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0F0AD7-E2DD-6BE7-7507-7D5CD459A7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5BC059-48DB-B80A-E459-CD4CAB1EFA3A}"/>
              </a:ext>
            </a:extLst>
          </p:cNvPr>
          <p:cNvSpPr txBox="1">
            <a:spLocks/>
          </p:cNvSpPr>
          <p:nvPr/>
        </p:nvSpPr>
        <p:spPr>
          <a:xfrm>
            <a:off x="2167377" y="3676650"/>
            <a:ext cx="20254473" cy="8362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just">
              <a:spcBef>
                <a:spcPts val="1200"/>
              </a:spcBef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Given the following statement: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if(a &gt; b)  z = a;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else z = b;</a:t>
            </a:r>
          </a:p>
          <a:p>
            <a:pPr algn="just">
              <a:spcBef>
                <a:spcPts val="1200"/>
              </a:spcBef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The above statement can be reformed to a conditional expression using </a:t>
            </a:r>
            <a:r>
              <a:rPr lang="en-US" altLang="en-US" sz="36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ternary operator</a:t>
            </a:r>
          </a:p>
          <a:p>
            <a:pPr algn="just">
              <a:spcBef>
                <a:spcPts val="1200"/>
              </a:spcBef>
            </a:pPr>
            <a:r>
              <a:rPr lang="en-US" altLang="en-US" sz="36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Syntax : 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3600" b="1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exp1 ? exp2 : exp3;</a:t>
            </a:r>
          </a:p>
          <a:p>
            <a:pPr algn="just">
              <a:spcBef>
                <a:spcPts val="1200"/>
              </a:spcBef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Example  (similar meaning with the above statement):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3600" b="1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z = (a &gt; b) ? a : b;</a:t>
            </a:r>
          </a:p>
          <a:p>
            <a:pPr algn="just">
              <a:spcBef>
                <a:spcPts val="1200"/>
              </a:spcBef>
            </a:pPr>
            <a:endParaRPr lang="en-US" altLang="en-US" sz="36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3436660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F4283-7CB7-DE57-DD10-B7727318A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30C79-D957-4125-B31B-8D482D0D0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Conditional Expressions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13B740-71B8-0D94-5057-6B5F4A4C187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6" name="Picture 5" descr="A white background with numbers and symbols&#10;&#10;AI-generated content may be incorrect.">
            <a:extLst>
              <a:ext uri="{FF2B5EF4-FFF2-40B4-BE49-F238E27FC236}">
                <a16:creationId xmlns:a16="http://schemas.microsoft.com/office/drawing/2014/main" id="{F3A84AE4-4D68-3972-BF5B-3FE3FC394F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15"/>
          <a:stretch/>
        </p:blipFill>
        <p:spPr>
          <a:xfrm>
            <a:off x="2167377" y="3468109"/>
            <a:ext cx="10538973" cy="4605674"/>
          </a:xfrm>
          <a:prstGeom prst="rect">
            <a:avLst/>
          </a:prstGeom>
        </p:spPr>
      </p:pic>
      <p:pic>
        <p:nvPicPr>
          <p:cNvPr id="8" name="Picture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7C2C1CB8-16ED-723F-DA13-FB6C6A5B48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173"/>
          <a:stretch/>
        </p:blipFill>
        <p:spPr>
          <a:xfrm>
            <a:off x="13354049" y="3468109"/>
            <a:ext cx="9548373" cy="921201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22754C4-2D68-CF4F-34A1-1FAF6C17468E}"/>
              </a:ext>
            </a:extLst>
          </p:cNvPr>
          <p:cNvSpPr txBox="1"/>
          <p:nvPr/>
        </p:nvSpPr>
        <p:spPr>
          <a:xfrm>
            <a:off x="19773899" y="11211890"/>
            <a:ext cx="3524251" cy="1949252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bg2">
                <a:lumMod val="1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000" b="1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Output:</a:t>
            </a:r>
          </a:p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50</a:t>
            </a:r>
          </a:p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228955-178C-0505-EEC4-7B6E08F663BF}"/>
              </a:ext>
            </a:extLst>
          </p:cNvPr>
          <p:cNvSpPr txBox="1"/>
          <p:nvPr/>
        </p:nvSpPr>
        <p:spPr>
          <a:xfrm>
            <a:off x="2167377" y="8277263"/>
            <a:ext cx="6362701" cy="1333698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bg2">
                <a:lumMod val="1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000" b="1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Output:</a:t>
            </a:r>
          </a:p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Item discount = 30</a:t>
            </a:r>
          </a:p>
        </p:txBody>
      </p:sp>
    </p:spTree>
    <p:extLst>
      <p:ext uri="{BB962C8B-B14F-4D97-AF65-F5344CB8AC3E}">
        <p14:creationId xmlns:p14="http://schemas.microsoft.com/office/powerpoint/2010/main" val="1637361041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C27F9-E7FD-8092-60B8-84F8F1755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BB90B-E5A3-35CC-EFC6-5A8B46171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Logical OPERATOR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B35B2-B7AC-7BD1-4517-4C60909D78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6A7421-9CCF-1D47-57D6-3AB1F2B83940}"/>
              </a:ext>
            </a:extLst>
          </p:cNvPr>
          <p:cNvSpPr txBox="1">
            <a:spLocks/>
          </p:cNvSpPr>
          <p:nvPr/>
        </p:nvSpPr>
        <p:spPr>
          <a:xfrm>
            <a:off x="2167377" y="3505200"/>
            <a:ext cx="20254473" cy="8534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just">
              <a:spcBef>
                <a:spcPts val="1200"/>
              </a:spcBef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Logical operator symbols:</a:t>
            </a:r>
          </a:p>
          <a:p>
            <a:pPr algn="just">
              <a:spcBef>
                <a:spcPts val="1200"/>
              </a:spcBef>
            </a:pPr>
            <a:endParaRPr lang="en-US" altLang="en-US" sz="36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algn="just">
              <a:spcBef>
                <a:spcPts val="1200"/>
              </a:spcBef>
            </a:pPr>
            <a:endParaRPr lang="en-US" altLang="en-US" sz="36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algn="just">
              <a:spcBef>
                <a:spcPts val="1200"/>
              </a:spcBef>
            </a:pPr>
            <a:endParaRPr lang="en-US" altLang="en-US" sz="36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algn="just">
              <a:spcBef>
                <a:spcPts val="1200"/>
              </a:spcBef>
            </a:pPr>
            <a:endParaRPr lang="en-US" altLang="en-US" sz="36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algn="just">
              <a:spcBef>
                <a:spcPts val="1200"/>
              </a:spcBef>
            </a:pPr>
            <a:endParaRPr lang="en-US" altLang="en-US" sz="36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algn="just">
              <a:spcBef>
                <a:spcPts val="1200"/>
              </a:spcBef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Logical operator truth table:</a:t>
            </a:r>
          </a:p>
          <a:p>
            <a:pPr algn="just">
              <a:spcBef>
                <a:spcPts val="1200"/>
              </a:spcBef>
            </a:pPr>
            <a:endParaRPr lang="en-US" altLang="en-US" sz="36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graphicFrame>
        <p:nvGraphicFramePr>
          <p:cNvPr id="9" name="Group 59">
            <a:extLst>
              <a:ext uri="{FF2B5EF4-FFF2-40B4-BE49-F238E27FC236}">
                <a16:creationId xmlns:a16="http://schemas.microsoft.com/office/drawing/2014/main" id="{16697336-0629-D45C-5BBB-C9D6D21206FF}"/>
              </a:ext>
            </a:extLst>
          </p:cNvPr>
          <p:cNvGraphicFramePr>
            <a:graphicFrameLocks noGrp="1"/>
          </p:cNvGraphicFramePr>
          <p:nvPr/>
        </p:nvGraphicFramePr>
        <p:xfrm>
          <a:off x="2519586" y="4504265"/>
          <a:ext cx="8415114" cy="2804248"/>
        </p:xfrm>
        <a:graphic>
          <a:graphicData uri="http://schemas.openxmlformats.org/drawingml/2006/table">
            <a:tbl>
              <a:tblPr/>
              <a:tblGrid>
                <a:gridCol w="42075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75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Symbol</a:t>
                      </a:r>
                      <a:endParaRPr kumimoji="0" lang="en-US" sz="4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+mj-lt"/>
                        <a:cs typeface="Tahoma" pitchFamily="34" charset="0"/>
                      </a:endParaRPr>
                    </a:p>
                  </a:txBody>
                  <a:tcPr marT="45731" marB="4573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Functionality</a:t>
                      </a:r>
                      <a:endParaRPr kumimoji="0" lang="en-US" sz="4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+mj-lt"/>
                        <a:cs typeface="Tahoma" pitchFamily="34" charset="0"/>
                      </a:endParaRPr>
                    </a:p>
                  </a:txBody>
                  <a:tcPr marT="45731" marB="4573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6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&amp;&amp;</a:t>
                      </a:r>
                    </a:p>
                  </a:txBody>
                  <a:tcPr marT="45731" marB="4573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AND</a:t>
                      </a:r>
                    </a:p>
                  </a:txBody>
                  <a:tcPr marT="45731" marB="4573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6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||</a:t>
                      </a:r>
                    </a:p>
                  </a:txBody>
                  <a:tcPr marT="45731" marB="4573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OR</a:t>
                      </a:r>
                    </a:p>
                  </a:txBody>
                  <a:tcPr marT="45731" marB="4573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6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!</a:t>
                      </a:r>
                    </a:p>
                  </a:txBody>
                  <a:tcPr marT="45731" marB="4573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NOT</a:t>
                      </a:r>
                    </a:p>
                  </a:txBody>
                  <a:tcPr marT="45731" marB="4573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" name="Group 21">
            <a:extLst>
              <a:ext uri="{FF2B5EF4-FFF2-40B4-BE49-F238E27FC236}">
                <a16:creationId xmlns:a16="http://schemas.microsoft.com/office/drawing/2014/main" id="{79795CD1-2EFD-B588-713F-729E19EC5034}"/>
              </a:ext>
            </a:extLst>
          </p:cNvPr>
          <p:cNvGraphicFramePr>
            <a:graphicFrameLocks noGrp="1"/>
          </p:cNvGraphicFramePr>
          <p:nvPr/>
        </p:nvGraphicFramePr>
        <p:xfrm>
          <a:off x="2519586" y="8552970"/>
          <a:ext cx="11896394" cy="3505200"/>
        </p:xfrm>
        <a:graphic>
          <a:graphicData uri="http://schemas.openxmlformats.org/drawingml/2006/table">
            <a:tbl>
              <a:tblPr/>
              <a:tblGrid>
                <a:gridCol w="18760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19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71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marR="0" indent="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1pPr>
                      <a:lvl2pPr marL="0" marR="0" indent="457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2pPr>
                      <a:lvl3pPr marL="0" marR="0" indent="914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3pPr>
                      <a:lvl4pPr marL="0" marR="0" indent="1371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4pPr>
                      <a:lvl5pPr marL="0" marR="0" indent="18288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5pPr>
                      <a:lvl6pPr marL="0" marR="0" indent="22860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6pPr>
                      <a:lvl7pPr marL="0" marR="0" indent="2743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7pPr>
                      <a:lvl8pPr marL="0" marR="0" indent="3200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8pPr>
                      <a:lvl9pPr marL="0" marR="0" indent="3657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A</a:t>
                      </a:r>
                      <a:endParaRPr kumimoji="0" lang="en-US" sz="4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+mj-lt"/>
                        <a:cs typeface="Tahoma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marR="0" indent="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1pPr>
                      <a:lvl2pPr marL="0" marR="0" indent="457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2pPr>
                      <a:lvl3pPr marL="0" marR="0" indent="914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3pPr>
                      <a:lvl4pPr marL="0" marR="0" indent="1371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4pPr>
                      <a:lvl5pPr marL="0" marR="0" indent="18288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5pPr>
                      <a:lvl6pPr marL="0" marR="0" indent="22860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6pPr>
                      <a:lvl7pPr marL="0" marR="0" indent="2743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7pPr>
                      <a:lvl8pPr marL="0" marR="0" indent="3200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8pPr>
                      <a:lvl9pPr marL="0" marR="0" indent="3657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B</a:t>
                      </a:r>
                      <a:endParaRPr kumimoji="0" 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+mj-lt"/>
                        <a:cs typeface="Tahoma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marR="0" indent="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1pPr>
                      <a:lvl2pPr marL="0" marR="0" indent="457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2pPr>
                      <a:lvl3pPr marL="0" marR="0" indent="914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3pPr>
                      <a:lvl4pPr marL="0" marR="0" indent="1371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4pPr>
                      <a:lvl5pPr marL="0" marR="0" indent="18288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5pPr>
                      <a:lvl6pPr marL="0" marR="0" indent="22860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6pPr>
                      <a:lvl7pPr marL="0" marR="0" indent="2743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7pPr>
                      <a:lvl8pPr marL="0" marR="0" indent="3200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8pPr>
                      <a:lvl9pPr marL="0" marR="0" indent="3657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!A</a:t>
                      </a:r>
                      <a:endParaRPr kumimoji="0" 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+mj-lt"/>
                        <a:cs typeface="Tahoma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marR="0" indent="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1pPr>
                      <a:lvl2pPr marL="0" marR="0" indent="457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2pPr>
                      <a:lvl3pPr marL="0" marR="0" indent="914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3pPr>
                      <a:lvl4pPr marL="0" marR="0" indent="1371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4pPr>
                      <a:lvl5pPr marL="0" marR="0" indent="18288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5pPr>
                      <a:lvl6pPr marL="0" marR="0" indent="22860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6pPr>
                      <a:lvl7pPr marL="0" marR="0" indent="2743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7pPr>
                      <a:lvl8pPr marL="0" marR="0" indent="3200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8pPr>
                      <a:lvl9pPr marL="0" marR="0" indent="3657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A &amp;&amp; B</a:t>
                      </a:r>
                      <a:endParaRPr kumimoji="0" lang="en-US" sz="4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+mj-lt"/>
                        <a:cs typeface="Tahoma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marR="0" indent="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1pPr>
                      <a:lvl2pPr marL="0" marR="0" indent="457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2pPr>
                      <a:lvl3pPr marL="0" marR="0" indent="914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3pPr>
                      <a:lvl4pPr marL="0" marR="0" indent="1371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4pPr>
                      <a:lvl5pPr marL="0" marR="0" indent="18288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5pPr>
                      <a:lvl6pPr marL="0" marR="0" indent="22860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6pPr>
                      <a:lvl7pPr marL="0" marR="0" indent="2743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7pPr>
                      <a:lvl8pPr marL="0" marR="0" indent="3200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8pPr>
                      <a:lvl9pPr marL="0" marR="0" indent="3657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A || B</a:t>
                      </a:r>
                      <a:endParaRPr kumimoji="0" 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+mj-lt"/>
                        <a:cs typeface="Tahoma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450">
                <a:tc>
                  <a:txBody>
                    <a:bodyPr/>
                    <a:lstStyle>
                      <a:lvl1pPr marL="0" marR="0" indent="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1pPr>
                      <a:lvl2pPr marL="0" marR="0" indent="457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2pPr>
                      <a:lvl3pPr marL="0" marR="0" indent="914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3pPr>
                      <a:lvl4pPr marL="0" marR="0" indent="1371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4pPr>
                      <a:lvl5pPr marL="0" marR="0" indent="18288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5pPr>
                      <a:lvl6pPr marL="0" marR="0" indent="22860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6pPr>
                      <a:lvl7pPr marL="0" marR="0" indent="2743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7pPr>
                      <a:lvl8pPr marL="0" marR="0" indent="3200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8pPr>
                      <a:lvl9pPr marL="0" marR="0" indent="3657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True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marR="0" indent="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1pPr>
                      <a:lvl2pPr marL="0" marR="0" indent="457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2pPr>
                      <a:lvl3pPr marL="0" marR="0" indent="914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3pPr>
                      <a:lvl4pPr marL="0" marR="0" indent="1371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4pPr>
                      <a:lvl5pPr marL="0" marR="0" indent="18288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5pPr>
                      <a:lvl6pPr marL="0" marR="0" indent="22860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6pPr>
                      <a:lvl7pPr marL="0" marR="0" indent="2743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7pPr>
                      <a:lvl8pPr marL="0" marR="0" indent="3200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8pPr>
                      <a:lvl9pPr marL="0" marR="0" indent="3657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True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marR="0" indent="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1pPr>
                      <a:lvl2pPr marL="0" marR="0" indent="457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2pPr>
                      <a:lvl3pPr marL="0" marR="0" indent="914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3pPr>
                      <a:lvl4pPr marL="0" marR="0" indent="1371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4pPr>
                      <a:lvl5pPr marL="0" marR="0" indent="18288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5pPr>
                      <a:lvl6pPr marL="0" marR="0" indent="22860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6pPr>
                      <a:lvl7pPr marL="0" marR="0" indent="2743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7pPr>
                      <a:lvl8pPr marL="0" marR="0" indent="3200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8pPr>
                      <a:lvl9pPr marL="0" marR="0" indent="3657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False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marR="0" indent="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1pPr>
                      <a:lvl2pPr marL="0" marR="0" indent="457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2pPr>
                      <a:lvl3pPr marL="0" marR="0" indent="914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3pPr>
                      <a:lvl4pPr marL="0" marR="0" indent="1371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4pPr>
                      <a:lvl5pPr marL="0" marR="0" indent="18288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5pPr>
                      <a:lvl6pPr marL="0" marR="0" indent="22860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6pPr>
                      <a:lvl7pPr marL="0" marR="0" indent="2743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7pPr>
                      <a:lvl8pPr marL="0" marR="0" indent="3200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8pPr>
                      <a:lvl9pPr marL="0" marR="0" indent="3657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True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marR="0" indent="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1pPr>
                      <a:lvl2pPr marL="0" marR="0" indent="457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2pPr>
                      <a:lvl3pPr marL="0" marR="0" indent="914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3pPr>
                      <a:lvl4pPr marL="0" marR="0" indent="1371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4pPr>
                      <a:lvl5pPr marL="0" marR="0" indent="18288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5pPr>
                      <a:lvl6pPr marL="0" marR="0" indent="22860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6pPr>
                      <a:lvl7pPr marL="0" marR="0" indent="2743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7pPr>
                      <a:lvl8pPr marL="0" marR="0" indent="3200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8pPr>
                      <a:lvl9pPr marL="0" marR="0" indent="3657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True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450">
                <a:tc>
                  <a:txBody>
                    <a:bodyPr/>
                    <a:lstStyle>
                      <a:lvl1pPr marL="0" marR="0" indent="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1pPr>
                      <a:lvl2pPr marL="0" marR="0" indent="457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2pPr>
                      <a:lvl3pPr marL="0" marR="0" indent="914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3pPr>
                      <a:lvl4pPr marL="0" marR="0" indent="1371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4pPr>
                      <a:lvl5pPr marL="0" marR="0" indent="18288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5pPr>
                      <a:lvl6pPr marL="0" marR="0" indent="22860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6pPr>
                      <a:lvl7pPr marL="0" marR="0" indent="2743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7pPr>
                      <a:lvl8pPr marL="0" marR="0" indent="3200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8pPr>
                      <a:lvl9pPr marL="0" marR="0" indent="3657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True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marR="0" indent="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1pPr>
                      <a:lvl2pPr marL="0" marR="0" indent="457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2pPr>
                      <a:lvl3pPr marL="0" marR="0" indent="914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3pPr>
                      <a:lvl4pPr marL="0" marR="0" indent="1371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4pPr>
                      <a:lvl5pPr marL="0" marR="0" indent="18288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5pPr>
                      <a:lvl6pPr marL="0" marR="0" indent="22860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6pPr>
                      <a:lvl7pPr marL="0" marR="0" indent="2743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7pPr>
                      <a:lvl8pPr marL="0" marR="0" indent="3200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8pPr>
                      <a:lvl9pPr marL="0" marR="0" indent="3657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False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marR="0" indent="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1pPr>
                      <a:lvl2pPr marL="0" marR="0" indent="457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2pPr>
                      <a:lvl3pPr marL="0" marR="0" indent="914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3pPr>
                      <a:lvl4pPr marL="0" marR="0" indent="1371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4pPr>
                      <a:lvl5pPr marL="0" marR="0" indent="18288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5pPr>
                      <a:lvl6pPr marL="0" marR="0" indent="22860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6pPr>
                      <a:lvl7pPr marL="0" marR="0" indent="2743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7pPr>
                      <a:lvl8pPr marL="0" marR="0" indent="3200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8pPr>
                      <a:lvl9pPr marL="0" marR="0" indent="3657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False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marR="0" indent="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1pPr>
                      <a:lvl2pPr marL="0" marR="0" indent="457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2pPr>
                      <a:lvl3pPr marL="0" marR="0" indent="914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3pPr>
                      <a:lvl4pPr marL="0" marR="0" indent="1371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4pPr>
                      <a:lvl5pPr marL="0" marR="0" indent="18288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5pPr>
                      <a:lvl6pPr marL="0" marR="0" indent="22860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6pPr>
                      <a:lvl7pPr marL="0" marR="0" indent="2743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7pPr>
                      <a:lvl8pPr marL="0" marR="0" indent="3200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8pPr>
                      <a:lvl9pPr marL="0" marR="0" indent="3657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False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marR="0" indent="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1pPr>
                      <a:lvl2pPr marL="0" marR="0" indent="457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2pPr>
                      <a:lvl3pPr marL="0" marR="0" indent="914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3pPr>
                      <a:lvl4pPr marL="0" marR="0" indent="1371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4pPr>
                      <a:lvl5pPr marL="0" marR="0" indent="18288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5pPr>
                      <a:lvl6pPr marL="0" marR="0" indent="22860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6pPr>
                      <a:lvl7pPr marL="0" marR="0" indent="2743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7pPr>
                      <a:lvl8pPr marL="0" marR="0" indent="3200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8pPr>
                      <a:lvl9pPr marL="0" marR="0" indent="3657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True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450">
                <a:tc>
                  <a:txBody>
                    <a:bodyPr/>
                    <a:lstStyle>
                      <a:lvl1pPr marL="0" marR="0" indent="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1pPr>
                      <a:lvl2pPr marL="0" marR="0" indent="457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2pPr>
                      <a:lvl3pPr marL="0" marR="0" indent="914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3pPr>
                      <a:lvl4pPr marL="0" marR="0" indent="1371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4pPr>
                      <a:lvl5pPr marL="0" marR="0" indent="18288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5pPr>
                      <a:lvl6pPr marL="0" marR="0" indent="22860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6pPr>
                      <a:lvl7pPr marL="0" marR="0" indent="2743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7pPr>
                      <a:lvl8pPr marL="0" marR="0" indent="3200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8pPr>
                      <a:lvl9pPr marL="0" marR="0" indent="3657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False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marR="0" indent="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1pPr>
                      <a:lvl2pPr marL="0" marR="0" indent="457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2pPr>
                      <a:lvl3pPr marL="0" marR="0" indent="914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3pPr>
                      <a:lvl4pPr marL="0" marR="0" indent="1371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4pPr>
                      <a:lvl5pPr marL="0" marR="0" indent="18288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5pPr>
                      <a:lvl6pPr marL="0" marR="0" indent="22860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6pPr>
                      <a:lvl7pPr marL="0" marR="0" indent="2743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7pPr>
                      <a:lvl8pPr marL="0" marR="0" indent="3200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8pPr>
                      <a:lvl9pPr marL="0" marR="0" indent="3657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True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marR="0" indent="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1pPr>
                      <a:lvl2pPr marL="0" marR="0" indent="457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2pPr>
                      <a:lvl3pPr marL="0" marR="0" indent="914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3pPr>
                      <a:lvl4pPr marL="0" marR="0" indent="1371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4pPr>
                      <a:lvl5pPr marL="0" marR="0" indent="18288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5pPr>
                      <a:lvl6pPr marL="0" marR="0" indent="22860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6pPr>
                      <a:lvl7pPr marL="0" marR="0" indent="2743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7pPr>
                      <a:lvl8pPr marL="0" marR="0" indent="3200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8pPr>
                      <a:lvl9pPr marL="0" marR="0" indent="3657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True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marR="0" indent="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1pPr>
                      <a:lvl2pPr marL="0" marR="0" indent="457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2pPr>
                      <a:lvl3pPr marL="0" marR="0" indent="914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3pPr>
                      <a:lvl4pPr marL="0" marR="0" indent="1371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4pPr>
                      <a:lvl5pPr marL="0" marR="0" indent="18288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5pPr>
                      <a:lvl6pPr marL="0" marR="0" indent="22860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6pPr>
                      <a:lvl7pPr marL="0" marR="0" indent="2743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7pPr>
                      <a:lvl8pPr marL="0" marR="0" indent="3200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8pPr>
                      <a:lvl9pPr marL="0" marR="0" indent="3657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False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marR="0" indent="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1pPr>
                      <a:lvl2pPr marL="0" marR="0" indent="457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2pPr>
                      <a:lvl3pPr marL="0" marR="0" indent="914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3pPr>
                      <a:lvl4pPr marL="0" marR="0" indent="1371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4pPr>
                      <a:lvl5pPr marL="0" marR="0" indent="18288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5pPr>
                      <a:lvl6pPr marL="0" marR="0" indent="22860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6pPr>
                      <a:lvl7pPr marL="0" marR="0" indent="2743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7pPr>
                      <a:lvl8pPr marL="0" marR="0" indent="3200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8pPr>
                      <a:lvl9pPr marL="0" marR="0" indent="3657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True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5450">
                <a:tc>
                  <a:txBody>
                    <a:bodyPr/>
                    <a:lstStyle>
                      <a:lvl1pPr marL="0" marR="0" indent="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1pPr>
                      <a:lvl2pPr marL="0" marR="0" indent="457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2pPr>
                      <a:lvl3pPr marL="0" marR="0" indent="914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3pPr>
                      <a:lvl4pPr marL="0" marR="0" indent="1371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4pPr>
                      <a:lvl5pPr marL="0" marR="0" indent="18288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5pPr>
                      <a:lvl6pPr marL="0" marR="0" indent="22860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6pPr>
                      <a:lvl7pPr marL="0" marR="0" indent="2743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7pPr>
                      <a:lvl8pPr marL="0" marR="0" indent="3200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8pPr>
                      <a:lvl9pPr marL="0" marR="0" indent="3657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False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marR="0" indent="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1pPr>
                      <a:lvl2pPr marL="0" marR="0" indent="457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2pPr>
                      <a:lvl3pPr marL="0" marR="0" indent="914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3pPr>
                      <a:lvl4pPr marL="0" marR="0" indent="1371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4pPr>
                      <a:lvl5pPr marL="0" marR="0" indent="18288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5pPr>
                      <a:lvl6pPr marL="0" marR="0" indent="22860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6pPr>
                      <a:lvl7pPr marL="0" marR="0" indent="2743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7pPr>
                      <a:lvl8pPr marL="0" marR="0" indent="3200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8pPr>
                      <a:lvl9pPr marL="0" marR="0" indent="3657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False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marR="0" indent="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1pPr>
                      <a:lvl2pPr marL="0" marR="0" indent="457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2pPr>
                      <a:lvl3pPr marL="0" marR="0" indent="914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3pPr>
                      <a:lvl4pPr marL="0" marR="0" indent="1371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4pPr>
                      <a:lvl5pPr marL="0" marR="0" indent="18288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5pPr>
                      <a:lvl6pPr marL="0" marR="0" indent="22860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6pPr>
                      <a:lvl7pPr marL="0" marR="0" indent="2743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7pPr>
                      <a:lvl8pPr marL="0" marR="0" indent="3200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8pPr>
                      <a:lvl9pPr marL="0" marR="0" indent="3657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True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marR="0" indent="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1pPr>
                      <a:lvl2pPr marL="0" marR="0" indent="457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2pPr>
                      <a:lvl3pPr marL="0" marR="0" indent="914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3pPr>
                      <a:lvl4pPr marL="0" marR="0" indent="1371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4pPr>
                      <a:lvl5pPr marL="0" marR="0" indent="18288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5pPr>
                      <a:lvl6pPr marL="0" marR="0" indent="22860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6pPr>
                      <a:lvl7pPr marL="0" marR="0" indent="2743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7pPr>
                      <a:lvl8pPr marL="0" marR="0" indent="3200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8pPr>
                      <a:lvl9pPr marL="0" marR="0" indent="3657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False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marR="0" indent="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1pPr>
                      <a:lvl2pPr marL="0" marR="0" indent="457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2pPr>
                      <a:lvl3pPr marL="0" marR="0" indent="914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3pPr>
                      <a:lvl4pPr marL="0" marR="0" indent="1371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4pPr>
                      <a:lvl5pPr marL="0" marR="0" indent="18288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5pPr>
                      <a:lvl6pPr marL="0" marR="0" indent="22860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6pPr>
                      <a:lvl7pPr marL="0" marR="0" indent="2743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7pPr>
                      <a:lvl8pPr marL="0" marR="0" indent="3200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8pPr>
                      <a:lvl9pPr marL="0" marR="0" indent="3657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False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9698478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8C971-FB0C-5222-8608-D9B6A404E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23E4D-EDB1-960F-E19C-42B23020D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Logical OPERATOR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18E81C-1EF2-38C9-DD6A-3D898FECFF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CDF5A6-4613-C2BF-F8DC-303258FE4D21}"/>
              </a:ext>
            </a:extLst>
          </p:cNvPr>
          <p:cNvSpPr txBox="1">
            <a:spLocks/>
          </p:cNvSpPr>
          <p:nvPr/>
        </p:nvSpPr>
        <p:spPr>
          <a:xfrm>
            <a:off x="2167377" y="3505200"/>
            <a:ext cx="20254473" cy="1562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just">
              <a:spcBef>
                <a:spcPts val="1200"/>
              </a:spcBef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Operand in Logical Operator is the operand with </a:t>
            </a:r>
            <a:r>
              <a:rPr lang="en-US" altLang="en-US" sz="36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TRUE</a:t>
            </a: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or </a:t>
            </a:r>
            <a:r>
              <a:rPr lang="en-US" altLang="en-US" sz="36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FALSE</a:t>
            </a: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value</a:t>
            </a:r>
          </a:p>
          <a:p>
            <a:pPr algn="just">
              <a:spcBef>
                <a:spcPts val="1200"/>
              </a:spcBef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Example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6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pic>
        <p:nvPicPr>
          <p:cNvPr id="12" name="Picture 11" descr="A computer code with text&#10;&#10;AI-generated content may be incorrect.">
            <a:extLst>
              <a:ext uri="{FF2B5EF4-FFF2-40B4-BE49-F238E27FC236}">
                <a16:creationId xmlns:a16="http://schemas.microsoft.com/office/drawing/2014/main" id="{BB7E6E2C-9F1A-9502-BF20-85CF5715D5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7377" y="5050138"/>
            <a:ext cx="12303936" cy="53036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30D57CB-A8A1-CF66-5494-680E93FEB983}"/>
              </a:ext>
            </a:extLst>
          </p:cNvPr>
          <p:cNvSpPr txBox="1"/>
          <p:nvPr/>
        </p:nvSpPr>
        <p:spPr>
          <a:xfrm>
            <a:off x="2167377" y="10577425"/>
            <a:ext cx="6362701" cy="1949252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bg2">
                <a:lumMod val="1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000" b="1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Output:</a:t>
            </a:r>
          </a:p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</a:p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4000" dirty="0">
              <a:solidFill>
                <a:schemeClr val="bg2">
                  <a:lumMod val="1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20059C81-2DD4-8320-7735-BB7F28A45C31}"/>
              </a:ext>
            </a:extLst>
          </p:cNvPr>
          <p:cNvSpPr txBox="1">
            <a:spLocks/>
          </p:cNvSpPr>
          <p:nvPr/>
        </p:nvSpPr>
        <p:spPr>
          <a:xfrm>
            <a:off x="14763750" y="5947474"/>
            <a:ext cx="7029450" cy="297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Explanation: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5 &gt; 0 		</a:t>
            </a: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  <a:sym typeface="Wingdings" panose="05000000000000000000" pitchFamily="2" charset="2"/>
              </a:rPr>
              <a:t> TRUE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  <a:sym typeface="Wingdings" panose="05000000000000000000" pitchFamily="2" charset="2"/>
              </a:rPr>
              <a:t>0 &gt;=  0 		 TRUE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  <a:sym typeface="Wingdings" panose="05000000000000000000" pitchFamily="2" charset="2"/>
              </a:rPr>
              <a:t>TRUE  &amp;&amp;  TRUE 	 TRUE</a:t>
            </a:r>
            <a:endParaRPr lang="en-US" altLang="en-US" sz="36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3850741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36F4C-9004-8779-E598-009643C72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D0D17-E815-606D-8151-853C81D3C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BITWISE OPERATOR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4846D9-B6FB-4A57-79CA-3FD1130CA7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200E92-A7E9-4958-C729-33498BCFD458}"/>
              </a:ext>
            </a:extLst>
          </p:cNvPr>
          <p:cNvSpPr txBox="1">
            <a:spLocks/>
          </p:cNvSpPr>
          <p:nvPr/>
        </p:nvSpPr>
        <p:spPr>
          <a:xfrm>
            <a:off x="2167377" y="3505200"/>
            <a:ext cx="20254473" cy="1733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Bitwise operator symbols are used for bit manipulation, which means they operate directly on the binary representations of integers.</a:t>
            </a:r>
          </a:p>
        </p:txBody>
      </p:sp>
      <p:graphicFrame>
        <p:nvGraphicFramePr>
          <p:cNvPr id="5" name="Group 37">
            <a:extLst>
              <a:ext uri="{FF2B5EF4-FFF2-40B4-BE49-F238E27FC236}">
                <a16:creationId xmlns:a16="http://schemas.microsoft.com/office/drawing/2014/main" id="{0EE89996-6130-7908-62DC-045C1ED476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4310830"/>
              </p:ext>
            </p:extLst>
          </p:nvPr>
        </p:nvGraphicFramePr>
        <p:xfrm>
          <a:off x="5849802" y="5520676"/>
          <a:ext cx="12172900" cy="4907280"/>
        </p:xfrm>
        <a:graphic>
          <a:graphicData uri="http://schemas.openxmlformats.org/drawingml/2006/table">
            <a:tbl>
              <a:tblPr/>
              <a:tblGrid>
                <a:gridCol w="3778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986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5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56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Symbol</a:t>
                      </a:r>
                      <a:endParaRPr kumimoji="0" lang="en-US" sz="4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+mj-lt"/>
                        <a:cs typeface="Tahoma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Meaning</a:t>
                      </a:r>
                      <a:endParaRPr kumimoji="0" 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+mj-lt"/>
                        <a:cs typeface="Tahoma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Example </a:t>
                      </a:r>
                      <a:endParaRPr kumimoji="0" 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+mj-lt"/>
                        <a:cs typeface="Tahoma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&amp;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AND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A &amp; B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|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OR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A | B;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^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XOR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A ^ B;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~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Complement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~A;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&gt;&gt;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Shift Right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A &gt;&gt; 3;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&lt;&lt;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Shift Left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B &lt;&lt; 2;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2435175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F1249-3A6C-F116-5497-21583C675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A66AC-CC8C-6F62-6AFE-465F7337D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BITWISE OPERATOR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64E7E1-768A-DC25-B045-1F1F78069B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AND, OR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323590-251C-A23F-BD04-8A6E0AA83A8D}"/>
              </a:ext>
            </a:extLst>
          </p:cNvPr>
          <p:cNvSpPr txBox="1">
            <a:spLocks/>
          </p:cNvSpPr>
          <p:nvPr/>
        </p:nvSpPr>
        <p:spPr>
          <a:xfrm>
            <a:off x="2167377" y="3505200"/>
            <a:ext cx="20254473" cy="4210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int A=24; 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int B=35; 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int C;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C = A &amp; B;  	// value C = 0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C = A | B;   	// value C = 59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6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AD32083-8A9B-71CB-7CB6-96181537D5D1}"/>
              </a:ext>
            </a:extLst>
          </p:cNvPr>
          <p:cNvSpPr txBox="1">
            <a:spLocks/>
          </p:cNvSpPr>
          <p:nvPr/>
        </p:nvSpPr>
        <p:spPr>
          <a:xfrm>
            <a:off x="2167376" y="7633892"/>
            <a:ext cx="20254473" cy="4210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Explanation: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A = 24 binary: 011000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B = 35 binary: 100011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Bit by bit AND operation resulting	: 000000, in decimal: 0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Bit by bit OR operation resulting	: 111011, in decimal: 59</a:t>
            </a:r>
          </a:p>
        </p:txBody>
      </p:sp>
    </p:spTree>
    <p:extLst>
      <p:ext uri="{BB962C8B-B14F-4D97-AF65-F5344CB8AC3E}">
        <p14:creationId xmlns:p14="http://schemas.microsoft.com/office/powerpoint/2010/main" val="597532682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CA6EC-BC6C-F404-5006-1BB4B8208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27D71-0A04-627A-D296-F94CC40AE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BITWISE OPERATOR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5509DA-1AE5-D354-E4C0-F666EA4A0A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XOR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09517B-0C4C-D188-F66B-AC01E9EEE6D3}"/>
              </a:ext>
            </a:extLst>
          </p:cNvPr>
          <p:cNvSpPr txBox="1">
            <a:spLocks/>
          </p:cNvSpPr>
          <p:nvPr/>
        </p:nvSpPr>
        <p:spPr>
          <a:xfrm>
            <a:off x="2167377" y="3505200"/>
            <a:ext cx="20502123" cy="4210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cs typeface="Tahoma" pitchFamily="34" charset="0"/>
              </a:rPr>
              <a:t>XOR operation of two bits resulting </a:t>
            </a:r>
            <a:r>
              <a:rPr lang="en-US" altLang="en-US" sz="3600" b="1" dirty="0">
                <a:latin typeface="+mj-lt"/>
                <a:cs typeface="Tahoma" pitchFamily="34" charset="0"/>
              </a:rPr>
              <a:t>1</a:t>
            </a:r>
            <a:r>
              <a:rPr lang="en-US" altLang="en-US" sz="3600" dirty="0">
                <a:latin typeface="+mj-lt"/>
                <a:cs typeface="Tahoma" pitchFamily="34" charset="0"/>
              </a:rPr>
              <a:t> if both bit are different and will result </a:t>
            </a:r>
            <a:r>
              <a:rPr lang="en-US" altLang="en-US" sz="3600" b="1" dirty="0">
                <a:latin typeface="+mj-lt"/>
                <a:cs typeface="Tahoma" pitchFamily="34" charset="0"/>
              </a:rPr>
              <a:t>0</a:t>
            </a:r>
            <a:r>
              <a:rPr lang="en-US" altLang="en-US" sz="3600" dirty="0">
                <a:latin typeface="+mj-lt"/>
                <a:cs typeface="Tahoma" pitchFamily="34" charset="0"/>
              </a:rPr>
              <a:t> if both are same.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600" dirty="0">
              <a:latin typeface="Courier New" panose="02070309020205020404" pitchFamily="49" charset="0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int A = 45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int B = 75;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Int C = B^A;   	// Result C=102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AB7F597-164E-24C0-E98C-5D27D9C431FE}"/>
              </a:ext>
            </a:extLst>
          </p:cNvPr>
          <p:cNvSpPr txBox="1">
            <a:spLocks/>
          </p:cNvSpPr>
          <p:nvPr/>
        </p:nvSpPr>
        <p:spPr>
          <a:xfrm>
            <a:off x="2167376" y="7633892"/>
            <a:ext cx="20254473" cy="4210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Explanation: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A = 45 binary: 0101101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B = 75 binary: 1001011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Bit by bit XOR operation resulting	: 1100110 or 102 in decimal</a:t>
            </a:r>
          </a:p>
        </p:txBody>
      </p:sp>
    </p:spTree>
    <p:extLst>
      <p:ext uri="{BB962C8B-B14F-4D97-AF65-F5344CB8AC3E}">
        <p14:creationId xmlns:p14="http://schemas.microsoft.com/office/powerpoint/2010/main" val="3295222504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4E86E-CEFA-6599-25C2-F052D3395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CE248-0EC9-BA05-6E5E-46F239A3C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BITWISE Expressions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28C126-6F4F-ED21-1CB9-8FEF96CDB1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COMPLEMENT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B87295-8CA1-132C-A304-D7EB577CE8A9}"/>
              </a:ext>
            </a:extLst>
          </p:cNvPr>
          <p:cNvSpPr txBox="1">
            <a:spLocks/>
          </p:cNvSpPr>
          <p:nvPr/>
        </p:nvSpPr>
        <p:spPr>
          <a:xfrm>
            <a:off x="2167377" y="3505200"/>
            <a:ext cx="20502123" cy="4210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cs typeface="Tahoma" pitchFamily="34" charset="0"/>
              </a:rPr>
              <a:t>To create a 1's complement (complement-1) of a value, every bit with a 0 is changed to 1, and every bit with a 1 is changed to 0.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600" dirty="0">
              <a:latin typeface="Courier New" panose="02070309020205020404" pitchFamily="49" charset="0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int A, B = 0xC3;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A = ~B;   // A now holds the 1's complement of B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600" dirty="0">
              <a:latin typeface="Courier New" panose="02070309020205020404" pitchFamily="49" charset="0"/>
              <a:ea typeface="Open Sans Light" panose="020B0306030504020204" pitchFamily="34" charset="0"/>
              <a:cs typeface="Courier New" panose="02070309020205020404" pitchFamily="49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ACB77B63-16BB-154F-2BBB-42BFACEFC50F}"/>
              </a:ext>
            </a:extLst>
          </p:cNvPr>
          <p:cNvSpPr txBox="1">
            <a:spLocks/>
          </p:cNvSpPr>
          <p:nvPr/>
        </p:nvSpPr>
        <p:spPr>
          <a:xfrm>
            <a:off x="2167376" y="7633892"/>
            <a:ext cx="20254473" cy="4210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Explanation: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0xC3 in binary: 1100 0011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1's complement: 0011 1100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In hexadecimal: 0x3C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600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*In C, writing a hexadecimal should start with 0x</a:t>
            </a:r>
          </a:p>
        </p:txBody>
      </p:sp>
    </p:spTree>
    <p:extLst>
      <p:ext uri="{BB962C8B-B14F-4D97-AF65-F5344CB8AC3E}">
        <p14:creationId xmlns:p14="http://schemas.microsoft.com/office/powerpoint/2010/main" val="761730797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AEF3D-9AF3-C70F-DCEC-26A258196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710BF-5D4E-F837-B852-793935CC9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BITWISE Expressions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D9C259-AB94-D81B-C2C3-4B1ED5AFD5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SHIFT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864211F-6121-137E-8209-E88AADC4F52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67377" y="3257550"/>
                <a:ext cx="20502123" cy="729615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>
                <a:noAutofit/>
              </a:bodyPr>
              <a:lstStyle>
                <a:lvl1pPr marL="266700" marR="0" indent="-266700" algn="l" defTabSz="2438338" rtl="0" eaLnBrk="1" latinLnBrk="0" hangingPunct="1">
                  <a:lnSpc>
                    <a:spcPct val="10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kumimoji="0" lang="en-US" sz="2600" b="0" i="0" u="none" strike="noStrike" cap="none" spc="0" normalizeH="0" baseline="0">
                    <a:ln>
                      <a:noFill/>
                    </a:ln>
                    <a:solidFill>
                      <a:srgbClr val="212121"/>
                    </a:solidFill>
                    <a:effectLst/>
                    <a:uFillTx/>
                    <a:latin typeface="Open Sans Light"/>
                    <a:ea typeface="Open Sans Light"/>
                    <a:cs typeface="Open Sans Light"/>
                    <a:sym typeface="Helvetica Neue"/>
                  </a:defRPr>
                </a:lvl1pPr>
                <a:lvl2pPr marL="890588" marR="0" indent="-280988" algn="l" defTabSz="2438338" rtl="0" eaLnBrk="1" latinLnBrk="0" hangingPunct="1">
                  <a:lnSpc>
                    <a:spcPct val="10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kumimoji="0" lang="en-US" sz="2600" b="0" i="0" u="none" strike="noStrike" cap="none" spc="0" normalizeH="0" baseline="0">
                    <a:ln>
                      <a:noFill/>
                    </a:ln>
                    <a:solidFill>
                      <a:srgbClr val="212121"/>
                    </a:solidFill>
                    <a:effectLst/>
                    <a:uFillTx/>
                    <a:latin typeface="Open Sans Light"/>
                    <a:ea typeface="Open Sans Light"/>
                    <a:cs typeface="Open Sans Light"/>
                    <a:sym typeface="Helvetica Neue"/>
                  </a:defRPr>
                </a:lvl2pPr>
                <a:lvl3pPr marL="1470025" marR="0" indent="-250825" algn="l" defTabSz="2438338" rtl="0" eaLnBrk="1" latinLnBrk="0" hangingPunct="1">
                  <a:lnSpc>
                    <a:spcPct val="10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kumimoji="0" lang="en-US" sz="2600" b="0" i="0" u="none" strike="noStrike" cap="none" spc="0" normalizeH="0" baseline="0">
                    <a:ln>
                      <a:noFill/>
                    </a:ln>
                    <a:solidFill>
                      <a:srgbClr val="212121"/>
                    </a:solidFill>
                    <a:effectLst/>
                    <a:uFillTx/>
                    <a:latin typeface="Open Sans Light"/>
                    <a:ea typeface="Open Sans Light"/>
                    <a:cs typeface="Open Sans Light"/>
                    <a:sym typeface="Helvetica Neue"/>
                  </a:defRPr>
                </a:lvl3pPr>
                <a:lvl4pPr marL="2138363" marR="0" indent="-309563" algn="l" defTabSz="2438338" rtl="0" eaLnBrk="1" latinLnBrk="0" hangingPunct="1">
                  <a:lnSpc>
                    <a:spcPct val="10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kumimoji="0" lang="en-US" sz="2600" b="0" i="0" u="none" strike="noStrike" cap="none" spc="0" normalizeH="0" baseline="0">
                    <a:ln>
                      <a:noFill/>
                    </a:ln>
                    <a:solidFill>
                      <a:srgbClr val="212121"/>
                    </a:solidFill>
                    <a:effectLst/>
                    <a:uFillTx/>
                    <a:latin typeface="Open Sans Light"/>
                    <a:ea typeface="Open Sans Light"/>
                    <a:cs typeface="Open Sans Light"/>
                    <a:sym typeface="Helvetica Neue"/>
                  </a:defRPr>
                </a:lvl4pPr>
                <a:lvl5pPr marL="2717800" marR="0" indent="-279400" algn="l" defTabSz="2438338" rtl="0" eaLnBrk="1" latinLnBrk="0" hangingPunct="1">
                  <a:lnSpc>
                    <a:spcPct val="10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kumimoji="0" lang="en-US" sz="2600" b="0" i="0" u="none" strike="noStrike" cap="none" spc="0" normalizeH="0" baseline="0">
                    <a:ln>
                      <a:noFill/>
                    </a:ln>
                    <a:solidFill>
                      <a:srgbClr val="212121"/>
                    </a:solidFill>
                    <a:effectLst/>
                    <a:uFillTx/>
                    <a:latin typeface="Open Sans Light"/>
                    <a:ea typeface="Open Sans Light"/>
                    <a:cs typeface="Open Sans Light"/>
                    <a:sym typeface="Helvetica Neue"/>
                  </a:defRPr>
                </a:lvl5pPr>
                <a:lvl6pPr marL="3657600" marR="0" indent="-609600" algn="l" defTabSz="2438338" rtl="0" eaLnBrk="1" latinLnBrk="0" hangingPunct="1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4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6pPr>
                <a:lvl7pPr marL="4267200" marR="0" indent="-609600" algn="l" defTabSz="2438338" rtl="0" eaLnBrk="1" latinLnBrk="0" hangingPunct="1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4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7pPr>
                <a:lvl8pPr marL="4876800" marR="0" indent="-609600" algn="l" defTabSz="2438338" rtl="0" eaLnBrk="1" latinLnBrk="0" hangingPunct="1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4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8pPr>
                <a:lvl9pPr marL="5486400" marR="0" indent="-609600" algn="l" defTabSz="2438338" rtl="0" eaLnBrk="1" latinLnBrk="0" hangingPunct="1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4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9pPr>
              </a:lstStyle>
              <a:p>
                <a:pPr marL="0" indent="0">
                  <a:spcBef>
                    <a:spcPts val="1200"/>
                  </a:spcBef>
                  <a:buNone/>
                </a:pPr>
                <a:r>
                  <a:rPr lang="en-US" altLang="en-US" sz="3200" dirty="0">
                    <a:latin typeface="+mj-lt"/>
                    <a:cs typeface="Tahoma" pitchFamily="34" charset="0"/>
                  </a:rPr>
                  <a:t>Bitwise shift operators move the bits of a number left or right: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altLang="en-US" sz="3200" b="1" dirty="0">
                    <a:latin typeface="+mj-lt"/>
                    <a:cs typeface="Tahoma" pitchFamily="34" charset="0"/>
                  </a:rPr>
                  <a:t>&gt;&gt; (right shift)</a:t>
                </a:r>
                <a:r>
                  <a:rPr lang="en-US" altLang="en-US" sz="3200" dirty="0">
                    <a:latin typeface="+mj-lt"/>
                    <a:cs typeface="Tahoma" pitchFamily="34" charset="0"/>
                  </a:rPr>
                  <a:t>: shifts bits to the right, discarding the rightmost bits and filling in with 0s on the left.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altLang="en-US" sz="3200" b="1" dirty="0">
                    <a:latin typeface="+mj-lt"/>
                    <a:cs typeface="Tahoma" pitchFamily="34" charset="0"/>
                  </a:rPr>
                  <a:t>&lt;&lt; (left shift)</a:t>
                </a:r>
                <a:r>
                  <a:rPr lang="en-US" altLang="en-US" sz="3200" dirty="0">
                    <a:latin typeface="+mj-lt"/>
                    <a:cs typeface="Tahoma" pitchFamily="34" charset="0"/>
                  </a:rPr>
                  <a:t>: Shifts bits to the left, discarding the leftmost bits and filling in with 0s on the right.</a:t>
                </a:r>
              </a:p>
              <a:p>
                <a:pPr marL="0" indent="0" algn="just">
                  <a:spcBef>
                    <a:spcPts val="1200"/>
                  </a:spcBef>
                  <a:buNone/>
                </a:pPr>
                <a:endParaRPr lang="en-US" altLang="en-US" sz="3200" dirty="0">
                  <a:latin typeface="Courier New" panose="02070309020205020404" pitchFamily="49" charset="0"/>
                  <a:ea typeface="Open Sans Light" panose="020B0306030504020204" pitchFamily="34" charset="0"/>
                  <a:cs typeface="Courier New" panose="02070309020205020404" pitchFamily="49" charset="0"/>
                </a:endParaRPr>
              </a:p>
              <a:p>
                <a:pPr marL="0" indent="0" algn="just">
                  <a:spcBef>
                    <a:spcPts val="1200"/>
                  </a:spcBef>
                  <a:buNone/>
                </a:pPr>
                <a:r>
                  <a:rPr lang="en-US" altLang="en-US" sz="3200" dirty="0">
                    <a:latin typeface="+mj-lt"/>
                    <a:ea typeface="Open Sans Light" panose="020B0306030504020204" pitchFamily="34" charset="0"/>
                    <a:cs typeface="Courier New" panose="02070309020205020404" pitchFamily="49" charset="0"/>
                  </a:rPr>
                  <a:t>Shifting a number by n bits is equivalent to:</a:t>
                </a:r>
              </a:p>
              <a:p>
                <a:pPr algn="just">
                  <a:spcBef>
                    <a:spcPts val="1200"/>
                  </a:spcBef>
                </a:pPr>
                <a:r>
                  <a:rPr lang="en-US" altLang="en-US" sz="3200" dirty="0">
                    <a:latin typeface="+mj-lt"/>
                    <a:ea typeface="Open Sans Light" panose="020B0306030504020204" pitchFamily="34" charset="0"/>
                    <a:cs typeface="Courier New" panose="02070309020205020404" pitchFamily="49" charset="0"/>
                  </a:rPr>
                  <a:t>B &lt;&lt; n → multiplying B by</a:t>
                </a:r>
                <a:r>
                  <a:rPr lang="en-US" altLang="en-US" sz="3200" dirty="0">
                    <a:ea typeface="Open Sans Light" panose="020B0306030504020204" pitchFamily="34" charset="0"/>
                    <a:cs typeface="Courier New" panose="02070309020205020404" pitchFamily="49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3200" i="1" smtClean="0">
                            <a:latin typeface="Cambria Math" panose="02040503050406030204" pitchFamily="18" charset="0"/>
                            <a:ea typeface="Open Sans Light" panose="020B0306030504020204" pitchFamily="34" charset="0"/>
                            <a:cs typeface="Courier New" panose="02070309020205020404" pitchFamily="49" charset="0"/>
                          </a:rPr>
                        </m:ctrlPr>
                      </m:sSupPr>
                      <m:e>
                        <m:r>
                          <a:rPr lang="en-US" altLang="en-US" sz="3200" b="0" i="1" smtClean="0">
                            <a:latin typeface="Cambria Math" panose="02040503050406030204" pitchFamily="18" charset="0"/>
                            <a:ea typeface="Open Sans Light" panose="020B0306030504020204" pitchFamily="34" charset="0"/>
                            <a:cs typeface="Courier New" panose="02070309020205020404" pitchFamily="49" charset="0"/>
                          </a:rPr>
                          <m:t>2</m:t>
                        </m:r>
                      </m:e>
                      <m:sup>
                        <m:r>
                          <a:rPr lang="en-US" altLang="en-US" sz="3200" b="0" i="1" smtClean="0">
                            <a:latin typeface="Cambria Math" panose="02040503050406030204" pitchFamily="18" charset="0"/>
                            <a:ea typeface="Open Sans Light" panose="020B0306030504020204" pitchFamily="34" charset="0"/>
                            <a:cs typeface="Courier New" panose="02070309020205020404" pitchFamily="49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altLang="en-US" sz="3200" dirty="0">
                  <a:latin typeface="+mj-lt"/>
                  <a:ea typeface="Open Sans Light" panose="020B0306030504020204" pitchFamily="34" charset="0"/>
                  <a:cs typeface="Courier New" panose="02070309020205020404" pitchFamily="49" charset="0"/>
                </a:endParaRPr>
              </a:p>
              <a:p>
                <a:pPr algn="just">
                  <a:spcBef>
                    <a:spcPts val="1200"/>
                  </a:spcBef>
                </a:pPr>
                <a:r>
                  <a:rPr lang="en-US" altLang="en-US" sz="3200" dirty="0">
                    <a:latin typeface="+mj-lt"/>
                    <a:ea typeface="Open Sans Light" panose="020B0306030504020204" pitchFamily="34" charset="0"/>
                    <a:cs typeface="Courier New" panose="02070309020205020404" pitchFamily="49" charset="0"/>
                  </a:rPr>
                  <a:t>B &gt;&gt; n → dividing B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3200" i="1" smtClean="0">
                            <a:latin typeface="Cambria Math" panose="02040503050406030204" pitchFamily="18" charset="0"/>
                            <a:ea typeface="Open Sans Light" panose="020B0306030504020204" pitchFamily="34" charset="0"/>
                            <a:cs typeface="Courier New" panose="02070309020205020404" pitchFamily="49" charset="0"/>
                          </a:rPr>
                        </m:ctrlPr>
                      </m:sSupPr>
                      <m:e>
                        <m:r>
                          <a:rPr lang="en-US" altLang="en-US" sz="3200" b="0" i="1" smtClean="0">
                            <a:latin typeface="Cambria Math" panose="02040503050406030204" pitchFamily="18" charset="0"/>
                            <a:ea typeface="Open Sans Light" panose="020B0306030504020204" pitchFamily="34" charset="0"/>
                            <a:cs typeface="Courier New" panose="02070309020205020404" pitchFamily="49" charset="0"/>
                          </a:rPr>
                          <m:t>2</m:t>
                        </m:r>
                      </m:e>
                      <m:sup>
                        <m:r>
                          <a:rPr lang="en-US" altLang="en-US" sz="3200" b="0" i="1" smtClean="0">
                            <a:latin typeface="Cambria Math" panose="02040503050406030204" pitchFamily="18" charset="0"/>
                            <a:ea typeface="Open Sans Light" panose="020B0306030504020204" pitchFamily="34" charset="0"/>
                            <a:cs typeface="Courier New" panose="02070309020205020404" pitchFamily="49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altLang="en-US" sz="3200" dirty="0">
                  <a:latin typeface="+mj-lt"/>
                  <a:ea typeface="Open Sans Light" panose="020B0306030504020204" pitchFamily="34" charset="0"/>
                  <a:cs typeface="Courier New" panose="02070309020205020404" pitchFamily="49" charset="0"/>
                </a:endParaRPr>
              </a:p>
              <a:p>
                <a:pPr algn="just">
                  <a:spcBef>
                    <a:spcPts val="1200"/>
                  </a:spcBef>
                </a:pPr>
                <a:endParaRPr lang="en-US" altLang="en-US" sz="3200" dirty="0">
                  <a:latin typeface="+mj-lt"/>
                  <a:ea typeface="Open Sans Light" panose="020B0306030504020204" pitchFamily="34" charset="0"/>
                  <a:cs typeface="Courier New" panose="02070309020205020404" pitchFamily="49" charset="0"/>
                </a:endParaRPr>
              </a:p>
              <a:p>
                <a:pPr marL="0" indent="0" algn="just">
                  <a:spcBef>
                    <a:spcPts val="1200"/>
                  </a:spcBef>
                  <a:buNone/>
                </a:pPr>
                <a:r>
                  <a:rPr lang="en-US" altLang="en-US" sz="3200" b="1" dirty="0">
                    <a:latin typeface="+mj-lt"/>
                    <a:ea typeface="Open Sans Light" panose="020B0306030504020204" pitchFamily="34" charset="0"/>
                    <a:cs typeface="Courier New" panose="02070309020205020404" pitchFamily="49" charset="0"/>
                  </a:rPr>
                  <a:t>Example</a:t>
                </a:r>
              </a:p>
              <a:p>
                <a:pPr marL="0" indent="0" algn="just">
                  <a:spcBef>
                    <a:spcPts val="1200"/>
                  </a:spcBef>
                  <a:buNone/>
                </a:pPr>
                <a:r>
                  <a:rPr lang="en-US" altLang="en-US" sz="3600" dirty="0">
                    <a:latin typeface="Courier New" panose="02070309020205020404" pitchFamily="49" charset="0"/>
                    <a:ea typeface="Open Sans Light" panose="020B0306030504020204" pitchFamily="34" charset="0"/>
                    <a:cs typeface="Courier New" panose="02070309020205020404" pitchFamily="49" charset="0"/>
                  </a:rPr>
                  <a:t>int A, B = 78;</a:t>
                </a:r>
              </a:p>
              <a:p>
                <a:pPr marL="0" indent="0" algn="just">
                  <a:spcBef>
                    <a:spcPts val="1200"/>
                  </a:spcBef>
                  <a:buNone/>
                </a:pPr>
                <a:r>
                  <a:rPr lang="en-US" altLang="en-US" sz="3600" dirty="0">
                    <a:latin typeface="Courier New" panose="02070309020205020404" pitchFamily="49" charset="0"/>
                    <a:ea typeface="Open Sans Light" panose="020B0306030504020204" pitchFamily="34" charset="0"/>
                    <a:cs typeface="Courier New" panose="02070309020205020404" pitchFamily="49" charset="0"/>
                  </a:rPr>
                  <a:t>A = B &gt;&gt; 3;  // A=78/8=9</a:t>
                </a:r>
              </a:p>
              <a:p>
                <a:pPr marL="0" indent="0" algn="just">
                  <a:spcBef>
                    <a:spcPts val="1200"/>
                  </a:spcBef>
                  <a:buNone/>
                </a:pPr>
                <a:r>
                  <a:rPr lang="en-US" altLang="en-US" sz="3600" dirty="0">
                    <a:latin typeface="Courier New" panose="02070309020205020404" pitchFamily="49" charset="0"/>
                    <a:ea typeface="Open Sans Light" panose="020B0306030504020204" pitchFamily="34" charset="0"/>
                    <a:cs typeface="Courier New" panose="02070309020205020404" pitchFamily="49" charset="0"/>
                  </a:rPr>
                  <a:t>A = B &lt;&lt; 2;  // A=78*4=312</a:t>
                </a:r>
              </a:p>
              <a:p>
                <a:pPr marL="0" indent="0" algn="just">
                  <a:spcBef>
                    <a:spcPts val="1200"/>
                  </a:spcBef>
                  <a:buNone/>
                </a:pPr>
                <a:endParaRPr lang="en-US" altLang="en-US" sz="3200" dirty="0">
                  <a:latin typeface="Courier New" panose="02070309020205020404" pitchFamily="49" charset="0"/>
                  <a:ea typeface="Open Sans Light" panose="020B0306030504020204" pitchFamily="34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864211F-6121-137E-8209-E88AADC4F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377" y="3257550"/>
                <a:ext cx="20502123" cy="7296150"/>
              </a:xfrm>
              <a:prstGeom prst="rect">
                <a:avLst/>
              </a:prstGeom>
              <a:blipFill>
                <a:blip r:embed="rId2"/>
                <a:stretch>
                  <a:fillRect l="-1457" t="-1003" b="-10192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01C85E4-6842-0429-E4A8-75798ADEEB8A}"/>
              </a:ext>
            </a:extLst>
          </p:cNvPr>
          <p:cNvSpPr txBox="1">
            <a:spLocks/>
          </p:cNvSpPr>
          <p:nvPr/>
        </p:nvSpPr>
        <p:spPr>
          <a:xfrm>
            <a:off x="11534865" y="7687465"/>
            <a:ext cx="10696161" cy="5133185"/>
          </a:xfrm>
          <a:prstGeom prst="rect">
            <a:avLst/>
          </a:prstGeom>
          <a:ln w="12700">
            <a:solidFill>
              <a:schemeClr val="bg2">
                <a:lumMod val="10000"/>
              </a:schemeClr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200" b="1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Explanation: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2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B = 78 in binary: 0100 1110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2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B &gt;&gt; 3:</a:t>
            </a:r>
          </a:p>
          <a:p>
            <a:pPr algn="just">
              <a:spcBef>
                <a:spcPts val="1200"/>
              </a:spcBef>
            </a:pPr>
            <a:r>
              <a:rPr lang="en-US" altLang="en-US" sz="32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1</a:t>
            </a:r>
            <a:r>
              <a:rPr lang="en-US" altLang="en-US" sz="3200" baseline="300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st</a:t>
            </a:r>
            <a:r>
              <a:rPr lang="en-US" altLang="en-US" sz="32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 shift right: 0010 0111</a:t>
            </a:r>
          </a:p>
          <a:p>
            <a:pPr algn="just">
              <a:spcBef>
                <a:spcPts val="1200"/>
              </a:spcBef>
            </a:pPr>
            <a:r>
              <a:rPr lang="en-US" altLang="en-US" sz="32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2</a:t>
            </a:r>
            <a:r>
              <a:rPr lang="en-US" altLang="en-US" sz="3200" baseline="300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nd</a:t>
            </a:r>
            <a:r>
              <a:rPr lang="en-US" altLang="en-US" sz="32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 shift right: 0001 0011</a:t>
            </a:r>
          </a:p>
          <a:p>
            <a:pPr algn="just">
              <a:spcBef>
                <a:spcPts val="1200"/>
              </a:spcBef>
            </a:pPr>
            <a:r>
              <a:rPr lang="en-US" altLang="en-US" sz="32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3</a:t>
            </a:r>
            <a:r>
              <a:rPr lang="en-US" altLang="en-US" sz="3200" baseline="300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rd</a:t>
            </a:r>
            <a:r>
              <a:rPr lang="en-US" altLang="en-US" sz="32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 shift right : 00001001 →</a:t>
            </a:r>
            <a:r>
              <a:rPr lang="en-US" altLang="en-US" sz="32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  <a:sym typeface="Wingdings" panose="05000000000000000000" pitchFamily="2" charset="2"/>
              </a:rPr>
              <a:t> decimal</a:t>
            </a:r>
            <a:r>
              <a:rPr lang="en-US" altLang="en-US" sz="32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 9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200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2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B &lt;&lt; 2: Shift left by 2 bits → 1100 1000 → decimal 312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200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1964303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99212-228E-1776-F0BE-94EBD4391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1402D-9DA2-2D36-8F98-093CCCFEA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Pointer Operator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CDED4C-E81D-DDF9-28F8-3F4294A65B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1E19F5-EC35-92EF-8685-C427203B1D7F}"/>
              </a:ext>
            </a:extLst>
          </p:cNvPr>
          <p:cNvSpPr txBox="1">
            <a:spLocks/>
          </p:cNvSpPr>
          <p:nvPr/>
        </p:nvSpPr>
        <p:spPr>
          <a:xfrm>
            <a:off x="2167377" y="4038600"/>
            <a:ext cx="20502123" cy="7048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altLang="en-US" sz="4000" b="1" dirty="0">
                <a:latin typeface="+mj-lt"/>
                <a:cs typeface="Tahoma" pitchFamily="34" charset="0"/>
              </a:rPr>
              <a:t>Pointer operators consist of: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en-US" sz="4000" b="1" dirty="0">
              <a:latin typeface="+mj-lt"/>
              <a:cs typeface="Tahoma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4000" b="1" dirty="0">
                <a:latin typeface="+mj-lt"/>
                <a:cs typeface="Tahoma" pitchFamily="34" charset="0"/>
              </a:rPr>
              <a:t>&amp;</a:t>
            </a:r>
            <a:r>
              <a:rPr lang="en-US" altLang="en-US" sz="4000" dirty="0">
                <a:latin typeface="+mj-lt"/>
                <a:cs typeface="Tahoma" pitchFamily="34" charset="0"/>
              </a:rPr>
              <a:t> (address operator):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4000" dirty="0">
                <a:latin typeface="+mj-lt"/>
                <a:cs typeface="Tahoma" pitchFamily="34" charset="0"/>
              </a:rPr>
              <a:t>Returns the memory address of a variable.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en-US" sz="4000" dirty="0">
              <a:latin typeface="+mj-lt"/>
              <a:ea typeface="Open Sans Light" panose="020B0306030504020204" pitchFamily="34" charset="0"/>
              <a:cs typeface="Tahoma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4000" b="1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*</a:t>
            </a:r>
            <a:r>
              <a:rPr lang="en-US" altLang="en-US" sz="40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 (dereference operator)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40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Returns the value stored at the address the pointer is pointing </a:t>
            </a:r>
            <a:r>
              <a:rPr lang="en-US" altLang="en-US" sz="4000" dirty="0" err="1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to.Example</a:t>
            </a:r>
            <a:r>
              <a:rPr lang="en-US" altLang="en-US" sz="40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:</a:t>
            </a:r>
          </a:p>
          <a:p>
            <a:pPr marL="0" indent="0" algn="just">
              <a:spcBef>
                <a:spcPts val="0"/>
              </a:spcBef>
              <a:buNone/>
            </a:pPr>
            <a:endParaRPr lang="en-US" altLang="en-US" sz="4000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57D0A7C7-6917-F8DB-04F4-D283A9E50585}"/>
              </a:ext>
            </a:extLst>
          </p:cNvPr>
          <p:cNvSpPr txBox="1">
            <a:spLocks/>
          </p:cNvSpPr>
          <p:nvPr/>
        </p:nvSpPr>
        <p:spPr>
          <a:xfrm>
            <a:off x="2371815" y="10030615"/>
            <a:ext cx="17363985" cy="1056485"/>
          </a:xfrm>
          <a:prstGeom prst="rect">
            <a:avLst/>
          </a:prstGeom>
          <a:ln w="12700">
            <a:solidFill>
              <a:schemeClr val="bg2">
                <a:lumMod val="10000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ctr" eaLnBrk="1" hangingPunct="1">
              <a:spcBef>
                <a:spcPct val="50000"/>
              </a:spcBef>
              <a:buNone/>
            </a:pPr>
            <a:r>
              <a:rPr lang="en-US" altLang="en-US" sz="4400" b="1" dirty="0">
                <a:latin typeface="+mj-lt"/>
                <a:cs typeface="Tahoma" pitchFamily="34" charset="0"/>
              </a:rPr>
              <a:t>Will be discussed on session 13-14</a:t>
            </a:r>
          </a:p>
        </p:txBody>
      </p:sp>
    </p:spTree>
    <p:extLst>
      <p:ext uri="{BB962C8B-B14F-4D97-AF65-F5344CB8AC3E}">
        <p14:creationId xmlns:p14="http://schemas.microsoft.com/office/powerpoint/2010/main" val="2546590749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64714-402F-D014-3ED6-D1C23B58B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C6316-FF85-D7D5-B78A-855629E2B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Precedence and ASSOCIATIVE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270239-F0C5-0EE6-89D9-DE8564E247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CB49861F-B8DE-82A6-B83D-C889CF38DB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2127" y="3362228"/>
            <a:ext cx="12005823" cy="87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FD907CA-21C7-714F-CEB3-3D586F573B75}"/>
              </a:ext>
            </a:extLst>
          </p:cNvPr>
          <p:cNvSpPr txBox="1">
            <a:spLocks/>
          </p:cNvSpPr>
          <p:nvPr/>
        </p:nvSpPr>
        <p:spPr>
          <a:xfrm>
            <a:off x="14516100" y="3505199"/>
            <a:ext cx="8401050" cy="8618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US" altLang="en-US" sz="3200" dirty="0">
                <a:latin typeface="+mj-lt"/>
                <a:cs typeface="Tahoma" pitchFamily="34" charset="0"/>
              </a:rPr>
              <a:t>Every operator will have </a:t>
            </a:r>
            <a:r>
              <a:rPr lang="en-US" altLang="en-US" sz="3200" b="1" dirty="0">
                <a:latin typeface="+mj-lt"/>
                <a:cs typeface="Tahoma" pitchFamily="34" charset="0"/>
              </a:rPr>
              <a:t>precedence</a:t>
            </a:r>
            <a:r>
              <a:rPr lang="en-US" altLang="en-US" sz="3200" dirty="0">
                <a:latin typeface="+mj-lt"/>
                <a:cs typeface="Tahoma" pitchFamily="34" charset="0"/>
              </a:rPr>
              <a:t> and </a:t>
            </a:r>
            <a:r>
              <a:rPr lang="en-US" altLang="en-US" sz="3200" b="1" dirty="0">
                <a:latin typeface="+mj-lt"/>
                <a:cs typeface="Tahoma" pitchFamily="34" charset="0"/>
              </a:rPr>
              <a:t>associative</a:t>
            </a:r>
            <a:r>
              <a:rPr lang="en-US" altLang="en-US" sz="3200" dirty="0">
                <a:latin typeface="+mj-lt"/>
                <a:cs typeface="Tahoma" pitchFamily="34" charset="0"/>
              </a:rPr>
              <a:t>.</a:t>
            </a:r>
          </a:p>
          <a:p>
            <a:pPr marL="0" indent="0">
              <a:spcBef>
                <a:spcPts val="1200"/>
              </a:spcBef>
              <a:buNone/>
            </a:pPr>
            <a:endParaRPr lang="en-US" altLang="en-US" sz="3200" dirty="0">
              <a:latin typeface="+mj-lt"/>
              <a:cs typeface="Tahoma" pitchFamily="34" charset="0"/>
            </a:endParaRPr>
          </a:p>
          <a:p>
            <a:pPr>
              <a:spcBef>
                <a:spcPts val="1200"/>
              </a:spcBef>
            </a:pPr>
            <a:r>
              <a:rPr lang="en-US" altLang="en-US" sz="3200" b="1" dirty="0">
                <a:latin typeface="+mj-lt"/>
                <a:cs typeface="Tahoma" pitchFamily="34" charset="0"/>
              </a:rPr>
              <a:t>Precedence </a:t>
            </a:r>
            <a:r>
              <a:rPr lang="en-US" altLang="en-US" sz="3200" dirty="0">
                <a:latin typeface="+mj-lt"/>
                <a:cs typeface="Tahoma" pitchFamily="34" charset="0"/>
              </a:rPr>
              <a:t>determines the priority of operators in an expression. </a:t>
            </a:r>
          </a:p>
          <a:p>
            <a:pPr marL="623888" lvl="1" indent="0">
              <a:spcBef>
                <a:spcPts val="1200"/>
              </a:spcBef>
              <a:buNone/>
            </a:pPr>
            <a:r>
              <a:rPr lang="en-US" altLang="en-US" sz="3200" dirty="0">
                <a:latin typeface="+mj-lt"/>
                <a:cs typeface="Tahoma" pitchFamily="34" charset="0"/>
              </a:rPr>
              <a:t>Operators with higher precedence are evaluated first.</a:t>
            </a:r>
          </a:p>
          <a:p>
            <a:pPr marL="0" indent="0">
              <a:spcBef>
                <a:spcPts val="1200"/>
              </a:spcBef>
              <a:buNone/>
            </a:pPr>
            <a:endParaRPr lang="en-US" altLang="en-US" sz="3200" dirty="0">
              <a:latin typeface="+mj-lt"/>
              <a:cs typeface="Tahoma" pitchFamily="34" charset="0"/>
            </a:endParaRPr>
          </a:p>
          <a:p>
            <a:pPr>
              <a:spcBef>
                <a:spcPts val="1200"/>
              </a:spcBef>
            </a:pPr>
            <a:r>
              <a:rPr lang="en-US" altLang="en-US" sz="3200" b="1" dirty="0">
                <a:latin typeface="+mj-lt"/>
                <a:cs typeface="Tahoma" pitchFamily="34" charset="0"/>
              </a:rPr>
              <a:t>Associativity </a:t>
            </a:r>
            <a:r>
              <a:rPr lang="en-US" altLang="en-US" sz="3200" dirty="0">
                <a:latin typeface="+mj-lt"/>
                <a:cs typeface="Tahoma" pitchFamily="34" charset="0"/>
              </a:rPr>
              <a:t>determines the order of evaluation when two or more operators have the same precedence level.</a:t>
            </a:r>
          </a:p>
          <a:p>
            <a:pPr marL="623888" lvl="1" indent="0">
              <a:spcBef>
                <a:spcPts val="1200"/>
              </a:spcBef>
              <a:buNone/>
            </a:pPr>
            <a:r>
              <a:rPr lang="en-US" altLang="en-US" sz="3200" dirty="0">
                <a:latin typeface="+mj-lt"/>
                <a:ea typeface="Open Sans Light" panose="020B0306030504020204" pitchFamily="34" charset="0"/>
                <a:cs typeface="Tahoma" pitchFamily="34" charset="0"/>
              </a:rPr>
              <a:t>Associativity can be left to right (e.g., +, -, *, /) or right to left (e.g., assignment =, unary !, ~)</a:t>
            </a:r>
            <a:endParaRPr lang="en-US" altLang="en-US" sz="3200" dirty="0">
              <a:latin typeface="Courier New" panose="02070309020205020404" pitchFamily="49" charset="0"/>
              <a:ea typeface="Open Sans Light" panose="020B030603050402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0710222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888EE-AD7F-BFCF-EFB7-BE85C39D7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55D76-7AF7-4A57-7235-080C6D7C6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Precedence and ASSOCIATIVE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828CE-9E21-E037-D788-C629727D47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0D4002B-88B3-6679-3336-C1037F4F37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377" y="3565983"/>
            <a:ext cx="9768875" cy="7225179"/>
          </a:xfrm>
          <a:prstGeom prst="rect">
            <a:avLst/>
          </a:prstGeom>
        </p:spPr>
      </p:pic>
      <p:pic>
        <p:nvPicPr>
          <p:cNvPr id="11" name="Picture 10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30E893E-C9DC-5479-9CC5-C5EB489D68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77700" y="3565983"/>
            <a:ext cx="9643282" cy="7225179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015BB7FD-4A37-A2BF-6ED3-20EF668A7C27}"/>
              </a:ext>
            </a:extLst>
          </p:cNvPr>
          <p:cNvSpPr txBox="1">
            <a:spLocks/>
          </p:cNvSpPr>
          <p:nvPr/>
        </p:nvSpPr>
        <p:spPr>
          <a:xfrm>
            <a:off x="3456474" y="10382250"/>
            <a:ext cx="6735276" cy="226695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10000"/>
              </a:schemeClr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spcBef>
                <a:spcPts val="1200"/>
              </a:spcBef>
              <a:buNone/>
            </a:pPr>
            <a:r>
              <a:rPr lang="en-US" altLang="en-US" sz="4000" b="1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Output: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9.00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10.00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D1FB5FE0-7E03-303A-491C-94E511323497}"/>
              </a:ext>
            </a:extLst>
          </p:cNvPr>
          <p:cNvSpPr txBox="1">
            <a:spLocks/>
          </p:cNvSpPr>
          <p:nvPr/>
        </p:nvSpPr>
        <p:spPr>
          <a:xfrm>
            <a:off x="15127154" y="10382250"/>
            <a:ext cx="6735276" cy="226695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10000"/>
              </a:schemeClr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spcBef>
                <a:spcPts val="1200"/>
              </a:spcBef>
              <a:buNone/>
            </a:pPr>
            <a:r>
              <a:rPr lang="en-US" altLang="en-US" sz="4000" b="1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Output: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20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2946864140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86EA5-BCA1-3295-49C2-DB14D881A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FC1F7-855D-E3C0-782B-68B7432F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exercise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0C4902-46C4-1E95-FE4D-EA683502FD99}"/>
              </a:ext>
            </a:extLst>
          </p:cNvPr>
          <p:cNvSpPr txBox="1">
            <a:spLocks/>
          </p:cNvSpPr>
          <p:nvPr/>
        </p:nvSpPr>
        <p:spPr>
          <a:xfrm>
            <a:off x="2167377" y="3257550"/>
            <a:ext cx="20502123" cy="95261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Question 1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If all variables are integer, then state the value of A if: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B=23; C=12; D=32; E=0;</a:t>
            </a:r>
          </a:p>
          <a:p>
            <a:pPr marL="742950" indent="-742950" algn="just">
              <a:spcBef>
                <a:spcPts val="1200"/>
              </a:spcBef>
              <a:buFont typeface="+mj-lt"/>
              <a:buAutoNum type="alphaLcParenR"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A = B &amp;&amp; E;</a:t>
            </a:r>
          </a:p>
          <a:p>
            <a:pPr marL="742950" indent="-742950" algn="just">
              <a:spcBef>
                <a:spcPts val="1200"/>
              </a:spcBef>
              <a:buFont typeface="+mj-lt"/>
              <a:buAutoNum type="alphaLcParenR"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A = B &amp; C;</a:t>
            </a:r>
          </a:p>
          <a:p>
            <a:pPr marL="742950" indent="-742950" algn="just">
              <a:spcBef>
                <a:spcPts val="1200"/>
              </a:spcBef>
              <a:buFont typeface="+mj-lt"/>
              <a:buAutoNum type="alphaLcParenR"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A = C || D;</a:t>
            </a:r>
          </a:p>
          <a:p>
            <a:pPr marL="742950" indent="-742950" algn="just">
              <a:spcBef>
                <a:spcPts val="1200"/>
              </a:spcBef>
              <a:buFont typeface="+mj-lt"/>
              <a:buAutoNum type="alphaLcParenR"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A = B | D;</a:t>
            </a:r>
          </a:p>
          <a:p>
            <a:pPr marL="742950" indent="-742950" algn="just">
              <a:spcBef>
                <a:spcPts val="1200"/>
              </a:spcBef>
              <a:buFont typeface="+mj-lt"/>
              <a:buAutoNum type="alphaLcParenR"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A = B &gt; 2;</a:t>
            </a:r>
          </a:p>
          <a:p>
            <a:pPr marL="742950" indent="-742950" algn="just">
              <a:spcBef>
                <a:spcPts val="1200"/>
              </a:spcBef>
              <a:buFont typeface="+mj-lt"/>
              <a:buAutoNum type="alphaLcParenR"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A = B &gt;&gt; 2;</a:t>
            </a:r>
          </a:p>
          <a:p>
            <a:pPr marL="742950" indent="-742950" algn="just">
              <a:spcBef>
                <a:spcPts val="1200"/>
              </a:spcBef>
              <a:buFont typeface="+mj-lt"/>
              <a:buAutoNum type="alphaLcParenR"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A = C &lt; 3;</a:t>
            </a:r>
          </a:p>
          <a:p>
            <a:pPr marL="742950" indent="-742950" algn="just">
              <a:spcBef>
                <a:spcPts val="1200"/>
              </a:spcBef>
              <a:buFont typeface="+mj-lt"/>
              <a:buAutoNum type="alphaLcParenR"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A = C &lt;&lt; 3;</a:t>
            </a:r>
          </a:p>
          <a:p>
            <a:pPr marL="742950" indent="-742950" algn="just">
              <a:spcBef>
                <a:spcPts val="1200"/>
              </a:spcBef>
              <a:buFont typeface="+mj-lt"/>
              <a:buAutoNum type="alphaLcParenR"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A = B = C;</a:t>
            </a:r>
          </a:p>
          <a:p>
            <a:pPr marL="742950" indent="-742950" algn="just">
              <a:spcBef>
                <a:spcPts val="1200"/>
              </a:spcBef>
              <a:buFont typeface="+mj-lt"/>
              <a:buAutoNum type="alphaLcParenR"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A = B == C;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600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5174800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52499-C4D5-A6E9-097D-095D18AC6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2BCC8-C36D-A7F7-8810-E721CB910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exercise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E7CA82-CE30-A701-E2E8-D4D37D49275E}"/>
              </a:ext>
            </a:extLst>
          </p:cNvPr>
          <p:cNvSpPr txBox="1">
            <a:spLocks/>
          </p:cNvSpPr>
          <p:nvPr/>
        </p:nvSpPr>
        <p:spPr>
          <a:xfrm>
            <a:off x="2167377" y="3257550"/>
            <a:ext cx="9438469" cy="8076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Question 2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600" b="1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id-ID" sz="3600" dirty="0">
                <a:latin typeface="Courier New" pitchFamily="49" charset="0"/>
              </a:rPr>
              <a:t>#include &lt;</a:t>
            </a:r>
            <a:r>
              <a:rPr lang="id-ID" sz="3600" dirty="0" err="1">
                <a:latin typeface="Courier New" pitchFamily="49" charset="0"/>
              </a:rPr>
              <a:t>stdio.h</a:t>
            </a:r>
            <a:r>
              <a:rPr lang="id-ID" sz="3600" dirty="0">
                <a:latin typeface="Courier New" pitchFamily="49" charset="0"/>
              </a:rPr>
              <a:t>&gt;</a:t>
            </a:r>
          </a:p>
          <a:p>
            <a:pPr marL="9525">
              <a:spcBef>
                <a:spcPts val="0"/>
              </a:spcBef>
              <a:buNone/>
            </a:pPr>
            <a:r>
              <a:rPr lang="id-ID" sz="3600" dirty="0">
                <a:latin typeface="Courier New" pitchFamily="49" charset="0"/>
              </a:rPr>
              <a:t>int main()</a:t>
            </a:r>
          </a:p>
          <a:p>
            <a:pPr marL="9525">
              <a:spcBef>
                <a:spcPts val="0"/>
              </a:spcBef>
              <a:buNone/>
            </a:pPr>
            <a:r>
              <a:rPr lang="id-ID" sz="3600" dirty="0">
                <a:latin typeface="Courier New" pitchFamily="49" charset="0"/>
              </a:rPr>
              <a:t>{</a:t>
            </a:r>
          </a:p>
          <a:p>
            <a:pPr marL="9525">
              <a:spcBef>
                <a:spcPts val="0"/>
              </a:spcBef>
              <a:buNone/>
            </a:pPr>
            <a:r>
              <a:rPr lang="id-ID" sz="3600" dirty="0">
                <a:latin typeface="Courier New" pitchFamily="49" charset="0"/>
              </a:rPr>
              <a:t>   int x=10, y=6;</a:t>
            </a:r>
          </a:p>
          <a:p>
            <a:pPr marL="9525">
              <a:spcBef>
                <a:spcPts val="0"/>
              </a:spcBef>
              <a:buNone/>
            </a:pPr>
            <a:r>
              <a:rPr lang="id-ID" sz="3600" dirty="0">
                <a:latin typeface="Courier New" pitchFamily="49" charset="0"/>
              </a:rPr>
              <a:t>   x *= 5 + y;</a:t>
            </a:r>
          </a:p>
          <a:p>
            <a:pPr marL="9525">
              <a:spcBef>
                <a:spcPts val="0"/>
              </a:spcBef>
              <a:buNone/>
            </a:pPr>
            <a:r>
              <a:rPr lang="id-ID" sz="3600" dirty="0">
                <a:latin typeface="Courier New" pitchFamily="49" charset="0"/>
              </a:rPr>
              <a:t>   </a:t>
            </a:r>
            <a:r>
              <a:rPr lang="id-ID" sz="3600" dirty="0" err="1">
                <a:latin typeface="Courier New" pitchFamily="49" charset="0"/>
              </a:rPr>
              <a:t>printf</a:t>
            </a:r>
            <a:r>
              <a:rPr lang="id-ID" sz="3600" dirty="0">
                <a:latin typeface="Courier New" pitchFamily="49" charset="0"/>
              </a:rPr>
              <a:t>("%d\</a:t>
            </a:r>
            <a:r>
              <a:rPr lang="id-ID" sz="3600" dirty="0" err="1">
                <a:latin typeface="Courier New" pitchFamily="49" charset="0"/>
              </a:rPr>
              <a:t>n",x</a:t>
            </a:r>
            <a:r>
              <a:rPr lang="id-ID" sz="3600" dirty="0">
                <a:latin typeface="Courier New" pitchFamily="49" charset="0"/>
              </a:rPr>
              <a:t>);</a:t>
            </a:r>
          </a:p>
          <a:p>
            <a:pPr marL="9525">
              <a:spcBef>
                <a:spcPts val="0"/>
              </a:spcBef>
              <a:buNone/>
            </a:pPr>
            <a:r>
              <a:rPr lang="id-ID" sz="3600" dirty="0">
                <a:latin typeface="Courier New" pitchFamily="49" charset="0"/>
              </a:rPr>
              <a:t>   </a:t>
            </a:r>
            <a:r>
              <a:rPr lang="id-ID" sz="3600" dirty="0" err="1">
                <a:latin typeface="Courier New" pitchFamily="49" charset="0"/>
              </a:rPr>
              <a:t>return</a:t>
            </a:r>
            <a:r>
              <a:rPr lang="id-ID" sz="3600" dirty="0">
                <a:latin typeface="Courier New" pitchFamily="49" charset="0"/>
              </a:rPr>
              <a:t>(0);</a:t>
            </a:r>
          </a:p>
          <a:p>
            <a:pPr marL="9525">
              <a:spcBef>
                <a:spcPts val="0"/>
              </a:spcBef>
              <a:buNone/>
            </a:pPr>
            <a:r>
              <a:rPr lang="id-ID" sz="3600" dirty="0">
                <a:latin typeface="Courier New" pitchFamily="49" charset="0"/>
              </a:rPr>
              <a:t>}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600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1200"/>
              </a:spcBef>
              <a:buNone/>
            </a:pPr>
            <a:r>
              <a:rPr lang="id-ID" sz="3600" dirty="0" err="1">
                <a:latin typeface="+mj-lt"/>
                <a:cs typeface="Tahoma" pitchFamily="34" charset="0"/>
              </a:rPr>
              <a:t>What</a:t>
            </a:r>
            <a:r>
              <a:rPr lang="id-ID" sz="3600" dirty="0">
                <a:latin typeface="+mj-lt"/>
                <a:cs typeface="Tahoma" pitchFamily="34" charset="0"/>
              </a:rPr>
              <a:t> </a:t>
            </a:r>
            <a:r>
              <a:rPr lang="id-ID" sz="3600" dirty="0" err="1">
                <a:latin typeface="+mj-lt"/>
                <a:cs typeface="Tahoma" pitchFamily="34" charset="0"/>
              </a:rPr>
              <a:t>is</a:t>
            </a:r>
            <a:r>
              <a:rPr lang="id-ID" sz="3600" dirty="0">
                <a:latin typeface="+mj-lt"/>
                <a:cs typeface="Tahoma" pitchFamily="34" charset="0"/>
              </a:rPr>
              <a:t> </a:t>
            </a:r>
            <a:r>
              <a:rPr lang="id-ID" sz="3600" dirty="0" err="1">
                <a:latin typeface="+mj-lt"/>
                <a:cs typeface="Tahoma" pitchFamily="34" charset="0"/>
              </a:rPr>
              <a:t>value</a:t>
            </a:r>
            <a:r>
              <a:rPr lang="en-US" sz="3600" dirty="0">
                <a:latin typeface="+mj-lt"/>
                <a:cs typeface="Tahoma" pitchFamily="34" charset="0"/>
              </a:rPr>
              <a:t> of </a:t>
            </a:r>
            <a:r>
              <a:rPr lang="en-US" sz="3600" b="1" dirty="0">
                <a:latin typeface="+mj-lt"/>
                <a:cs typeface="Tahoma" pitchFamily="34" charset="0"/>
              </a:rPr>
              <a:t>x</a:t>
            </a:r>
            <a:r>
              <a:rPr lang="id-ID" sz="3600" dirty="0">
                <a:latin typeface="+mj-lt"/>
                <a:cs typeface="Tahoma" pitchFamily="34" charset="0"/>
              </a:rPr>
              <a:t> </a:t>
            </a:r>
            <a:r>
              <a:rPr lang="id-ID" sz="3600" dirty="0" err="1">
                <a:latin typeface="+mj-lt"/>
                <a:cs typeface="Tahoma" pitchFamily="34" charset="0"/>
              </a:rPr>
              <a:t>on</a:t>
            </a:r>
            <a:r>
              <a:rPr lang="id-ID" sz="3600" dirty="0">
                <a:latin typeface="+mj-lt"/>
                <a:cs typeface="Tahoma" pitchFamily="34" charset="0"/>
              </a:rPr>
              <a:t> </a:t>
            </a:r>
            <a:r>
              <a:rPr lang="id-ID" sz="3600" dirty="0" err="1">
                <a:latin typeface="+mj-lt"/>
                <a:cs typeface="Tahoma" pitchFamily="34" charset="0"/>
              </a:rPr>
              <a:t>the</a:t>
            </a:r>
            <a:r>
              <a:rPr lang="id-ID" sz="3600" dirty="0">
                <a:latin typeface="+mj-lt"/>
                <a:cs typeface="Tahoma" pitchFamily="34" charset="0"/>
              </a:rPr>
              <a:t> </a:t>
            </a:r>
            <a:r>
              <a:rPr lang="id-ID" sz="3600" dirty="0" err="1">
                <a:latin typeface="+mj-lt"/>
                <a:cs typeface="Tahoma" pitchFamily="34" charset="0"/>
              </a:rPr>
              <a:t>screen</a:t>
            </a:r>
            <a:r>
              <a:rPr lang="id-ID" sz="3600" dirty="0">
                <a:latin typeface="+mj-lt"/>
                <a:cs typeface="Tahoma" pitchFamily="34" charset="0"/>
              </a:rPr>
              <a:t> ?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600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2C67477E-54BD-9240-B8BD-D75F51745D7E}"/>
              </a:ext>
            </a:extLst>
          </p:cNvPr>
          <p:cNvSpPr txBox="1">
            <a:spLocks/>
          </p:cNvSpPr>
          <p:nvPr/>
        </p:nvSpPr>
        <p:spPr>
          <a:xfrm>
            <a:off x="12163711" y="3257549"/>
            <a:ext cx="9438469" cy="96847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Question 3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600" b="1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id-ID" sz="3600" dirty="0">
                <a:latin typeface="Courier New" pitchFamily="49" charset="0"/>
              </a:rPr>
              <a:t>#include &lt;</a:t>
            </a:r>
            <a:r>
              <a:rPr lang="id-ID" sz="3600" dirty="0" err="1">
                <a:latin typeface="Courier New" pitchFamily="49" charset="0"/>
              </a:rPr>
              <a:t>stdio.h</a:t>
            </a:r>
            <a:r>
              <a:rPr lang="id-ID" sz="3600" dirty="0">
                <a:latin typeface="Courier New" pitchFamily="49" charset="0"/>
              </a:rPr>
              <a:t>&gt;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id-ID" sz="3600" dirty="0">
                <a:latin typeface="Courier New" pitchFamily="49" charset="0"/>
              </a:rPr>
              <a:t>int main()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id-ID" sz="3600" dirty="0">
                <a:latin typeface="Courier New" pitchFamily="49" charset="0"/>
              </a:rPr>
              <a:t>{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id-ID" sz="3600" dirty="0">
                <a:latin typeface="Courier New" pitchFamily="49" charset="0"/>
              </a:rPr>
              <a:t>   </a:t>
            </a:r>
            <a:r>
              <a:rPr lang="id-ID" sz="3600" dirty="0" err="1">
                <a:latin typeface="Courier New" pitchFamily="49" charset="0"/>
              </a:rPr>
              <a:t>float</a:t>
            </a:r>
            <a:r>
              <a:rPr lang="id-ID" sz="3600" dirty="0">
                <a:latin typeface="Courier New" pitchFamily="49" charset="0"/>
              </a:rPr>
              <a:t> x;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id-ID" sz="3600" dirty="0">
                <a:latin typeface="Courier New" pitchFamily="49" charset="0"/>
              </a:rPr>
              <a:t>   x=7/2;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id-ID" sz="3600" dirty="0">
                <a:latin typeface="Courier New" pitchFamily="49" charset="0"/>
              </a:rPr>
              <a:t>   </a:t>
            </a:r>
            <a:r>
              <a:rPr lang="id-ID" sz="3600" dirty="0" err="1">
                <a:latin typeface="Courier New" pitchFamily="49" charset="0"/>
              </a:rPr>
              <a:t>printf</a:t>
            </a:r>
            <a:r>
              <a:rPr lang="id-ID" sz="3600" dirty="0">
                <a:latin typeface="Courier New" pitchFamily="49" charset="0"/>
              </a:rPr>
              <a:t>("x = %f\n", x);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id-ID" sz="3600" dirty="0">
                <a:latin typeface="Courier New" pitchFamily="49" charset="0"/>
              </a:rPr>
              <a:t>   x=7.0/2;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id-ID" sz="3600" dirty="0">
                <a:latin typeface="Courier New" pitchFamily="49" charset="0"/>
              </a:rPr>
              <a:t>   </a:t>
            </a:r>
            <a:r>
              <a:rPr lang="id-ID" sz="3600" dirty="0" err="1">
                <a:latin typeface="Courier New" pitchFamily="49" charset="0"/>
              </a:rPr>
              <a:t>printf</a:t>
            </a:r>
            <a:r>
              <a:rPr lang="id-ID" sz="3600" dirty="0">
                <a:latin typeface="Courier New" pitchFamily="49" charset="0"/>
              </a:rPr>
              <a:t>("x = %f\n", x);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id-ID" sz="3600" dirty="0">
                <a:latin typeface="Courier New" pitchFamily="49" charset="0"/>
              </a:rPr>
              <a:t>   x=7.0/2.0;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id-ID" sz="3600" dirty="0">
                <a:latin typeface="Courier New" pitchFamily="49" charset="0"/>
              </a:rPr>
              <a:t>   </a:t>
            </a:r>
            <a:r>
              <a:rPr lang="id-ID" sz="3600" dirty="0" err="1">
                <a:latin typeface="Courier New" pitchFamily="49" charset="0"/>
              </a:rPr>
              <a:t>printf</a:t>
            </a:r>
            <a:r>
              <a:rPr lang="id-ID" sz="3600" dirty="0">
                <a:latin typeface="Courier New" pitchFamily="49" charset="0"/>
              </a:rPr>
              <a:t>("x = %f\n", x);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id-ID" sz="3600" dirty="0">
                <a:latin typeface="Courier New" pitchFamily="49" charset="0"/>
              </a:rPr>
              <a:t>   </a:t>
            </a:r>
            <a:r>
              <a:rPr lang="id-ID" sz="3600" dirty="0" err="1">
                <a:latin typeface="Courier New" pitchFamily="49" charset="0"/>
              </a:rPr>
              <a:t>return</a:t>
            </a:r>
            <a:r>
              <a:rPr lang="id-ID" sz="3600" dirty="0">
                <a:latin typeface="Courier New" pitchFamily="49" charset="0"/>
              </a:rPr>
              <a:t>(0);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id-ID" sz="3600" dirty="0">
                <a:latin typeface="Courier New" pitchFamily="49" charset="0"/>
              </a:rPr>
              <a:t>}</a:t>
            </a:r>
            <a:endParaRPr lang="en-US" sz="3600" dirty="0">
              <a:latin typeface="Courier New" pitchFamily="49" charset="0"/>
            </a:endParaRPr>
          </a:p>
          <a:p>
            <a:pPr marL="457200" indent="-457200">
              <a:spcBef>
                <a:spcPts val="0"/>
              </a:spcBef>
              <a:buFontTx/>
              <a:buNone/>
            </a:pPr>
            <a:endParaRPr lang="en-US" altLang="en-US" sz="3600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1200"/>
              </a:spcBef>
              <a:buNone/>
            </a:pPr>
            <a:r>
              <a:rPr lang="id-ID" sz="3600" dirty="0" err="1">
                <a:latin typeface="+mj-lt"/>
                <a:cs typeface="Tahoma" pitchFamily="34" charset="0"/>
              </a:rPr>
              <a:t>What</a:t>
            </a:r>
            <a:r>
              <a:rPr lang="id-ID" sz="3600" dirty="0">
                <a:latin typeface="+mj-lt"/>
                <a:cs typeface="Tahoma" pitchFamily="34" charset="0"/>
              </a:rPr>
              <a:t> </a:t>
            </a:r>
            <a:r>
              <a:rPr lang="id-ID" sz="3600" dirty="0" err="1">
                <a:latin typeface="+mj-lt"/>
                <a:cs typeface="Tahoma" pitchFamily="34" charset="0"/>
              </a:rPr>
              <a:t>is</a:t>
            </a:r>
            <a:r>
              <a:rPr lang="id-ID" sz="3600" dirty="0">
                <a:latin typeface="+mj-lt"/>
                <a:cs typeface="Tahoma" pitchFamily="34" charset="0"/>
              </a:rPr>
              <a:t> </a:t>
            </a:r>
            <a:r>
              <a:rPr lang="id-ID" sz="3600" dirty="0" err="1">
                <a:latin typeface="+mj-lt"/>
                <a:cs typeface="Tahoma" pitchFamily="34" charset="0"/>
              </a:rPr>
              <a:t>value</a:t>
            </a:r>
            <a:r>
              <a:rPr lang="en-US" sz="3600" dirty="0">
                <a:latin typeface="+mj-lt"/>
                <a:cs typeface="Tahoma" pitchFamily="34" charset="0"/>
              </a:rPr>
              <a:t> of </a:t>
            </a:r>
            <a:r>
              <a:rPr lang="en-US" sz="3600" b="1" dirty="0">
                <a:latin typeface="+mj-lt"/>
                <a:cs typeface="Tahoma" pitchFamily="34" charset="0"/>
              </a:rPr>
              <a:t>x</a:t>
            </a:r>
            <a:r>
              <a:rPr lang="id-ID" sz="3600" dirty="0">
                <a:latin typeface="+mj-lt"/>
                <a:cs typeface="Tahoma" pitchFamily="34" charset="0"/>
              </a:rPr>
              <a:t> </a:t>
            </a:r>
            <a:r>
              <a:rPr lang="id-ID" sz="3600" dirty="0" err="1">
                <a:latin typeface="+mj-lt"/>
                <a:cs typeface="Tahoma" pitchFamily="34" charset="0"/>
              </a:rPr>
              <a:t>on</a:t>
            </a:r>
            <a:r>
              <a:rPr lang="id-ID" sz="3600" dirty="0">
                <a:latin typeface="+mj-lt"/>
                <a:cs typeface="Tahoma" pitchFamily="34" charset="0"/>
              </a:rPr>
              <a:t> </a:t>
            </a:r>
            <a:r>
              <a:rPr lang="id-ID" sz="3600" dirty="0" err="1">
                <a:latin typeface="+mj-lt"/>
                <a:cs typeface="Tahoma" pitchFamily="34" charset="0"/>
              </a:rPr>
              <a:t>the</a:t>
            </a:r>
            <a:r>
              <a:rPr lang="id-ID" sz="3600" dirty="0">
                <a:latin typeface="+mj-lt"/>
                <a:cs typeface="Tahoma" pitchFamily="34" charset="0"/>
              </a:rPr>
              <a:t> </a:t>
            </a:r>
            <a:r>
              <a:rPr lang="id-ID" sz="3600" dirty="0" err="1">
                <a:latin typeface="+mj-lt"/>
                <a:cs typeface="Tahoma" pitchFamily="34" charset="0"/>
              </a:rPr>
              <a:t>screen</a:t>
            </a:r>
            <a:r>
              <a:rPr lang="id-ID" sz="3600" dirty="0">
                <a:latin typeface="+mj-lt"/>
                <a:cs typeface="Tahoma" pitchFamily="34" charset="0"/>
              </a:rPr>
              <a:t> ?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600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9017942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9B13D-49B4-E7FE-952B-0643CB76C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8A740-CAF8-47CB-117D-BE8C1BFEE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exercise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8C7709-D139-D859-FDFF-00CEDC41B470}"/>
              </a:ext>
            </a:extLst>
          </p:cNvPr>
          <p:cNvSpPr txBox="1">
            <a:spLocks/>
          </p:cNvSpPr>
          <p:nvPr/>
        </p:nvSpPr>
        <p:spPr>
          <a:xfrm>
            <a:off x="2167377" y="3257550"/>
            <a:ext cx="20762961" cy="996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Question 4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es-ES" sz="3600" dirty="0">
                <a:latin typeface="Courier New" pitchFamily="49" charset="0"/>
              </a:rPr>
              <a:t>#include &lt;</a:t>
            </a:r>
            <a:r>
              <a:rPr lang="es-ES" sz="3600" dirty="0" err="1">
                <a:latin typeface="Courier New" pitchFamily="49" charset="0"/>
              </a:rPr>
              <a:t>stdio.h</a:t>
            </a:r>
            <a:r>
              <a:rPr lang="es-ES" sz="3600" dirty="0">
                <a:latin typeface="Courier New" pitchFamily="49" charset="0"/>
              </a:rPr>
              <a:t>&gt;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endParaRPr lang="es-ES" sz="3600" dirty="0">
              <a:latin typeface="Courier New" pitchFamily="49" charset="0"/>
            </a:endParaRP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es-ES" sz="3600" dirty="0" err="1">
                <a:latin typeface="Courier New" pitchFamily="49" charset="0"/>
              </a:rPr>
              <a:t>int</a:t>
            </a:r>
            <a:r>
              <a:rPr lang="es-ES" sz="3600" dirty="0">
                <a:latin typeface="Courier New" pitchFamily="49" charset="0"/>
              </a:rPr>
              <a:t> </a:t>
            </a:r>
            <a:r>
              <a:rPr lang="es-ES" sz="3600" dirty="0" err="1">
                <a:latin typeface="Courier New" pitchFamily="49" charset="0"/>
              </a:rPr>
              <a:t>main</a:t>
            </a:r>
            <a:r>
              <a:rPr lang="es-ES" sz="3600" dirty="0">
                <a:latin typeface="Courier New" pitchFamily="49" charset="0"/>
              </a:rPr>
              <a:t>(){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es-ES" sz="3600" dirty="0">
                <a:latin typeface="Courier New" pitchFamily="49" charset="0"/>
              </a:rPr>
              <a:t>  </a:t>
            </a:r>
            <a:r>
              <a:rPr lang="es-ES" sz="3600" dirty="0" err="1">
                <a:latin typeface="Courier New" pitchFamily="49" charset="0"/>
              </a:rPr>
              <a:t>int</a:t>
            </a:r>
            <a:r>
              <a:rPr lang="es-ES" sz="3600" dirty="0">
                <a:latin typeface="Courier New" pitchFamily="49" charset="0"/>
              </a:rPr>
              <a:t> y=33, x=45;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es-ES" sz="3600" dirty="0">
                <a:latin typeface="Courier New" pitchFamily="49" charset="0"/>
              </a:rPr>
              <a:t>  y = y &amp;&amp; x; </a:t>
            </a:r>
            <a:r>
              <a:rPr lang="es-ES" sz="3600" dirty="0" err="1">
                <a:latin typeface="Courier New" pitchFamily="49" charset="0"/>
              </a:rPr>
              <a:t>printf</a:t>
            </a:r>
            <a:r>
              <a:rPr lang="es-ES" sz="3600" dirty="0">
                <a:latin typeface="Courier New" pitchFamily="49" charset="0"/>
              </a:rPr>
              <a:t>("%d\n", y);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es-ES" sz="3600" dirty="0">
                <a:latin typeface="Courier New" pitchFamily="49" charset="0"/>
              </a:rPr>
              <a:t>  y = y &amp; x; </a:t>
            </a:r>
            <a:r>
              <a:rPr lang="es-ES" sz="3600" dirty="0" err="1">
                <a:latin typeface="Courier New" pitchFamily="49" charset="0"/>
              </a:rPr>
              <a:t>printf</a:t>
            </a:r>
            <a:r>
              <a:rPr lang="es-ES" sz="3600" dirty="0">
                <a:latin typeface="Courier New" pitchFamily="49" charset="0"/>
              </a:rPr>
              <a:t>("%d\n", y);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es-ES" sz="3600" dirty="0">
                <a:latin typeface="Courier New" pitchFamily="49" charset="0"/>
              </a:rPr>
              <a:t>   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es-ES" sz="3600" dirty="0">
                <a:latin typeface="Courier New" pitchFamily="49" charset="0"/>
              </a:rPr>
              <a:t>	y=33; x=45;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es-ES" sz="3600" dirty="0">
                <a:latin typeface="Courier New" pitchFamily="49" charset="0"/>
              </a:rPr>
              <a:t>  y = y &amp; x; </a:t>
            </a:r>
            <a:r>
              <a:rPr lang="es-ES" sz="3600" dirty="0" err="1">
                <a:latin typeface="Courier New" pitchFamily="49" charset="0"/>
              </a:rPr>
              <a:t>printf</a:t>
            </a:r>
            <a:r>
              <a:rPr lang="es-ES" sz="3600" dirty="0">
                <a:latin typeface="Courier New" pitchFamily="49" charset="0"/>
              </a:rPr>
              <a:t>("%d\n", y);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es-ES" sz="3600" dirty="0">
                <a:latin typeface="Courier New" pitchFamily="49" charset="0"/>
              </a:rPr>
              <a:t>  y = y &amp;&amp; x; </a:t>
            </a:r>
            <a:r>
              <a:rPr lang="es-ES" sz="3600" dirty="0" err="1">
                <a:latin typeface="Courier New" pitchFamily="49" charset="0"/>
              </a:rPr>
              <a:t>printf</a:t>
            </a:r>
            <a:r>
              <a:rPr lang="es-ES" sz="3600" dirty="0">
                <a:latin typeface="Courier New" pitchFamily="49" charset="0"/>
              </a:rPr>
              <a:t>("%d\n", y);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es-ES" sz="3600" dirty="0">
                <a:latin typeface="Courier New" pitchFamily="49" charset="0"/>
              </a:rPr>
              <a:t>   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es-ES" sz="3600" dirty="0">
                <a:latin typeface="Courier New" pitchFamily="49" charset="0"/>
              </a:rPr>
              <a:t>  </a:t>
            </a:r>
            <a:r>
              <a:rPr lang="es-ES" sz="3600" dirty="0" err="1">
                <a:latin typeface="Courier New" pitchFamily="49" charset="0"/>
              </a:rPr>
              <a:t>return</a:t>
            </a:r>
            <a:r>
              <a:rPr lang="es-ES" sz="3600" dirty="0">
                <a:latin typeface="Courier New" pitchFamily="49" charset="0"/>
              </a:rPr>
              <a:t>(0);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es-ES" sz="3600" dirty="0">
                <a:latin typeface="Courier New" pitchFamily="49" charset="0"/>
              </a:rPr>
              <a:t>}</a:t>
            </a:r>
            <a:endParaRPr lang="en-US" altLang="en-US" sz="3600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1200"/>
              </a:spcBef>
              <a:buNone/>
            </a:pPr>
            <a:r>
              <a:rPr lang="id-ID" sz="3600" dirty="0" err="1">
                <a:latin typeface="+mj-lt"/>
                <a:cs typeface="Tahoma" pitchFamily="34" charset="0"/>
              </a:rPr>
              <a:t>What</a:t>
            </a:r>
            <a:r>
              <a:rPr lang="id-ID" sz="3600" dirty="0">
                <a:latin typeface="+mj-lt"/>
                <a:cs typeface="Tahoma" pitchFamily="34" charset="0"/>
              </a:rPr>
              <a:t> </a:t>
            </a:r>
            <a:r>
              <a:rPr lang="id-ID" sz="3600" dirty="0" err="1">
                <a:latin typeface="+mj-lt"/>
                <a:cs typeface="Tahoma" pitchFamily="34" charset="0"/>
              </a:rPr>
              <a:t>is</a:t>
            </a:r>
            <a:r>
              <a:rPr lang="id-ID" sz="3600" dirty="0">
                <a:latin typeface="+mj-lt"/>
                <a:cs typeface="Tahoma" pitchFamily="34" charset="0"/>
              </a:rPr>
              <a:t> </a:t>
            </a:r>
            <a:r>
              <a:rPr lang="id-ID" sz="3600" dirty="0" err="1">
                <a:latin typeface="+mj-lt"/>
                <a:cs typeface="Tahoma" pitchFamily="34" charset="0"/>
              </a:rPr>
              <a:t>value</a:t>
            </a:r>
            <a:r>
              <a:rPr lang="en-US" sz="3600" dirty="0">
                <a:latin typeface="+mj-lt"/>
                <a:cs typeface="Tahoma" pitchFamily="34" charset="0"/>
              </a:rPr>
              <a:t> of </a:t>
            </a:r>
            <a:r>
              <a:rPr lang="en-US" sz="3600" b="1" dirty="0">
                <a:latin typeface="+mj-lt"/>
                <a:cs typeface="Tahoma" pitchFamily="34" charset="0"/>
              </a:rPr>
              <a:t>y </a:t>
            </a:r>
            <a:r>
              <a:rPr lang="id-ID" sz="3600" dirty="0" err="1">
                <a:latin typeface="+mj-lt"/>
                <a:cs typeface="Tahoma" pitchFamily="34" charset="0"/>
              </a:rPr>
              <a:t>on</a:t>
            </a:r>
            <a:r>
              <a:rPr lang="id-ID" sz="3600" dirty="0">
                <a:latin typeface="+mj-lt"/>
                <a:cs typeface="Tahoma" pitchFamily="34" charset="0"/>
              </a:rPr>
              <a:t> </a:t>
            </a:r>
            <a:r>
              <a:rPr lang="id-ID" sz="3600" dirty="0" err="1">
                <a:latin typeface="+mj-lt"/>
                <a:cs typeface="Tahoma" pitchFamily="34" charset="0"/>
              </a:rPr>
              <a:t>the</a:t>
            </a:r>
            <a:r>
              <a:rPr lang="id-ID" sz="3600" dirty="0">
                <a:latin typeface="+mj-lt"/>
                <a:cs typeface="Tahoma" pitchFamily="34" charset="0"/>
              </a:rPr>
              <a:t> </a:t>
            </a:r>
            <a:r>
              <a:rPr lang="id-ID" sz="3600" dirty="0" err="1">
                <a:latin typeface="+mj-lt"/>
                <a:cs typeface="Tahoma" pitchFamily="34" charset="0"/>
              </a:rPr>
              <a:t>screen</a:t>
            </a:r>
            <a:r>
              <a:rPr lang="id-ID" sz="3600" dirty="0">
                <a:latin typeface="+mj-lt"/>
                <a:cs typeface="Tahoma" pitchFamily="34" charset="0"/>
              </a:rPr>
              <a:t> ?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600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618394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DDCD8-5D3E-A7B9-FE92-7AE3E562C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EAA3A-CE40-255A-F21B-57BEF1927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exercise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B660C-DBC1-7EA7-DC81-5EB56B8D293A}"/>
              </a:ext>
            </a:extLst>
          </p:cNvPr>
          <p:cNvSpPr txBox="1">
            <a:spLocks/>
          </p:cNvSpPr>
          <p:nvPr/>
        </p:nvSpPr>
        <p:spPr>
          <a:xfrm>
            <a:off x="2167377" y="3257550"/>
            <a:ext cx="20762961" cy="996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Question 5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pt-BR" sz="3600" dirty="0">
                <a:latin typeface="Courier New" pitchFamily="49" charset="0"/>
              </a:rPr>
              <a:t>#include &lt;stdio.h&gt;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endParaRPr lang="pt-BR" sz="3600" dirty="0">
              <a:latin typeface="Courier New" pitchFamily="49" charset="0"/>
            </a:endParaRP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pt-BR" sz="3600" dirty="0">
                <a:latin typeface="Courier New" pitchFamily="49" charset="0"/>
              </a:rPr>
              <a:t>int main(){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pt-BR" sz="3600" dirty="0">
                <a:latin typeface="Courier New" pitchFamily="49" charset="0"/>
              </a:rPr>
              <a:t>  int n = 10;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pt-BR" sz="3600" dirty="0">
                <a:latin typeface="Courier New" pitchFamily="49" charset="0"/>
              </a:rPr>
              <a:t>  printf("%d\n", ++n);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pt-BR" sz="3600" dirty="0">
                <a:latin typeface="Courier New" pitchFamily="49" charset="0"/>
              </a:rPr>
              <a:t>  printf("%d\n", n++);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pt-BR" sz="3600" dirty="0">
                <a:latin typeface="Courier New" pitchFamily="49" charset="0"/>
              </a:rPr>
              <a:t>  n++;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pt-BR" sz="3600" dirty="0">
                <a:latin typeface="Courier New" pitchFamily="49" charset="0"/>
              </a:rPr>
              <a:t>  printf("%d\n", n);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pt-BR" sz="3600" dirty="0">
                <a:latin typeface="Courier New" pitchFamily="49" charset="0"/>
              </a:rPr>
              <a:t>  ++n;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pt-BR" sz="3600" dirty="0">
                <a:latin typeface="Courier New" pitchFamily="49" charset="0"/>
              </a:rPr>
              <a:t>	printf("%d\n", n);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pt-BR" sz="3600" dirty="0">
                <a:latin typeface="Courier New" pitchFamily="49" charset="0"/>
              </a:rPr>
              <a:t>   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pt-BR" sz="3600" dirty="0">
                <a:latin typeface="Courier New" pitchFamily="49" charset="0"/>
              </a:rPr>
              <a:t>  return(0);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pt-BR" sz="3600" dirty="0">
                <a:latin typeface="Courier New" pitchFamily="49" charset="0"/>
              </a:rPr>
              <a:t>}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endParaRPr lang="pt-BR" sz="3600" dirty="0">
              <a:latin typeface="Courier New" pitchFamily="49" charset="0"/>
              <a:cs typeface="Tahoma" pitchFamily="34" charset="0"/>
            </a:endParaRP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id-ID" sz="3600" dirty="0" err="1">
                <a:latin typeface="+mj-lt"/>
                <a:cs typeface="Tahoma" pitchFamily="34" charset="0"/>
              </a:rPr>
              <a:t>What</a:t>
            </a:r>
            <a:r>
              <a:rPr lang="id-ID" sz="3600" dirty="0">
                <a:latin typeface="+mj-lt"/>
                <a:cs typeface="Tahoma" pitchFamily="34" charset="0"/>
              </a:rPr>
              <a:t> </a:t>
            </a:r>
            <a:r>
              <a:rPr lang="id-ID" sz="3600" dirty="0" err="1">
                <a:latin typeface="+mj-lt"/>
                <a:cs typeface="Tahoma" pitchFamily="34" charset="0"/>
              </a:rPr>
              <a:t>is</a:t>
            </a:r>
            <a:r>
              <a:rPr lang="id-ID" sz="3600" dirty="0">
                <a:latin typeface="+mj-lt"/>
                <a:cs typeface="Tahoma" pitchFamily="34" charset="0"/>
              </a:rPr>
              <a:t> </a:t>
            </a:r>
            <a:r>
              <a:rPr lang="id-ID" sz="3600" dirty="0" err="1">
                <a:latin typeface="+mj-lt"/>
                <a:cs typeface="Tahoma" pitchFamily="34" charset="0"/>
              </a:rPr>
              <a:t>value</a:t>
            </a:r>
            <a:r>
              <a:rPr lang="en-US" sz="3600" dirty="0">
                <a:latin typeface="+mj-lt"/>
                <a:cs typeface="Tahoma" pitchFamily="34" charset="0"/>
              </a:rPr>
              <a:t> of </a:t>
            </a:r>
            <a:r>
              <a:rPr lang="en-US" sz="3600" b="1" dirty="0">
                <a:latin typeface="+mj-lt"/>
                <a:cs typeface="Tahoma" pitchFamily="34" charset="0"/>
              </a:rPr>
              <a:t>n </a:t>
            </a:r>
            <a:r>
              <a:rPr lang="id-ID" sz="3600" dirty="0" err="1">
                <a:latin typeface="+mj-lt"/>
                <a:cs typeface="Tahoma" pitchFamily="34" charset="0"/>
              </a:rPr>
              <a:t>on</a:t>
            </a:r>
            <a:r>
              <a:rPr lang="id-ID" sz="3600" dirty="0">
                <a:latin typeface="+mj-lt"/>
                <a:cs typeface="Tahoma" pitchFamily="34" charset="0"/>
              </a:rPr>
              <a:t> </a:t>
            </a:r>
            <a:r>
              <a:rPr lang="id-ID" sz="3600" dirty="0" err="1">
                <a:latin typeface="+mj-lt"/>
                <a:cs typeface="Tahoma" pitchFamily="34" charset="0"/>
              </a:rPr>
              <a:t>the</a:t>
            </a:r>
            <a:r>
              <a:rPr lang="id-ID" sz="3600" dirty="0">
                <a:latin typeface="+mj-lt"/>
                <a:cs typeface="Tahoma" pitchFamily="34" charset="0"/>
              </a:rPr>
              <a:t> </a:t>
            </a:r>
            <a:r>
              <a:rPr lang="id-ID" sz="3600" dirty="0" err="1">
                <a:latin typeface="+mj-lt"/>
                <a:cs typeface="Tahoma" pitchFamily="34" charset="0"/>
              </a:rPr>
              <a:t>screen</a:t>
            </a:r>
            <a:r>
              <a:rPr lang="id-ID" sz="3600" dirty="0">
                <a:latin typeface="+mj-lt"/>
                <a:cs typeface="Tahoma" pitchFamily="34" charset="0"/>
              </a:rPr>
              <a:t> ?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600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4128482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FC573-F289-3784-BAAB-C36A0D716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258D-5299-E1CB-D790-DC5B17FA1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exercise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3D7A21-7903-9D29-62AF-D01BB4606819}"/>
              </a:ext>
            </a:extLst>
          </p:cNvPr>
          <p:cNvSpPr txBox="1">
            <a:spLocks/>
          </p:cNvSpPr>
          <p:nvPr/>
        </p:nvSpPr>
        <p:spPr>
          <a:xfrm>
            <a:off x="2167377" y="3257550"/>
            <a:ext cx="20762961" cy="43741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spcBef>
                <a:spcPts val="1200"/>
              </a:spcBef>
              <a:buNone/>
            </a:pPr>
            <a:r>
              <a:rPr lang="en-US" altLang="en-US" sz="4000" b="1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Question 6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pt-BR" sz="4400" dirty="0">
                <a:latin typeface="Courier New" pitchFamily="49" charset="0"/>
              </a:rPr>
              <a:t>z = (n &gt; 0) ? f : b;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endParaRPr lang="pt-BR" sz="4000" dirty="0">
              <a:latin typeface="Courier New" pitchFamily="49" charset="0"/>
              <a:cs typeface="Tahoma" pitchFamily="34" charset="0"/>
            </a:endParaRP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en-US" sz="4000" dirty="0">
                <a:latin typeface="+mj-lt"/>
                <a:cs typeface="Tahoma" pitchFamily="34" charset="0"/>
              </a:rPr>
              <a:t>From the given conditional expression above, do </a:t>
            </a:r>
            <a:r>
              <a:rPr lang="en-US" sz="4000" b="1" dirty="0">
                <a:latin typeface="+mj-lt"/>
                <a:cs typeface="Tahoma" pitchFamily="34" charset="0"/>
              </a:rPr>
              <a:t>f </a:t>
            </a:r>
            <a:r>
              <a:rPr lang="en-US" sz="4000" dirty="0">
                <a:latin typeface="+mj-lt"/>
                <a:cs typeface="Tahoma" pitchFamily="34" charset="0"/>
              </a:rPr>
              <a:t>and </a:t>
            </a:r>
            <a:r>
              <a:rPr lang="en-US" sz="4000" b="1" dirty="0">
                <a:latin typeface="+mj-lt"/>
                <a:cs typeface="Tahoma" pitchFamily="34" charset="0"/>
              </a:rPr>
              <a:t>b </a:t>
            </a:r>
            <a:r>
              <a:rPr lang="en-US" sz="4000" dirty="0">
                <a:latin typeface="+mj-lt"/>
                <a:cs typeface="Tahoma" pitchFamily="34" charset="0"/>
              </a:rPr>
              <a:t>have a different data type?</a:t>
            </a:r>
          </a:p>
        </p:txBody>
      </p:sp>
    </p:spTree>
    <p:extLst>
      <p:ext uri="{BB962C8B-B14F-4D97-AF65-F5344CB8AC3E}">
        <p14:creationId xmlns:p14="http://schemas.microsoft.com/office/powerpoint/2010/main" val="1870752500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AEC84-2357-EC84-E93D-06E20F1B4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5C3AB-3F75-60D6-52D9-E2A457FAC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SUMMARY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F36D15-9274-ADDB-5382-8548DD6E1BDF}"/>
              </a:ext>
            </a:extLst>
          </p:cNvPr>
          <p:cNvSpPr txBox="1">
            <a:spLocks/>
          </p:cNvSpPr>
          <p:nvPr/>
        </p:nvSpPr>
        <p:spPr>
          <a:xfrm>
            <a:off x="2167377" y="3257550"/>
            <a:ext cx="20502123" cy="72961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just">
              <a:spcBef>
                <a:spcPts val="1200"/>
              </a:spcBef>
            </a:pPr>
            <a:r>
              <a:rPr lang="en-US" altLang="en-US" sz="40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Operator is a symbol to process values in result for a new value</a:t>
            </a:r>
          </a:p>
          <a:p>
            <a:pPr algn="just">
              <a:spcBef>
                <a:spcPts val="1200"/>
              </a:spcBef>
            </a:pPr>
            <a:r>
              <a:rPr lang="en-US" altLang="en-US" sz="40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Operand is part which specifies what data is to be manipulated or operated on</a:t>
            </a:r>
          </a:p>
          <a:p>
            <a:pPr algn="just">
              <a:spcBef>
                <a:spcPts val="1200"/>
              </a:spcBef>
            </a:pPr>
            <a:r>
              <a:rPr lang="en-US" altLang="en-US" sz="40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Every operator will have precedence and associative</a:t>
            </a:r>
          </a:p>
          <a:p>
            <a:pPr algn="just">
              <a:spcBef>
                <a:spcPts val="1200"/>
              </a:spcBef>
            </a:pPr>
            <a:endParaRPr lang="en-US" altLang="en-US" sz="4000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86059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09BD8-6A35-C6F1-8612-C1D26B504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445B8-DA6B-8391-50C8-B64F103BB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REFRENCES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FC637192-B017-8920-94C9-2C0A55F44F6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300067"/>
            <a:ext cx="19460171" cy="10018368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Paul Deitel &amp; Harvey Deitel. (2021). C how to program. 09. Pearson  Education. New York. ISBN: 9780137398393. </a:t>
            </a:r>
          </a:p>
          <a:p>
            <a:pPr>
              <a:spcBef>
                <a:spcPts val="1200"/>
              </a:spcBef>
            </a:pPr>
            <a:r>
              <a:rPr lang="id-ID" altLang="en-US" sz="3600" dirty="0" err="1">
                <a:latin typeface="+mj-lt"/>
                <a:cs typeface="Tahoma" pitchFamily="34" charset="0"/>
              </a:rPr>
              <a:t>Manipulating</a:t>
            </a:r>
            <a:r>
              <a:rPr lang="id-ID" altLang="en-US" sz="3600" dirty="0">
                <a:latin typeface="+mj-lt"/>
                <a:cs typeface="Tahoma" pitchFamily="34" charset="0"/>
              </a:rPr>
              <a:t> Data </a:t>
            </a:r>
            <a:r>
              <a:rPr lang="id-ID" altLang="en-US" sz="3600" dirty="0" err="1">
                <a:latin typeface="+mj-lt"/>
                <a:cs typeface="Tahoma" pitchFamily="34" charset="0"/>
              </a:rPr>
              <a:t>with</a:t>
            </a:r>
            <a:r>
              <a:rPr lang="id-ID" altLang="en-US" sz="3600" dirty="0">
                <a:latin typeface="+mj-lt"/>
                <a:cs typeface="Tahoma" pitchFamily="34" charset="0"/>
              </a:rPr>
              <a:t> </a:t>
            </a:r>
            <a:r>
              <a:rPr lang="id-ID" altLang="en-US" sz="3600" dirty="0" err="1">
                <a:latin typeface="+mj-lt"/>
                <a:cs typeface="Tahoma" pitchFamily="34" charset="0"/>
              </a:rPr>
              <a:t>Operators</a:t>
            </a:r>
            <a:r>
              <a:rPr lang="id-ID" altLang="en-US" sz="3600" dirty="0">
                <a:latin typeface="+mj-lt"/>
                <a:cs typeface="Tahoma" pitchFamily="34" charset="0"/>
              </a:rPr>
              <a:t>: </a:t>
            </a:r>
            <a:r>
              <a:rPr lang="id-ID" altLang="en-US" sz="3600" dirty="0">
                <a:latin typeface="+mj-lt"/>
                <a:cs typeface="Tahoma" pitchFamily="34" charset="0"/>
                <a:hlinkClick r:id="rId2"/>
              </a:rPr>
              <a:t>http://aelinik.free.fr/c/ch06.htm</a:t>
            </a:r>
            <a:endParaRPr lang="id-ID" altLang="en-US" sz="3600" dirty="0">
              <a:latin typeface="+mj-lt"/>
              <a:cs typeface="Tahoma" pitchFamily="34" charset="0"/>
            </a:endParaRPr>
          </a:p>
          <a:p>
            <a:pPr marL="0" indent="0">
              <a:spcBef>
                <a:spcPts val="1200"/>
              </a:spcBef>
              <a:buNone/>
            </a:pPr>
            <a:endParaRPr lang="en-US" altLang="en-US" sz="3600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690936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4CA077843E12C45ABBF89EA0D3E6ECB" ma:contentTypeVersion="12" ma:contentTypeDescription="Create a new document." ma:contentTypeScope="" ma:versionID="5ed595dea67b8b322e39378c6251215c">
  <xsd:schema xmlns:xsd="http://www.w3.org/2001/XMLSchema" xmlns:xs="http://www.w3.org/2001/XMLSchema" xmlns:p="http://schemas.microsoft.com/office/2006/metadata/properties" xmlns:ns2="02437cf3-862c-4aa8-bd7e-caeecb8e11df" xmlns:ns3="fc2d5289-3ec1-4d76-80c1-a1cd17baf85c" targetNamespace="http://schemas.microsoft.com/office/2006/metadata/properties" ma:root="true" ma:fieldsID="d378c5c85e55afa0691156e287dbbb41" ns2:_="" ns3:_="">
    <xsd:import namespace="02437cf3-862c-4aa8-bd7e-caeecb8e11df"/>
    <xsd:import namespace="fc2d5289-3ec1-4d76-80c1-a1cd17baf8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437cf3-862c-4aa8-bd7e-caeecb8e11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12802744-7fd5-42e0-b4ac-2f85b671ef9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2d5289-3ec1-4d76-80c1-a1cd17baf85c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5ed2725a-0247-41b8-b239-ecd86c77a8ad}" ma:internalName="TaxCatchAll" ma:showField="CatchAllData" ma:web="fc2d5289-3ec1-4d76-80c1-a1cd17baf8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2437cf3-862c-4aa8-bd7e-caeecb8e11df">
      <Terms xmlns="http://schemas.microsoft.com/office/infopath/2007/PartnerControls"/>
    </lcf76f155ced4ddcb4097134ff3c332f>
    <TaxCatchAll xmlns="fc2d5289-3ec1-4d76-80c1-a1cd17baf85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90A933F-F557-4C6E-9087-D1C9CEB93D9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2437cf3-862c-4aa8-bd7e-caeecb8e11df"/>
    <ds:schemaRef ds:uri="fc2d5289-3ec1-4d76-80c1-a1cd17baf85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79F462D-E120-44DF-886C-1CC739D159AA}">
  <ds:schemaRefs>
    <ds:schemaRef ds:uri="http://schemas.microsoft.com/office/2006/metadata/properties"/>
    <ds:schemaRef ds:uri="http://schemas.microsoft.com/office/infopath/2007/PartnerControls"/>
    <ds:schemaRef ds:uri="02437cf3-862c-4aa8-bd7e-caeecb8e11df"/>
    <ds:schemaRef ds:uri="fc2d5289-3ec1-4d76-80c1-a1cd17baf85c"/>
  </ds:schemaRefs>
</ds:datastoreItem>
</file>

<file path=customXml/itemProps3.xml><?xml version="1.0" encoding="utf-8"?>
<ds:datastoreItem xmlns:ds="http://schemas.openxmlformats.org/officeDocument/2006/customXml" ds:itemID="{CA3B7761-416C-4D89-97E8-0DF40EE740F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1. Algorithm &amp; Programming and Introduction to C Programming</Template>
  <TotalTime>2707</TotalTime>
  <Words>2066</Words>
  <Application>Microsoft Office PowerPoint</Application>
  <PresentationFormat>Custom</PresentationFormat>
  <Paragraphs>421</Paragraphs>
  <Slides>34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21_BasicWhite</vt:lpstr>
      <vt:lpstr>Operator, Operand, and Arithmetic </vt:lpstr>
      <vt:lpstr>Learning Objectives</vt:lpstr>
      <vt:lpstr>Subtopics</vt:lpstr>
      <vt:lpstr>Operator and Operand </vt:lpstr>
      <vt:lpstr>Operator and Operand </vt:lpstr>
      <vt:lpstr>ASSIGNMENT OPERATOR</vt:lpstr>
      <vt:lpstr>ARITHMETIC OPERATOR</vt:lpstr>
      <vt:lpstr>ARITHMETIC OPERATOR</vt:lpstr>
      <vt:lpstr>ARITHMETIC OPERATOR</vt:lpstr>
      <vt:lpstr>ARITHMETIC OPERATOR</vt:lpstr>
      <vt:lpstr>ARITHMETIC OPERATOR</vt:lpstr>
      <vt:lpstr>ARITHMETIC OPERATOR</vt:lpstr>
      <vt:lpstr>ARITHMETIC OPERATOR</vt:lpstr>
      <vt:lpstr>Relational OPERATOR</vt:lpstr>
      <vt:lpstr>Relational OPERATOR</vt:lpstr>
      <vt:lpstr>Conditional Expressions</vt:lpstr>
      <vt:lpstr>Conditional Expressions</vt:lpstr>
      <vt:lpstr>Logical OPERATOR</vt:lpstr>
      <vt:lpstr>Logical OPERATOR</vt:lpstr>
      <vt:lpstr>BITWISE OPERATOR</vt:lpstr>
      <vt:lpstr>BITWISE OPERATOR</vt:lpstr>
      <vt:lpstr>BITWISE OPERATOR</vt:lpstr>
      <vt:lpstr>BITWISE Expressions</vt:lpstr>
      <vt:lpstr>BITWISE Expressions</vt:lpstr>
      <vt:lpstr>Pointer Operator</vt:lpstr>
      <vt:lpstr>Precedence and ASSOCIATIVE</vt:lpstr>
      <vt:lpstr>Precedence and ASSOCIATIVE</vt:lpstr>
      <vt:lpstr>exercise</vt:lpstr>
      <vt:lpstr>exercise</vt:lpstr>
      <vt:lpstr>exercise</vt:lpstr>
      <vt:lpstr>exercise</vt:lpstr>
      <vt:lpstr>exercise</vt:lpstr>
      <vt:lpstr>SUMMARY</vt:lpstr>
      <vt:lpstr>REFRENCES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SHANIA PRICCILIA</dc:creator>
  <cp:lastModifiedBy>SHANIA PRICCILIA</cp:lastModifiedBy>
  <cp:revision>38</cp:revision>
  <dcterms:created xsi:type="dcterms:W3CDTF">2025-05-12T11:13:33Z</dcterms:created>
  <dcterms:modified xsi:type="dcterms:W3CDTF">2025-06-30T10:29:03Z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0x010100B4CA077843E12C45ABBF89EA0D3E6ECB</vt:lpwstr>
  </property>
  <property fmtid="{D5CDD505-2E9C-101B-9397-08002B2CF9AE}" pid="3" name="MediaServiceImageTags">
    <vt:lpwstr/>
  </property>
</Properties>
</file>